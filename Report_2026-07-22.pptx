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4"/>
    <p:sldMasterId id="2147483757" r:id="rId5"/>
  </p:sldMasterIdLst>
  <p:notesMasterIdLst>
    <p:notesMasterId r:id="rId9"/>
  </p:notesMasterIdLst>
  <p:sldIdLst>
    <p:sldId id="2147483588" r:id="rId6"/>
    <p:sldId id="2147483604" r:id="rId7"/>
    <p:sldId id="214748360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0C2B47-29F0-5145-A610-1B393F7C5C22}">
          <p14:sldIdLst>
            <p14:sldId id="2147483588"/>
            <p14:sldId id="2147483604"/>
          </p14:sldIdLst>
        </p14:section>
        <p14:section name="PDM" id="{7F7058A9-543B-4063-913C-9EBD99D479DF}">
          <p14:sldIdLst>
            <p14:sldId id="21474836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92DB77-016D-2894-7618-15E9AB52A849}" name="Sharma, Utkarsh" initials="US" userId="S::utkasharma@deloitte.com::0b75815b-62e9-4a90-8530-df5f1a468d5b" providerId="AD"/>
  <p188:author id="{394961A2-CD47-D227-8F1E-7B111DEE8F7B}" name="Khadri, Habib" initials="HK" userId="S::hkhadri@deloitte.com::fb9fabdf-5b74-4106-9d79-d7bad83cee2b" providerId="AD"/>
  <p188:author id="{542719E4-734E-9509-4F5E-E8B595E54DC2}" name="Curtis, Rhonda" initials="" userId="S::rhcurtis@deloitte.com::490ac867-96aa-4c70-800f-015ffadabd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  <a:srgbClr val="E8E9ED"/>
    <a:srgbClr val="E67E22"/>
    <a:srgbClr val="9A564F"/>
    <a:srgbClr val="2C9B9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7D724-B740-FB46-982F-860820097AAF}" v="1395" dt="2026-07-14T21:18:34.777"/>
    <p1510:client id="{C7998F13-3097-44BD-BAD4-13DA816CA585}" v="487" dt="2026-07-14T23:14:07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58"/>
  </p:normalViewPr>
  <p:slideViewPr>
    <p:cSldViewPr snapToGrid="0">
      <p:cViewPr varScale="1">
        <p:scale>
          <a:sx n="120" d="100"/>
          <a:sy n="120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ACC89-694D-6647-91BA-F3E287B706A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93E35-2244-C342-BE62-0B069E5D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4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1FBDF-07B1-4D9C-9CED-52EAE94FBB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665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138D-140A-1ABD-0E2C-C9329B6AA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67AFA-F3EE-E76A-E065-19654FDAE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B8D13-62A4-2462-21C6-4D79F2447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Total &gt; Executed &gt; In Progress&gt; Pass &gt; Fail &gt; Defect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4C44A-E80E-986D-8C6C-3896A95DE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93E35-2244-C342-BE62-0B069E5D84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37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C6F1-3D8A-455F-4D62-91AF11BC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CD7FE-82DF-80D2-2E42-192785539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6AF3-742D-BA61-A476-E387CDF30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CF73-85CF-1CEE-311F-FB4D45C53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06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accent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250D39-3CD2-434D-B748-17EED0F3A2F1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29F2EAE-0B0B-4311-B8C7-B92308FDB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D66D6FD-671C-4971-84E7-3F95D681A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A0D0BAEB-42C5-4909-8FAE-D062C5097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442559A-2DAB-4A59-908E-A9F300335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3319EAFB-82E3-4AA5-8E76-BCBFD4851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1B86A800-7B43-42DC-8F55-2BE218DAA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4D7DE78-318C-43DC-8425-6815074FD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8B9FF502-04DE-4886-8EC5-F59E2DDA7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AFD2C9A9-58B2-40D7-900D-9935E569C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FBFCAACE-51E1-460B-B814-DB6E1935A9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5D988E-AB9B-4338-8B0B-A9D2FBBD359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900D145D-F249-4360-A851-84590354DE0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DA91093B-1D7D-4E9C-80DD-053FD0C92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D75F7421-C68D-4202-A0E2-B866717DDEF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6DE98E27-9E3D-4174-9895-EE41667C63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A400316F-9B75-46A7-B1DF-72DD3623FD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Rectangle 10">
              <a:extLst>
                <a:ext uri="{FF2B5EF4-FFF2-40B4-BE49-F238E27FC236}">
                  <a16:creationId xmlns:a16="http://schemas.microsoft.com/office/drawing/2014/main" id="{80392710-6741-4A2A-B74E-E7E47B6F6C9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7E5628F7-91B4-40CC-93AA-15FE7FE83E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705DD4AC-A5BB-439E-AD61-E7E5A2A00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B332C818-B977-4B0B-BF7A-3565E9B5BE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01AFB913-ABEF-4721-A184-6CE57CC2AA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81067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8228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234793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EEA3F2-C909-4275-956A-5518D341D424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619F8D2D-E0FF-4267-BB4C-23E0F19A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0BDA8F6-D1EC-4590-8515-7F2E0D9EE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8E570DBD-3EC7-4EE8-886A-A6498BEC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1656288-29CD-4B95-A46B-7B8DA7860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C3894AF9-2B03-4231-9AEA-EC49F5E1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1C43784-6F73-4D9F-8497-B40FDBB8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031C0BD-B701-4255-B53D-1A0FB8066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F07466D-8C2C-4286-9984-919330135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F2700776-9B5A-4A2C-BA8E-E8C5B03A0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D768AB6-AEBA-4689-BCE3-70447F634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4175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823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rgbClr val="007680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3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3285941"/>
            <a:ext cx="10036811" cy="159240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AC1F984-0896-08AD-D32A-C5F31039A6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839" y="2405525"/>
            <a:ext cx="3228975" cy="96678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  <a:lvl2pPr>
              <a:defRPr sz="5400">
                <a:solidFill>
                  <a:schemeClr val="accent1"/>
                </a:solidFill>
              </a:defRPr>
            </a:lvl2pPr>
            <a:lvl3pPr>
              <a:defRPr sz="5400">
                <a:solidFill>
                  <a:schemeClr val="accent1"/>
                </a:solidFill>
              </a:defRPr>
            </a:lvl3pPr>
            <a:lvl4pPr>
              <a:defRPr sz="5400">
                <a:solidFill>
                  <a:schemeClr val="accent1"/>
                </a:solidFill>
              </a:defRPr>
            </a:lvl4pPr>
            <a:lvl5pPr>
              <a:defRPr sz="5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err="1"/>
              <a:t>Number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028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oigt, ongle, personne, main  Description générée automatiquement">
            <a:extLst>
              <a:ext uri="{FF2B5EF4-FFF2-40B4-BE49-F238E27FC236}">
                <a16:creationId xmlns:a16="http://schemas.microsoft.com/office/drawing/2014/main" id="{3E62A6BF-F7FA-FC83-4BEA-3AEAFC30C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AAA3FE-D07E-E033-2D8B-CFBA960FB7B5}"/>
              </a:ext>
            </a:extLst>
          </p:cNvPr>
          <p:cNvSpPr/>
          <p:nvPr userDrawn="1"/>
        </p:nvSpPr>
        <p:spPr bwMode="gray">
          <a:xfrm>
            <a:off x="0" y="0"/>
            <a:ext cx="9149443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CA" sz="1600" b="1">
              <a:solidFill>
                <a:schemeClr val="bg1"/>
              </a:solidFill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A33EB3C6-CB3C-0EEA-A868-3EFD06E90ED5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B27ED69-0320-C221-6122-02DEFC7FD5AC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4A7243CC-CCA8-1D96-AF79-B9FC0D7E1FFE}"/>
              </a:ext>
            </a:extLst>
          </p:cNvPr>
          <p:cNvSpPr txBox="1"/>
          <p:nvPr userDrawn="1"/>
        </p:nvSpPr>
        <p:spPr>
          <a:xfrm>
            <a:off x="6836833" y="6477000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111250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038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735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26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1575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A219-3285-40E3-9146-7A9E17B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74970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660C-D97A-4199-9DB7-D8D50E37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94225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1000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29D6D4-38CD-4379-9FC6-B6687A49C859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AE6ED15D-2C57-4909-970A-202D915A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BD4E32B-226F-46EB-B601-3856A02B7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F1AAD0C-B296-45B7-9E5A-20BD287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D121C73-5C5C-4360-8EB5-E75E90671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7820EBA0-29B2-457F-8C42-C6999B8C2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AA7EA11-CDBF-464E-9243-90C62309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624E1B1-6657-49A0-B80A-E1FD4DF1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86B2E42-0E10-4A70-B9EF-DB7E343E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80D859B-0685-4D23-B179-9E42323AB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B7BF240D-03CC-44FA-B191-E59014FCD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2DCA97-92B7-4E52-BE6A-904A9D22F2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02A83B32-097D-4E01-B3A8-77C483859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27498-E91D-41E0-A196-9E2FB8692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524DBE99-D543-47AC-A2B6-25395BDB7D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09C606A-12E7-40E3-A6B8-DEE79173C9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73ED221B-16E3-4EBE-8EBC-9F66E803CB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0D697A95-88D2-47F0-B4DF-915E2EDEDB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60B0F46-3D82-4FFC-B9BB-9D5BF8DA27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1DB9C-3617-4E82-B521-DF02390A4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265776A6-2E98-464E-8730-90C3148BA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4252080-8419-4833-996E-5F1D7B09FF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6897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32EF4-0628-41B2-82A6-C4B3B1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421277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6144-2726-4520-8393-B7B337E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629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994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9302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5252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050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29108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8852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81538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9344255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82707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037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7519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5609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197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80371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562421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938086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605-A79A-41B7-BDB1-4EDF869E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6246" y="6387175"/>
            <a:ext cx="1359509" cy="27122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000"/>
              </a:lnSpc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2E88CFD-7600-DD4A-9690-3544147D6214}" type="slidenum">
              <a:rPr lang="en-US" smtClean="0">
                <a:solidFill>
                  <a:srgbClr val="0367A5"/>
                </a:solidFill>
              </a:rPr>
              <a:pPr/>
              <a:t>‹#›</a:t>
            </a:fld>
            <a:endParaRPr lang="en-US">
              <a:solidFill>
                <a:srgbClr val="0367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837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50009-237B-B215-8D17-C931133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5" y="244586"/>
            <a:ext cx="5718717" cy="19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5858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71654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BB89D-C8D1-4D2D-8525-78E0703361EB}"/>
              </a:ext>
            </a:extLst>
          </p:cNvPr>
          <p:cNvCxnSpPr/>
          <p:nvPr userDrawn="1"/>
        </p:nvCxnSpPr>
        <p:spPr>
          <a:xfrm>
            <a:off x="435864" y="3962400"/>
            <a:ext cx="1132027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BBF1C1-BBBD-49F8-8B70-BD5FA9AC77C6}"/>
              </a:ext>
            </a:extLst>
          </p:cNvPr>
          <p:cNvSpPr txBox="1"/>
          <p:nvPr userDrawn="1"/>
        </p:nvSpPr>
        <p:spPr>
          <a:xfrm>
            <a:off x="291231" y="6457950"/>
            <a:ext cx="4114800" cy="114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75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2025 Medical Mutual of Ohio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62F1FAD-4BA5-45E5-947C-F544B8D5FE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2926080"/>
            <a:ext cx="11201400" cy="933226"/>
          </a:xfrm>
        </p:spPr>
        <p:txBody>
          <a:bodyPr vert="horz" anchor="b" anchorCtr="0"/>
          <a:lstStyle>
            <a:lvl1pPr algn="l">
              <a:lnSpc>
                <a:spcPts val="3600"/>
              </a:lnSpc>
              <a:defRPr sz="36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78F45C9-2688-45FD-99E3-C8B16B45F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191000"/>
            <a:ext cx="11201400" cy="273424"/>
          </a:xfrm>
        </p:spPr>
        <p:txBody>
          <a:bodyPr wrap="square" anchor="t" anchorCtr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&lt;Subtitle&gt; or &lt;Date&gt;</a:t>
            </a:r>
          </a:p>
        </p:txBody>
      </p:sp>
    </p:spTree>
    <p:extLst>
      <p:ext uri="{BB962C8B-B14F-4D97-AF65-F5344CB8AC3E}">
        <p14:creationId xmlns:p14="http://schemas.microsoft.com/office/powerpoint/2010/main" val="17239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. Title Onl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D6E5346-2FAE-41B8-872E-F4C0489B67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6E5346-2FAE-41B8-872E-F4C0489B67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6D88CB5-8A32-4E28-88D8-2EB8AFCF3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622800"/>
            <a:ext cx="112014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765D5-02D2-4800-869F-1667101F09CF}"/>
              </a:ext>
            </a:extLst>
          </p:cNvPr>
          <p:cNvSpPr txBox="1"/>
          <p:nvPr userDrawn="1"/>
        </p:nvSpPr>
        <p:spPr>
          <a:xfrm>
            <a:off x="495300" y="64008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750" kern="1200" smtClean="0">
                <a:solidFill>
                  <a:schemeClr val="bg2">
                    <a:lumMod val="9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kern="1200">
              <a:solidFill>
                <a:schemeClr val="bg2">
                  <a:lumMod val="9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33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accent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250D39-3CD2-434D-B748-17EED0F3A2F1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29F2EAE-0B0B-4311-B8C7-B92308FDB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D66D6FD-671C-4971-84E7-3F95D681A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A0D0BAEB-42C5-4909-8FAE-D062C5097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442559A-2DAB-4A59-908E-A9F300335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3319EAFB-82E3-4AA5-8E76-BCBFD4851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1B86A800-7B43-42DC-8F55-2BE218DAA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4D7DE78-318C-43DC-8425-6815074FD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8B9FF502-04DE-4886-8EC5-F59E2DDA7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AFD2C9A9-58B2-40D7-900D-9935E569C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FBFCAACE-51E1-460B-B814-DB6E1935A9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5D988E-AB9B-4338-8B0B-A9D2FBBD359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900D145D-F249-4360-A851-84590354DE0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DA91093B-1D7D-4E9C-80DD-053FD0C92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D75F7421-C68D-4202-A0E2-B866717DDEF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6DE98E27-9E3D-4174-9895-EE41667C63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A400316F-9B75-46A7-B1DF-72DD3623FD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Rectangle 10">
              <a:extLst>
                <a:ext uri="{FF2B5EF4-FFF2-40B4-BE49-F238E27FC236}">
                  <a16:creationId xmlns:a16="http://schemas.microsoft.com/office/drawing/2014/main" id="{80392710-6741-4A2A-B74E-E7E47B6F6C9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7E5628F7-91B4-40CC-93AA-15FE7FE83E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705DD4AC-A5BB-439E-AD61-E7E5A2A00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B332C818-B977-4B0B-BF7A-3565E9B5BE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01AFB913-ABEF-4721-A184-6CE57CC2AA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810673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82283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234793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EEA3F2-C909-4275-956A-5518D341D424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619F8D2D-E0FF-4267-BB4C-23E0F19A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0BDA8F6-D1EC-4590-8515-7F2E0D9EE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8E570DBD-3EC7-4EE8-886A-A6498BEC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1656288-29CD-4B95-A46B-7B8DA7860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C3894AF9-2B03-4231-9AEA-EC49F5E1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1C43784-6F73-4D9F-8497-B40FDBB8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031C0BD-B701-4255-B53D-1A0FB8066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F07466D-8C2C-4286-9984-919330135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F2700776-9B5A-4A2C-BA8E-E8C5B03A0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D768AB6-AEBA-4689-BCE3-70447F634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41757"/>
      </p:ext>
    </p:extLst>
  </p:cSld>
  <p:clrMapOvr>
    <a:masterClrMapping/>
  </p:clrMapOvr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8232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rgbClr val="007680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36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3285941"/>
            <a:ext cx="10036811" cy="159240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AC1F984-0896-08AD-D32A-C5F31039A6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839" y="2405525"/>
            <a:ext cx="3228975" cy="96678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  <a:lvl2pPr>
              <a:defRPr sz="5400">
                <a:solidFill>
                  <a:schemeClr val="accent1"/>
                </a:solidFill>
              </a:defRPr>
            </a:lvl2pPr>
            <a:lvl3pPr>
              <a:defRPr sz="5400">
                <a:solidFill>
                  <a:schemeClr val="accent1"/>
                </a:solidFill>
              </a:defRPr>
            </a:lvl3pPr>
            <a:lvl4pPr>
              <a:defRPr sz="5400">
                <a:solidFill>
                  <a:schemeClr val="accent1"/>
                </a:solidFill>
              </a:defRPr>
            </a:lvl4pPr>
            <a:lvl5pPr>
              <a:defRPr sz="5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err="1"/>
              <a:t>Number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0285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oigt, ongle, personne, main  Description générée automatiquement">
            <a:extLst>
              <a:ext uri="{FF2B5EF4-FFF2-40B4-BE49-F238E27FC236}">
                <a16:creationId xmlns:a16="http://schemas.microsoft.com/office/drawing/2014/main" id="{3E62A6BF-F7FA-FC83-4BEA-3AEAFC30C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AAA3FE-D07E-E033-2D8B-CFBA960FB7B5}"/>
              </a:ext>
            </a:extLst>
          </p:cNvPr>
          <p:cNvSpPr/>
          <p:nvPr userDrawn="1"/>
        </p:nvSpPr>
        <p:spPr bwMode="gray">
          <a:xfrm>
            <a:off x="0" y="0"/>
            <a:ext cx="9149443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CA" sz="1600" b="1">
              <a:solidFill>
                <a:schemeClr val="bg1"/>
              </a:solidFill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A33EB3C6-CB3C-0EEA-A868-3EFD06E90ED5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B27ED69-0320-C221-6122-02DEFC7FD5AC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4A7243CC-CCA8-1D96-AF79-B9FC0D7E1FFE}"/>
              </a:ext>
            </a:extLst>
          </p:cNvPr>
          <p:cNvSpPr txBox="1"/>
          <p:nvPr userDrawn="1"/>
        </p:nvSpPr>
        <p:spPr>
          <a:xfrm>
            <a:off x="6836833" y="6477000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11125048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0388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73558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26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15754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A219-3285-40E3-9146-7A9E17B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749708"/>
      </p:ext>
    </p:extLst>
  </p:cSld>
  <p:clrMapOvr>
    <a:masterClrMapping/>
  </p:clrMapOvr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660C-D97A-4199-9DB7-D8D50E37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942251"/>
      </p:ext>
    </p:extLst>
  </p:cSld>
  <p:clrMapOvr>
    <a:masterClrMapping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1000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29D6D4-38CD-4379-9FC6-B6687A49C859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AE6ED15D-2C57-4909-970A-202D915A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BD4E32B-226F-46EB-B601-3856A02B7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F1AAD0C-B296-45B7-9E5A-20BD287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D121C73-5C5C-4360-8EB5-E75E90671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7820EBA0-29B2-457F-8C42-C6999B8C2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AA7EA11-CDBF-464E-9243-90C62309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624E1B1-6657-49A0-B80A-E1FD4DF1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86B2E42-0E10-4A70-B9EF-DB7E343E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80D859B-0685-4D23-B179-9E42323AB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B7BF240D-03CC-44FA-B191-E59014FCD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2DCA97-92B7-4E52-BE6A-904A9D22F2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02A83B32-097D-4E01-B3A8-77C483859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27498-E91D-41E0-A196-9E2FB8692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524DBE99-D543-47AC-A2B6-25395BDB7D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09C606A-12E7-40E3-A6B8-DEE79173C9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73ED221B-16E3-4EBE-8EBC-9F66E803CB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0D697A95-88D2-47F0-B4DF-915E2EDEDB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60B0F46-3D82-4FFC-B9BB-9D5BF8DA27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1DB9C-3617-4E82-B521-DF02390A4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265776A6-2E98-464E-8730-90C3148BA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4252080-8419-4833-996E-5F1D7B09FF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68970"/>
      </p:ext>
    </p:extLst>
  </p:cSld>
  <p:clrMapOvr>
    <a:masterClrMapping/>
  </p:clrMapOvr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32EF4-0628-41B2-82A6-C4B3B1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421277"/>
      </p:ext>
    </p:extLst>
  </p:cSld>
  <p:clrMapOvr>
    <a:masterClrMapping/>
  </p:clrMapOvr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6144-2726-4520-8393-B7B337E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6298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9947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930237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52522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0509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29108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88524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81538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9344255"/>
      </p:ext>
    </p:extLst>
  </p:cSld>
  <p:clrMapOvr>
    <a:masterClrMapping/>
  </p:clrMapOvr>
  <p:hf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827079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0372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751904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560952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1974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80371"/>
      </p:ext>
    </p:extLst>
  </p:cSld>
  <p:clrMapOvr>
    <a:masterClrMapping/>
  </p:clrMapOvr>
  <p:hf hd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562421"/>
      </p:ext>
    </p:extLst>
  </p:cSld>
  <p:clrMapOvr>
    <a:masterClrMapping/>
  </p:clrMapOvr>
  <p:hf hd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9380862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605-A79A-41B7-BDB1-4EDF869E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6246" y="6387175"/>
            <a:ext cx="1359509" cy="27122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000"/>
              </a:lnSpc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2E88CFD-7600-DD4A-9690-3544147D6214}" type="slidenum">
              <a:rPr lang="en-US" smtClean="0">
                <a:solidFill>
                  <a:srgbClr val="0367A5"/>
                </a:solidFill>
              </a:rPr>
              <a:pPr/>
              <a:t>‹#›</a:t>
            </a:fld>
            <a:endParaRPr lang="en-US">
              <a:solidFill>
                <a:srgbClr val="0367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8374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50009-237B-B215-8D17-C931133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5" y="244586"/>
            <a:ext cx="5718717" cy="19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5858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BB89D-C8D1-4D2D-8525-78E0703361EB}"/>
              </a:ext>
            </a:extLst>
          </p:cNvPr>
          <p:cNvCxnSpPr/>
          <p:nvPr userDrawn="1"/>
        </p:nvCxnSpPr>
        <p:spPr>
          <a:xfrm>
            <a:off x="435864" y="3962400"/>
            <a:ext cx="1132027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BBF1C1-BBBD-49F8-8B70-BD5FA9AC77C6}"/>
              </a:ext>
            </a:extLst>
          </p:cNvPr>
          <p:cNvSpPr txBox="1"/>
          <p:nvPr userDrawn="1"/>
        </p:nvSpPr>
        <p:spPr>
          <a:xfrm>
            <a:off x="291231" y="6457950"/>
            <a:ext cx="4114800" cy="114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75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2025 Medical Mutual of Ohio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62F1FAD-4BA5-45E5-947C-F544B8D5FE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2926080"/>
            <a:ext cx="11201400" cy="933226"/>
          </a:xfrm>
        </p:spPr>
        <p:txBody>
          <a:bodyPr vert="horz" anchor="b" anchorCtr="0"/>
          <a:lstStyle>
            <a:lvl1pPr algn="l">
              <a:lnSpc>
                <a:spcPts val="3600"/>
              </a:lnSpc>
              <a:defRPr sz="36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78F45C9-2688-45FD-99E3-C8B16B45F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191000"/>
            <a:ext cx="11201400" cy="273424"/>
          </a:xfrm>
        </p:spPr>
        <p:txBody>
          <a:bodyPr wrap="square" anchor="t" anchorCtr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&lt;Subtitle&gt; or &lt;Date&gt;</a:t>
            </a:r>
          </a:p>
        </p:txBody>
      </p:sp>
    </p:spTree>
    <p:extLst>
      <p:ext uri="{BB962C8B-B14F-4D97-AF65-F5344CB8AC3E}">
        <p14:creationId xmlns:p14="http://schemas.microsoft.com/office/powerpoint/2010/main" val="17239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9" Type="http://schemas.openxmlformats.org/officeDocument/2006/relationships/oleObject" Target="../embeddings/oleObject1.bin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tags" Target="../tags/tag4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theme" Target="../theme/theme2.xml"/><Relationship Id="rId40" Type="http://schemas.openxmlformats.org/officeDocument/2006/relationships/image" Target="../media/image1.emf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4184034811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270" imgH="270" progId="TCLayout.ActiveDocument.1">
                  <p:embed/>
                </p:oleObj>
              </mc:Choice>
              <mc:Fallback>
                <p:oleObj name="think-cell Slide" r:id="rId3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2377" y="6661237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941F761-4AEE-929D-5655-D54C7F4B62AF}"/>
              </a:ext>
            </a:extLst>
          </p:cNvPr>
          <p:cNvSpPr txBox="1"/>
          <p:nvPr userDrawn="1"/>
        </p:nvSpPr>
        <p:spPr>
          <a:xfrm>
            <a:off x="6836833" y="6661236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409155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20">
          <p15:clr>
            <a:srgbClr val="F26B43"/>
          </p15:clr>
        </p15:guide>
        <p15:guide id="7" orient="horz" pos="200">
          <p15:clr>
            <a:srgbClr val="F26B43"/>
          </p15:clr>
        </p15:guide>
        <p15:guide id="8" orient="horz" pos="4080">
          <p15:clr>
            <a:srgbClr val="F26B43"/>
          </p15:clr>
        </p15:guide>
        <p15:guide id="22" orient="horz" pos="640">
          <p15:clr>
            <a:srgbClr val="F26B43"/>
          </p15:clr>
        </p15:guide>
        <p15:guide id="65" orient="horz" pos="2160">
          <p15:clr>
            <a:srgbClr val="F26B43"/>
          </p15:clr>
        </p15:guide>
        <p15:guide id="66" orient="horz" pos="3968">
          <p15:clr>
            <a:srgbClr val="F26B43"/>
          </p15:clr>
        </p15:guide>
        <p15:guide id="67" pos="312">
          <p15:clr>
            <a:srgbClr val="F26B43"/>
          </p15:clr>
        </p15:guide>
        <p15:guide id="68" pos="7368">
          <p15:clr>
            <a:srgbClr val="F26B43"/>
          </p15:clr>
        </p15:guide>
        <p15:guide id="70" orient="horz" pos="4081">
          <p15:clr>
            <a:srgbClr val="F26B43"/>
          </p15:clr>
        </p15:guide>
        <p15:guide id="77" pos="3783">
          <p15:clr>
            <a:srgbClr val="F26B43"/>
          </p15:clr>
        </p15:guide>
        <p15:guide id="78" pos="3896">
          <p15:clr>
            <a:srgbClr val="F26B43"/>
          </p15:clr>
        </p15:guide>
        <p15:guide id="79" pos="3840">
          <p15:clr>
            <a:srgbClr val="F26B43"/>
          </p15:clr>
        </p15:guide>
        <p15:guide id="81" orient="horz" pos="1049">
          <p15:clr>
            <a:srgbClr val="F26B43"/>
          </p15:clr>
        </p15:guide>
        <p15:guide id="82" orient="horz" pos="641">
          <p15:clr>
            <a:srgbClr val="F26B43"/>
          </p15:clr>
        </p15:guide>
        <p15:guide id="83" orient="horz" pos="39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8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9" imgW="270" imgH="270" progId="TCLayout.ActiveDocument.1">
                  <p:embed/>
                </p:oleObj>
              </mc:Choice>
              <mc:Fallback>
                <p:oleObj name="think-cell Slide" r:id="rId3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2377" y="6661237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941F761-4AEE-929D-5655-D54C7F4B62AF}"/>
              </a:ext>
            </a:extLst>
          </p:cNvPr>
          <p:cNvSpPr txBox="1"/>
          <p:nvPr userDrawn="1"/>
        </p:nvSpPr>
        <p:spPr>
          <a:xfrm>
            <a:off x="6836833" y="6661236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409155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745B-8D83-C40B-3E9E-4C016ED9E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2935976"/>
            <a:ext cx="11201400" cy="92333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MMO Test Execution &amp; Bug Report</a:t>
            </a:r>
            <a:endParaRPr lang="en-US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376F38-9832-1E0D-1CF1-540781298B51}"/>
              </a:ext>
            </a:extLst>
          </p:cNvPr>
          <p:cNvSpPr txBox="1">
            <a:spLocks/>
          </p:cNvSpPr>
          <p:nvPr/>
        </p:nvSpPr>
        <p:spPr bwMode="gray">
          <a:xfrm>
            <a:off x="495300" y="3782643"/>
            <a:ext cx="11201400" cy="92333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6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dirty="0">
                <a:solidFill>
                  <a:prstClr val="black"/>
                </a:solidFill>
                <a:latin typeface="Calibri"/>
              </a:rPr>
              <a:t>07/22/2026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96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162E5-4A96-2FB3-A204-182CA913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Box1">
            <a:extLst>
              <a:ext uri="{FF2B5EF4-FFF2-40B4-BE49-F238E27FC236}">
                <a16:creationId xmlns:a16="http://schemas.microsoft.com/office/drawing/2014/main" id="{4AEB6D18-77D3-7FDB-AC15-1D4B7DD6AD24}"/>
              </a:ext>
            </a:extLst>
          </p:cNvPr>
          <p:cNvSpPr>
            <a:spLocks noGrp="1"/>
          </p:cNvSpPr>
          <p:nvPr/>
        </p:nvSpPr>
        <p:spPr>
          <a:xfrm>
            <a:off x="658941" y="1304292"/>
            <a:ext cx="2024437" cy="1046435"/>
          </a:xfrm>
          <a:prstGeom prst="rect">
            <a:avLst/>
          </a:prstGeom>
          <a:solidFill>
            <a:srgbClr val="F0FAFA"/>
          </a:solidFill>
          <a:ln w="19050">
            <a:solidFill>
              <a:srgbClr val="0076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tat1Num">
            <a:extLst>
              <a:ext uri="{FF2B5EF4-FFF2-40B4-BE49-F238E27FC236}">
                <a16:creationId xmlns:a16="http://schemas.microsoft.com/office/drawing/2014/main" id="{FC534D68-0580-015A-4CBA-66F66F15EB23}"/>
              </a:ext>
            </a:extLst>
          </p:cNvPr>
          <p:cNvSpPr txBox="1"/>
          <p:nvPr/>
        </p:nvSpPr>
        <p:spPr>
          <a:xfrm>
            <a:off x="494370" y="1477977"/>
            <a:ext cx="2353578" cy="6000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007680"/>
                </a:solidFill>
                <a:latin typeface="Calibri"/>
              </a:rPr>
              <a:t>581*</a:t>
            </a:r>
            <a:endParaRPr lang="en-US" sz="4800" b="1" baseline="30000" dirty="0">
              <a:solidFill>
                <a:srgbClr val="007680"/>
              </a:solidFill>
              <a:latin typeface="Calibri"/>
            </a:endParaRPr>
          </a:p>
        </p:txBody>
      </p:sp>
      <p:sp>
        <p:nvSpPr>
          <p:cNvPr id="12" name="Stat1Lbl">
            <a:extLst>
              <a:ext uri="{FF2B5EF4-FFF2-40B4-BE49-F238E27FC236}">
                <a16:creationId xmlns:a16="http://schemas.microsoft.com/office/drawing/2014/main" id="{8719E580-FE99-9C2D-B44B-3C9D3715273C}"/>
              </a:ext>
            </a:extLst>
          </p:cNvPr>
          <p:cNvSpPr txBox="1"/>
          <p:nvPr/>
        </p:nvSpPr>
        <p:spPr>
          <a:xfrm>
            <a:off x="658941" y="2067667"/>
            <a:ext cx="2024438" cy="380000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 dirty="0">
                <a:solidFill>
                  <a:srgbClr val="444444"/>
                </a:solidFill>
                <a:latin typeface="Calibri"/>
              </a:rPr>
              <a:t>Total Test Cases</a:t>
            </a:r>
          </a:p>
        </p:txBody>
      </p:sp>
      <p:sp>
        <p:nvSpPr>
          <p:cNvPr id="20" name="StatBox2">
            <a:extLst>
              <a:ext uri="{FF2B5EF4-FFF2-40B4-BE49-F238E27FC236}">
                <a16:creationId xmlns:a16="http://schemas.microsoft.com/office/drawing/2014/main" id="{61FA0A91-98EE-7A04-4D56-51FCD5A81BCE}"/>
              </a:ext>
            </a:extLst>
          </p:cNvPr>
          <p:cNvSpPr>
            <a:spLocks noGrp="1"/>
          </p:cNvSpPr>
          <p:nvPr/>
        </p:nvSpPr>
        <p:spPr>
          <a:xfrm>
            <a:off x="5032109" y="1304294"/>
            <a:ext cx="2024438" cy="1046435"/>
          </a:xfrm>
          <a:prstGeom prst="rect">
            <a:avLst/>
          </a:prstGeom>
          <a:solidFill>
            <a:srgbClr val="F0FAF2"/>
          </a:solidFill>
          <a:ln w="19050">
            <a:solidFill>
              <a:srgbClr val="00AA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tat2Num">
            <a:extLst>
              <a:ext uri="{FF2B5EF4-FFF2-40B4-BE49-F238E27FC236}">
                <a16:creationId xmlns:a16="http://schemas.microsoft.com/office/drawing/2014/main" id="{CFBD0F63-E870-6186-A997-2DB49C7D29BD}"/>
              </a:ext>
            </a:extLst>
          </p:cNvPr>
          <p:cNvSpPr txBox="1"/>
          <p:nvPr/>
        </p:nvSpPr>
        <p:spPr>
          <a:xfrm>
            <a:off x="5032109" y="1469917"/>
            <a:ext cx="2024438" cy="6000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00AA55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  <p:sp>
        <p:nvSpPr>
          <p:cNvPr id="22" name="Stat2Lbl">
            <a:extLst>
              <a:ext uri="{FF2B5EF4-FFF2-40B4-BE49-F238E27FC236}">
                <a16:creationId xmlns:a16="http://schemas.microsoft.com/office/drawing/2014/main" id="{3918B231-6F77-C96B-8B5C-82B183D580A9}"/>
              </a:ext>
            </a:extLst>
          </p:cNvPr>
          <p:cNvSpPr txBox="1"/>
          <p:nvPr/>
        </p:nvSpPr>
        <p:spPr>
          <a:xfrm>
            <a:off x="5032109" y="2063711"/>
            <a:ext cx="2018783" cy="300000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 dirty="0">
                <a:solidFill>
                  <a:srgbClr val="444444"/>
                </a:solidFill>
                <a:latin typeface="Calibri"/>
              </a:rPr>
              <a:t>Passed (63%)</a:t>
            </a:r>
          </a:p>
        </p:txBody>
      </p:sp>
      <p:sp>
        <p:nvSpPr>
          <p:cNvPr id="30" name="StatBox3">
            <a:extLst>
              <a:ext uri="{FF2B5EF4-FFF2-40B4-BE49-F238E27FC236}">
                <a16:creationId xmlns:a16="http://schemas.microsoft.com/office/drawing/2014/main" id="{7F527597-FA98-B009-45C5-C4C8104890B0}"/>
              </a:ext>
            </a:extLst>
          </p:cNvPr>
          <p:cNvSpPr>
            <a:spLocks noGrp="1"/>
          </p:cNvSpPr>
          <p:nvPr/>
        </p:nvSpPr>
        <p:spPr>
          <a:xfrm>
            <a:off x="7235542" y="1304293"/>
            <a:ext cx="2018783" cy="1046435"/>
          </a:xfrm>
          <a:prstGeom prst="rect">
            <a:avLst/>
          </a:prstGeom>
          <a:solidFill>
            <a:srgbClr val="FFF2F2"/>
          </a:solidFill>
          <a:ln w="19050">
            <a:solidFill>
              <a:srgbClr val="CC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tat3Num">
            <a:extLst>
              <a:ext uri="{FF2B5EF4-FFF2-40B4-BE49-F238E27FC236}">
                <a16:creationId xmlns:a16="http://schemas.microsoft.com/office/drawing/2014/main" id="{44D69B9B-E073-E94F-EB47-AC60901ECBC4}"/>
              </a:ext>
            </a:extLst>
          </p:cNvPr>
          <p:cNvSpPr txBox="1"/>
          <p:nvPr/>
        </p:nvSpPr>
        <p:spPr>
          <a:xfrm>
            <a:off x="7241197" y="1461424"/>
            <a:ext cx="2013128" cy="6000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CC3333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32" name="Stat3Lbl">
            <a:extLst>
              <a:ext uri="{FF2B5EF4-FFF2-40B4-BE49-F238E27FC236}">
                <a16:creationId xmlns:a16="http://schemas.microsoft.com/office/drawing/2014/main" id="{B73F1829-48A0-3072-3AC0-5E9C3BB329DE}"/>
              </a:ext>
            </a:extLst>
          </p:cNvPr>
          <p:cNvSpPr txBox="1"/>
          <p:nvPr/>
        </p:nvSpPr>
        <p:spPr>
          <a:xfrm>
            <a:off x="7244252" y="2078842"/>
            <a:ext cx="2013128" cy="289304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 dirty="0">
                <a:solidFill>
                  <a:srgbClr val="444444"/>
                </a:solidFill>
                <a:latin typeface="Calibri"/>
              </a:rPr>
              <a:t>Failed (38%)</a:t>
            </a:r>
          </a:p>
        </p:txBody>
      </p:sp>
      <p:sp>
        <p:nvSpPr>
          <p:cNvPr id="40" name="StatBox4">
            <a:extLst>
              <a:ext uri="{FF2B5EF4-FFF2-40B4-BE49-F238E27FC236}">
                <a16:creationId xmlns:a16="http://schemas.microsoft.com/office/drawing/2014/main" id="{4BC4CC66-038F-5001-4619-435B98701D61}"/>
              </a:ext>
            </a:extLst>
          </p:cNvPr>
          <p:cNvSpPr>
            <a:spLocks noGrp="1"/>
          </p:cNvSpPr>
          <p:nvPr/>
        </p:nvSpPr>
        <p:spPr>
          <a:xfrm>
            <a:off x="9404654" y="1304937"/>
            <a:ext cx="2020824" cy="1042416"/>
          </a:xfrm>
          <a:prstGeom prst="rect">
            <a:avLst/>
          </a:prstGeom>
          <a:solidFill>
            <a:srgbClr val="FFF8F0"/>
          </a:solidFill>
          <a:ln w="19050">
            <a:solidFill>
              <a:srgbClr val="E07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Stat4Num">
            <a:extLst>
              <a:ext uri="{FF2B5EF4-FFF2-40B4-BE49-F238E27FC236}">
                <a16:creationId xmlns:a16="http://schemas.microsoft.com/office/drawing/2014/main" id="{61216BD9-D2A4-BB4F-E1CE-C9F622CF84EB}"/>
              </a:ext>
            </a:extLst>
          </p:cNvPr>
          <p:cNvSpPr txBox="1"/>
          <p:nvPr/>
        </p:nvSpPr>
        <p:spPr>
          <a:xfrm>
            <a:off x="9477376" y="1452715"/>
            <a:ext cx="2013128" cy="6000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E07000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2" name="Stat4Lbl">
            <a:extLst>
              <a:ext uri="{FF2B5EF4-FFF2-40B4-BE49-F238E27FC236}">
                <a16:creationId xmlns:a16="http://schemas.microsoft.com/office/drawing/2014/main" id="{9C589D92-487F-E9EC-BAA4-0950A04724FD}"/>
              </a:ext>
            </a:extLst>
          </p:cNvPr>
          <p:cNvSpPr txBox="1"/>
          <p:nvPr/>
        </p:nvSpPr>
        <p:spPr>
          <a:xfrm>
            <a:off x="9476318" y="2060375"/>
            <a:ext cx="2013128" cy="205209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 dirty="0">
                <a:solidFill>
                  <a:srgbClr val="444444"/>
                </a:solidFill>
                <a:latin typeface="Calibri"/>
              </a:rPr>
              <a:t>Open Bugs</a:t>
            </a:r>
          </a:p>
        </p:txBody>
      </p:sp>
      <p:sp>
        <p:nvSpPr>
          <p:cNvPr id="60" name="NarrHeader">
            <a:extLst>
              <a:ext uri="{FF2B5EF4-FFF2-40B4-BE49-F238E27FC236}">
                <a16:creationId xmlns:a16="http://schemas.microsoft.com/office/drawing/2014/main" id="{4F9063AB-881F-7AA8-12C5-8AF643B3968B}"/>
              </a:ext>
            </a:extLst>
          </p:cNvPr>
          <p:cNvSpPr txBox="1"/>
          <p:nvPr/>
        </p:nvSpPr>
        <p:spPr>
          <a:xfrm>
            <a:off x="376930" y="2740029"/>
            <a:ext cx="2209088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007680"/>
                </a:solidFill>
                <a:latin typeface="Calibri"/>
              </a:rPr>
              <a:t>Status</a:t>
            </a:r>
          </a:p>
        </p:txBody>
      </p:sp>
      <p:sp>
        <p:nvSpPr>
          <p:cNvPr id="61" name="NarrLeft">
            <a:extLst>
              <a:ext uri="{FF2B5EF4-FFF2-40B4-BE49-F238E27FC236}">
                <a16:creationId xmlns:a16="http://schemas.microsoft.com/office/drawing/2014/main" id="{12879895-4731-81C8-7E93-DF4A90F4D614}"/>
              </a:ext>
            </a:extLst>
          </p:cNvPr>
          <p:cNvSpPr txBox="1"/>
          <p:nvPr/>
        </p:nvSpPr>
        <p:spPr>
          <a:xfrm>
            <a:off x="376930" y="3016769"/>
            <a:ext cx="5539100" cy="2700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Executive Summary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lnSpc>
                <a:spcPct val="114999"/>
              </a:lnSpc>
              <a:spcAft>
                <a:spcPts val="400"/>
              </a:spcAft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Overall, SIT execution status is on track. Benefits SIT has begun and continues to make progress per plan. </a:t>
            </a:r>
          </a:p>
          <a:p>
            <a:pPr marL="171450" indent="-171450">
              <a:lnSpc>
                <a:spcPct val="114999"/>
              </a:lnSpc>
              <a:spcAft>
                <a:spcPts val="400"/>
              </a:spcAft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PDM ancillary Iteration #2, round 1 execution has completed, and retest is pending bug fixes/closure. </a:t>
            </a:r>
          </a:p>
          <a:p>
            <a:pPr marL="171450" indent="-171450">
              <a:lnSpc>
                <a:spcPct val="114999"/>
              </a:lnSpc>
              <a:spcAft>
                <a:spcPts val="400"/>
              </a:spcAft>
              <a:buFont typeface="Arial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  <a:cs typeface="Calibri"/>
              </a:rPr>
              <a:t>Preliminary testing for Enrollment and EDI has begun and is on-track to kickstart.</a:t>
            </a:r>
            <a:endParaRPr lang="en-US" sz="9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Bug Triage:</a:t>
            </a:r>
            <a:endParaRPr lang="en-US" sz="1050" b="1" dirty="0">
              <a:solidFill>
                <a:srgbClr val="00768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333333"/>
                </a:solidFill>
                <a:latin typeface="Calibri"/>
              </a:rPr>
              <a:t>35 open bugs remain in “New” and “Active” state. </a:t>
            </a:r>
            <a:r>
              <a:rPr lang="en-US" sz="1000" dirty="0">
                <a:solidFill>
                  <a:srgbClr val="333333"/>
                </a:solidFill>
                <a:latin typeface="Calibri"/>
              </a:rPr>
              <a:t>Critical and High priority bugs have been triaged and owners are identified. </a:t>
            </a: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CBEB890-D261-5923-2B9A-1A95E0462D1C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SIT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Execution Status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Report |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Executive Summary</a:t>
            </a:r>
          </a:p>
        </p:txBody>
      </p:sp>
      <p:sp>
        <p:nvSpPr>
          <p:cNvPr id="14" name="AsOf">
            <a:extLst>
              <a:ext uri="{FF2B5EF4-FFF2-40B4-BE49-F238E27FC236}">
                <a16:creationId xmlns:a16="http://schemas.microsoft.com/office/drawing/2014/main" id="{0C164682-3E31-77B6-AC5C-3761BD04FEAE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lvl="0"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07/22/2026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5101D4-211F-FDC2-3060-F551AB5517D5}"/>
              </a:ext>
            </a:extLst>
          </p:cNvPr>
          <p:cNvSpPr txBox="1"/>
          <p:nvPr/>
        </p:nvSpPr>
        <p:spPr>
          <a:xfrm>
            <a:off x="376930" y="5793279"/>
            <a:ext cx="54143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>
                <a:solidFill>
                  <a:srgbClr val="313131"/>
                </a:solidFill>
              </a:rPr>
              <a:t>*Test case planning is still in progress; expect planned test case count to increase in coming weeks</a:t>
            </a:r>
          </a:p>
        </p:txBody>
      </p:sp>
      <p:sp>
        <p:nvSpPr>
          <p:cNvPr id="2" name="StatBox3">
            <a:extLst>
              <a:ext uri="{FF2B5EF4-FFF2-40B4-BE49-F238E27FC236}">
                <a16:creationId xmlns:a16="http://schemas.microsoft.com/office/drawing/2014/main" id="{44E3040D-6EC3-4A3E-551B-374F33715261}"/>
              </a:ext>
            </a:extLst>
          </p:cNvPr>
          <p:cNvSpPr>
            <a:spLocks noGrp="1"/>
          </p:cNvSpPr>
          <p:nvPr/>
        </p:nvSpPr>
        <p:spPr>
          <a:xfrm>
            <a:off x="2830924" y="1305432"/>
            <a:ext cx="2020824" cy="1046770"/>
          </a:xfrm>
          <a:prstGeom prst="rect">
            <a:avLst/>
          </a:prstGeom>
          <a:solidFill>
            <a:srgbClr val="E8E9ED"/>
          </a:solidFill>
          <a:ln w="19050"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tat3Num">
            <a:extLst>
              <a:ext uri="{FF2B5EF4-FFF2-40B4-BE49-F238E27FC236}">
                <a16:creationId xmlns:a16="http://schemas.microsoft.com/office/drawing/2014/main" id="{DEBCE97D-BCB3-D58F-8FFC-35B7FC1146DE}"/>
              </a:ext>
            </a:extLst>
          </p:cNvPr>
          <p:cNvSpPr txBox="1"/>
          <p:nvPr/>
        </p:nvSpPr>
        <p:spPr>
          <a:xfrm>
            <a:off x="2829830" y="1414833"/>
            <a:ext cx="2013128" cy="600000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96</a:t>
            </a:r>
            <a:endParaRPr lang="en-US" sz="4800" b="1" dirty="0">
              <a:ln>
                <a:solidFill>
                  <a:srgbClr val="53565A"/>
                </a:solidFill>
              </a:ln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tat3Lbl">
            <a:extLst>
              <a:ext uri="{FF2B5EF4-FFF2-40B4-BE49-F238E27FC236}">
                <a16:creationId xmlns:a16="http://schemas.microsoft.com/office/drawing/2014/main" id="{890A27BA-BCE0-BFFB-BC46-DCD1A3F2C80F}"/>
              </a:ext>
            </a:extLst>
          </p:cNvPr>
          <p:cNvSpPr txBox="1"/>
          <p:nvPr/>
        </p:nvSpPr>
        <p:spPr>
          <a:xfrm>
            <a:off x="2820915" y="2057197"/>
            <a:ext cx="2013129" cy="287210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Executed</a:t>
            </a:r>
          </a:p>
        </p:txBody>
      </p:sp>
      <p:sp>
        <p:nvSpPr>
          <p:cNvPr id="27" name="NarrLeft">
            <a:extLst>
              <a:ext uri="{FF2B5EF4-FFF2-40B4-BE49-F238E27FC236}">
                <a16:creationId xmlns:a16="http://schemas.microsoft.com/office/drawing/2014/main" id="{F1E1EE7E-2EE6-6394-24EB-0EA85312F3C8}"/>
              </a:ext>
            </a:extLst>
          </p:cNvPr>
          <p:cNvSpPr txBox="1"/>
          <p:nvPr/>
        </p:nvSpPr>
        <p:spPr>
          <a:xfrm>
            <a:off x="6275970" y="3016769"/>
            <a:ext cx="5539100" cy="2700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8" name="NarrHeader">
            <a:extLst>
              <a:ext uri="{FF2B5EF4-FFF2-40B4-BE49-F238E27FC236}">
                <a16:creationId xmlns:a16="http://schemas.microsoft.com/office/drawing/2014/main" id="{357A4612-E66F-6D37-185B-E06BBE962237}"/>
              </a:ext>
            </a:extLst>
          </p:cNvPr>
          <p:cNvSpPr txBox="1"/>
          <p:nvPr/>
        </p:nvSpPr>
        <p:spPr>
          <a:xfrm>
            <a:off x="6275970" y="2718540"/>
            <a:ext cx="2209088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007680"/>
                </a:solidFill>
                <a:latin typeface="Calibri"/>
              </a:rPr>
              <a:t>Test Case and Bug Breakdown</a:t>
            </a:r>
          </a:p>
        </p:txBody>
      </p:sp>
      <p:graphicFrame>
        <p:nvGraphicFramePr>
          <p:cNvPr id="52" name="WorkstreamSummary">
            <a:extLst>
              <a:ext uri="{FF2B5EF4-FFF2-40B4-BE49-F238E27FC236}">
                <a16:creationId xmlns:a16="http://schemas.microsoft.com/office/drawing/2014/main" id="{9CE15F4F-A3E9-0128-997D-68C3AE82D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766443"/>
              </p:ext>
            </p:extLst>
          </p:nvPr>
        </p:nvGraphicFramePr>
        <p:xfrm>
          <a:off x="6395428" y="3139321"/>
          <a:ext cx="5300184" cy="25151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955">
                  <a:extLst>
                    <a:ext uri="{9D8B030D-6E8A-4147-A177-3AD203B41FA5}">
                      <a16:colId xmlns:a16="http://schemas.microsoft.com/office/drawing/2014/main" val="3657914926"/>
                    </a:ext>
                  </a:extLst>
                </a:gridCol>
                <a:gridCol w="842955">
                  <a:extLst>
                    <a:ext uri="{9D8B030D-6E8A-4147-A177-3AD203B41FA5}">
                      <a16:colId xmlns:a16="http://schemas.microsoft.com/office/drawing/2014/main" val="3775692062"/>
                    </a:ext>
                  </a:extLst>
                </a:gridCol>
                <a:gridCol w="842955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617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6069">
                <a:tc gridSpan="6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Review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389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Workstreams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Calibri"/>
                        </a:rPr>
                        <a:t>Planned TC’s</a:t>
                      </a:r>
                      <a:r>
                        <a:rPr lang="en-US" sz="1000" kern="1200" baseline="300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sz="1000" b="1" dirty="0">
                        <a:solidFill>
                          <a:srgbClr val="313131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Calibri"/>
                          <a:ea typeface="+mn-ea"/>
                          <a:cs typeface="+mn-cs"/>
                        </a:rPr>
                        <a:t>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 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Calibri"/>
                        </a:rPr>
                        <a:t>Open Bugs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92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PDM Iteration #2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892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Benefits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892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Enrollment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89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latin typeface="Calibri"/>
                        </a:rPr>
                        <a:t>EDI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687559"/>
                  </a:ext>
                </a:extLst>
              </a:tr>
              <a:tr h="24539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581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96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36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35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5278E37D-D5CB-443F-75A3-76EFB927BB03}"/>
              </a:ext>
            </a:extLst>
          </p:cNvPr>
          <p:cNvGrpSpPr/>
          <p:nvPr/>
        </p:nvGrpSpPr>
        <p:grpSpPr>
          <a:xfrm>
            <a:off x="8045292" y="283041"/>
            <a:ext cx="2300000" cy="660000"/>
            <a:chOff x="9400000" y="280000"/>
            <a:chExt cx="2300000" cy="660000"/>
          </a:xfrm>
        </p:grpSpPr>
        <p:sp>
          <p:nvSpPr>
            <p:cNvPr id="8" name="LegendBox">
              <a:extLst>
                <a:ext uri="{FF2B5EF4-FFF2-40B4-BE49-F238E27FC236}">
                  <a16:creationId xmlns:a16="http://schemas.microsoft.com/office/drawing/2014/main" id="{71286DE3-E938-08C4-B181-298BD10A20B0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9" name="Dot1">
              <a:extLst>
                <a:ext uri="{FF2B5EF4-FFF2-40B4-BE49-F238E27FC236}">
                  <a16:creationId xmlns:a16="http://schemas.microsoft.com/office/drawing/2014/main" id="{6D2E7734-7CB7-EBAE-307A-FC9CB240EC4C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Lbl1">
              <a:extLst>
                <a:ext uri="{FF2B5EF4-FFF2-40B4-BE49-F238E27FC236}">
                  <a16:creationId xmlns:a16="http://schemas.microsoft.com/office/drawing/2014/main" id="{165CEAF7-98B2-9453-CA97-07A27C557AB1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16" name="Dot2">
              <a:extLst>
                <a:ext uri="{FF2B5EF4-FFF2-40B4-BE49-F238E27FC236}">
                  <a16:creationId xmlns:a16="http://schemas.microsoft.com/office/drawing/2014/main" id="{BBF2B3D5-6F17-6439-C8CA-A07C144BE381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Lbl2">
              <a:extLst>
                <a:ext uri="{FF2B5EF4-FFF2-40B4-BE49-F238E27FC236}">
                  <a16:creationId xmlns:a16="http://schemas.microsoft.com/office/drawing/2014/main" id="{7130A360-70AC-14B0-96ED-40E53EA80CD8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18" name="Dot3">
              <a:extLst>
                <a:ext uri="{FF2B5EF4-FFF2-40B4-BE49-F238E27FC236}">
                  <a16:creationId xmlns:a16="http://schemas.microsoft.com/office/drawing/2014/main" id="{AE62CA7C-8343-041F-89AE-B1CCA156AC90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Lbl3">
              <a:extLst>
                <a:ext uri="{FF2B5EF4-FFF2-40B4-BE49-F238E27FC236}">
                  <a16:creationId xmlns:a16="http://schemas.microsoft.com/office/drawing/2014/main" id="{EEA45881-E48F-5BAF-1868-E365B75DEB0B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23" name="Dot4">
              <a:extLst>
                <a:ext uri="{FF2B5EF4-FFF2-40B4-BE49-F238E27FC236}">
                  <a16:creationId xmlns:a16="http://schemas.microsoft.com/office/drawing/2014/main" id="{62406EA0-DF43-A4EB-4CAE-959222D0129C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Lbl4">
              <a:extLst>
                <a:ext uri="{FF2B5EF4-FFF2-40B4-BE49-F238E27FC236}">
                  <a16:creationId xmlns:a16="http://schemas.microsoft.com/office/drawing/2014/main" id="{CDBBE924-F551-BD25-E008-50D74197D063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6" name="LegendBox">
            <a:extLst>
              <a:ext uri="{FF2B5EF4-FFF2-40B4-BE49-F238E27FC236}">
                <a16:creationId xmlns:a16="http://schemas.microsoft.com/office/drawing/2014/main" id="{B1B27C69-2F94-9055-BB21-74A6C753F68C}"/>
              </a:ext>
            </a:extLst>
          </p:cNvPr>
          <p:cNvSpPr/>
          <p:nvPr/>
        </p:nvSpPr>
        <p:spPr>
          <a:xfrm>
            <a:off x="10415958" y="278522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Overall Status:</a:t>
            </a:r>
          </a:p>
        </p:txBody>
      </p:sp>
      <p:sp>
        <p:nvSpPr>
          <p:cNvPr id="7" name="Dot2">
            <a:extLst>
              <a:ext uri="{FF2B5EF4-FFF2-40B4-BE49-F238E27FC236}">
                <a16:creationId xmlns:a16="http://schemas.microsoft.com/office/drawing/2014/main" id="{DBFA4DA1-B3CE-297B-4744-75F00AC2A34F}"/>
              </a:ext>
            </a:extLst>
          </p:cNvPr>
          <p:cNvSpPr/>
          <p:nvPr/>
        </p:nvSpPr>
        <p:spPr>
          <a:xfrm>
            <a:off x="11055514" y="601805"/>
            <a:ext cx="120000" cy="12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A9A119-3D67-9517-3DD1-19C262321AC6}"/>
              </a:ext>
            </a:extLst>
          </p:cNvPr>
          <p:cNvSpPr txBox="1"/>
          <p:nvPr/>
        </p:nvSpPr>
        <p:spPr>
          <a:xfrm>
            <a:off x="6272613" y="5793279"/>
            <a:ext cx="5835357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bug or issue.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In Progress </a:t>
            </a:r>
            <a:r>
              <a:rPr lang="en-US" sz="800" dirty="0">
                <a:solidFill>
                  <a:srgbClr val="313131"/>
                </a:solidFill>
              </a:rPr>
              <a:t>– The test case is currently being run by a tester and is not completed yet.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Not Started </a:t>
            </a:r>
            <a:r>
              <a:rPr lang="en-US" sz="800" dirty="0">
                <a:solidFill>
                  <a:srgbClr val="313131"/>
                </a:solidFill>
              </a:rPr>
              <a:t>– The test case has not been run yet.</a:t>
            </a:r>
          </a:p>
          <a:p>
            <a:pPr>
              <a:spcBef>
                <a:spcPts val="600"/>
              </a:spcBef>
              <a:buSzPct val="100000"/>
            </a:pPr>
            <a:endParaRPr lang="en-US" sz="8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63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08FB-3B22-3381-2D3E-4301758D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FEEB38-2B93-797A-77F7-9A6073F70D2B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Execution Report | </a:t>
            </a:r>
            <a:r>
              <a:rPr lang="en-US" sz="2400" b="1" dirty="0">
                <a:solidFill>
                  <a:srgbClr val="00827E"/>
                </a:solidFill>
                <a:latin typeface="Calibri"/>
              </a:rPr>
              <a:t>All Work Streams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827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E0D2B2DF-D32C-68A0-4E07-5365E81C17D6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07/22/2026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+mn-ea"/>
              <a:cs typeface="+mn-cs"/>
            </a:endParaRPr>
          </a:p>
        </p:txBody>
      </p:sp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618782B0-D982-744F-A272-59964160D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103214"/>
              </p:ext>
            </p:extLst>
          </p:nvPr>
        </p:nvGraphicFramePr>
        <p:xfrm>
          <a:off x="501648" y="2916387"/>
          <a:ext cx="11181303" cy="25848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19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456">
                  <a:extLst>
                    <a:ext uri="{9D8B030D-6E8A-4147-A177-3AD203B41FA5}">
                      <a16:colId xmlns:a16="http://schemas.microsoft.com/office/drawing/2014/main" val="3657914926"/>
                    </a:ext>
                  </a:extLst>
                </a:gridCol>
                <a:gridCol w="971456">
                  <a:extLst>
                    <a:ext uri="{9D8B030D-6E8A-4147-A177-3AD203B41FA5}">
                      <a16:colId xmlns:a16="http://schemas.microsoft.com/office/drawing/2014/main" val="140937486"/>
                    </a:ext>
                  </a:extLst>
                </a:gridCol>
                <a:gridCol w="971456">
                  <a:extLst>
                    <a:ext uri="{9D8B030D-6E8A-4147-A177-3AD203B41FA5}">
                      <a16:colId xmlns:a16="http://schemas.microsoft.com/office/drawing/2014/main" val="2331135793"/>
                    </a:ext>
                  </a:extLst>
                </a:gridCol>
                <a:gridCol w="971456">
                  <a:extLst>
                    <a:ext uri="{9D8B030D-6E8A-4147-A177-3AD203B41FA5}">
                      <a16:colId xmlns:a16="http://schemas.microsoft.com/office/drawing/2014/main" val="3775692062"/>
                    </a:ext>
                  </a:extLst>
                </a:gridCol>
                <a:gridCol w="971456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711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5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55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5577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7555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Workstream Test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Data Sources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Execution Start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noProof="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Target Completion Date</a:t>
                      </a:r>
                      <a:r>
                        <a:rPr lang="en-US" sz="1000" kern="1200" baseline="300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endParaRPr lang="en-US" sz="1000" kern="1200" baseline="30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 dirty="0">
                          <a:latin typeface="+mn-lt"/>
                        </a:rPr>
                        <a:t>*</a:t>
                      </a:r>
                      <a:endParaRPr lang="en-US" sz="1000" b="1" dirty="0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Bugs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PDM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Iteration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5/1/2026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sngStrike" noProof="0">
                          <a:latin typeface="+mn-lt"/>
                          <a:ea typeface="Calibri"/>
                          <a:cs typeface="Calibri"/>
                        </a:rPr>
                        <a:t>6/30/2026</a:t>
                      </a:r>
                      <a:r>
                        <a:rPr lang="en-US" sz="1000" b="0" i="0" u="none" strike="noStrike" noProof="0">
                          <a:latin typeface="+mn-lt"/>
                          <a:ea typeface="Calibri"/>
                          <a:cs typeface="Calibri"/>
                        </a:rPr>
                        <a:t> 7/31/2026</a:t>
                      </a:r>
                      <a:endParaRPr lang="en-US" sz="1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Benefits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6/22/2026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Enrollment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7/15/2026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9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dirty="0">
                          <a:latin typeface="+mn-lt"/>
                        </a:rPr>
                        <a:t>EDI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7/10/2026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687559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581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96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485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36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35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D9D7915-ECA8-77EF-3291-5F8531DAA9F8}"/>
              </a:ext>
            </a:extLst>
          </p:cNvPr>
          <p:cNvSpPr txBox="1"/>
          <p:nvPr/>
        </p:nvSpPr>
        <p:spPr>
          <a:xfrm>
            <a:off x="501648" y="2367193"/>
            <a:ext cx="85999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900" baseline="30000" dirty="0">
                <a:solidFill>
                  <a:schemeClr val="dk1"/>
                </a:solidFill>
              </a:rPr>
              <a:t>*</a:t>
            </a:r>
            <a:r>
              <a:rPr lang="en-US" sz="900" dirty="0">
                <a:solidFill>
                  <a:srgbClr val="313131"/>
                </a:solidFill>
              </a:rPr>
              <a:t>Test case planning is still in progress; expect planned test case count to increase in coming weeks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F3A2C-18E9-4900-6D7B-CBD025C5F27B}"/>
              </a:ext>
            </a:extLst>
          </p:cNvPr>
          <p:cNvSpPr txBox="1"/>
          <p:nvPr/>
        </p:nvSpPr>
        <p:spPr>
          <a:xfrm>
            <a:off x="501648" y="5548395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="1" baseline="30000" dirty="0">
                <a:solidFill>
                  <a:srgbClr val="313131"/>
                </a:solidFill>
              </a:rPr>
              <a:t>**</a:t>
            </a:r>
            <a:r>
              <a:rPr lang="en-US" sz="800" dirty="0">
                <a:solidFill>
                  <a:srgbClr val="313131"/>
                </a:solidFill>
              </a:rPr>
              <a:t>To be discussed with MMO/HE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F49F0-D0F3-1C86-C12F-93692B176DD7}"/>
              </a:ext>
            </a:extLst>
          </p:cNvPr>
          <p:cNvSpPr txBox="1"/>
          <p:nvPr/>
        </p:nvSpPr>
        <p:spPr>
          <a:xfrm>
            <a:off x="501648" y="5770196"/>
            <a:ext cx="5835357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bug or issue.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In Progress </a:t>
            </a:r>
            <a:r>
              <a:rPr lang="en-US" sz="800" dirty="0">
                <a:solidFill>
                  <a:srgbClr val="313131"/>
                </a:solidFill>
              </a:rPr>
              <a:t>– The test case is currently being run by a tester and is not completed yet.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Not Started </a:t>
            </a:r>
            <a:r>
              <a:rPr lang="en-US" sz="800" dirty="0">
                <a:solidFill>
                  <a:srgbClr val="313131"/>
                </a:solidFill>
              </a:rPr>
              <a:t>– The test case has not been run yet.</a:t>
            </a:r>
          </a:p>
          <a:p>
            <a:pPr>
              <a:spcBef>
                <a:spcPts val="600"/>
              </a:spcBef>
              <a:buSzPct val="100000"/>
            </a:pPr>
            <a:endParaRPr lang="en-US" sz="800" dirty="0">
              <a:solidFill>
                <a:srgbClr val="313131"/>
              </a:solidFill>
            </a:endParaRPr>
          </a:p>
        </p:txBody>
      </p:sp>
      <p:graphicFrame>
        <p:nvGraphicFramePr>
          <p:cNvPr id="4" name="ExecSummary">
            <a:extLst>
              <a:ext uri="{FF2B5EF4-FFF2-40B4-BE49-F238E27FC236}">
                <a16:creationId xmlns:a16="http://schemas.microsoft.com/office/drawing/2014/main" id="{5E042D79-1783-1596-AFFA-76687886F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235864"/>
              </p:ext>
            </p:extLst>
          </p:nvPr>
        </p:nvGraphicFramePr>
        <p:xfrm>
          <a:off x="501652" y="1490836"/>
          <a:ext cx="11106577" cy="830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4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42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42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42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17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6281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 dirty="0">
                          <a:latin typeface="+mn-lt"/>
                        </a:rPr>
                        <a:t>*</a:t>
                      </a:r>
                      <a:endParaRPr lang="en-US" sz="1000" b="1" dirty="0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Bugs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581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</a:rPr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+mn-lt"/>
                        </a:rPr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7EA1B08-DABE-19E7-6C91-821E660DB2DD}"/>
              </a:ext>
            </a:extLst>
          </p:cNvPr>
          <p:cNvGrpSpPr/>
          <p:nvPr/>
        </p:nvGrpSpPr>
        <p:grpSpPr>
          <a:xfrm>
            <a:off x="8045292" y="283041"/>
            <a:ext cx="2300000" cy="660000"/>
            <a:chOff x="9400000" y="280000"/>
            <a:chExt cx="2300000" cy="660000"/>
          </a:xfrm>
        </p:grpSpPr>
        <p:sp>
          <p:nvSpPr>
            <p:cNvPr id="8" name="LegendBox">
              <a:extLst>
                <a:ext uri="{FF2B5EF4-FFF2-40B4-BE49-F238E27FC236}">
                  <a16:creationId xmlns:a16="http://schemas.microsoft.com/office/drawing/2014/main" id="{D0CC26F4-7246-D686-D926-D79968082029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9" name="Dot1">
              <a:extLst>
                <a:ext uri="{FF2B5EF4-FFF2-40B4-BE49-F238E27FC236}">
                  <a16:creationId xmlns:a16="http://schemas.microsoft.com/office/drawing/2014/main" id="{1A8678D7-093E-8CF3-11FE-65DBEC1B18C1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Lbl1">
              <a:extLst>
                <a:ext uri="{FF2B5EF4-FFF2-40B4-BE49-F238E27FC236}">
                  <a16:creationId xmlns:a16="http://schemas.microsoft.com/office/drawing/2014/main" id="{BB4468EE-89D3-C068-2C29-E51CC5AF64F3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11" name="Dot2">
              <a:extLst>
                <a:ext uri="{FF2B5EF4-FFF2-40B4-BE49-F238E27FC236}">
                  <a16:creationId xmlns:a16="http://schemas.microsoft.com/office/drawing/2014/main" id="{12089EBC-3C03-02E4-0383-DE7050DC4B0E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Lbl2">
              <a:extLst>
                <a:ext uri="{FF2B5EF4-FFF2-40B4-BE49-F238E27FC236}">
                  <a16:creationId xmlns:a16="http://schemas.microsoft.com/office/drawing/2014/main" id="{3948A89A-10AB-C66C-4712-DE2DFBA05BB6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13" name="Dot3">
              <a:extLst>
                <a:ext uri="{FF2B5EF4-FFF2-40B4-BE49-F238E27FC236}">
                  <a16:creationId xmlns:a16="http://schemas.microsoft.com/office/drawing/2014/main" id="{2AFA6154-28DA-F2B8-51AF-DF8F57DC0040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Lbl3">
              <a:extLst>
                <a:ext uri="{FF2B5EF4-FFF2-40B4-BE49-F238E27FC236}">
                  <a16:creationId xmlns:a16="http://schemas.microsoft.com/office/drawing/2014/main" id="{3B005422-2F68-6700-01F2-8CD230E32B82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15" name="Dot4">
              <a:extLst>
                <a:ext uri="{FF2B5EF4-FFF2-40B4-BE49-F238E27FC236}">
                  <a16:creationId xmlns:a16="http://schemas.microsoft.com/office/drawing/2014/main" id="{1E28C5F5-87A0-B10D-F800-25C3FE998EB0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Lbl4">
              <a:extLst>
                <a:ext uri="{FF2B5EF4-FFF2-40B4-BE49-F238E27FC236}">
                  <a16:creationId xmlns:a16="http://schemas.microsoft.com/office/drawing/2014/main" id="{5D75A662-9E60-E69C-0556-F0F72E29DC49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17" name="LegendBox">
            <a:extLst>
              <a:ext uri="{FF2B5EF4-FFF2-40B4-BE49-F238E27FC236}">
                <a16:creationId xmlns:a16="http://schemas.microsoft.com/office/drawing/2014/main" id="{2B90EE9E-8E5F-6358-966B-3CB2F1E9F95D}"/>
              </a:ext>
            </a:extLst>
          </p:cNvPr>
          <p:cNvSpPr/>
          <p:nvPr/>
        </p:nvSpPr>
        <p:spPr>
          <a:xfrm>
            <a:off x="10415958" y="278522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Overall Status:</a:t>
            </a:r>
          </a:p>
        </p:txBody>
      </p:sp>
      <p:sp>
        <p:nvSpPr>
          <p:cNvPr id="18" name="Dot2">
            <a:extLst>
              <a:ext uri="{FF2B5EF4-FFF2-40B4-BE49-F238E27FC236}">
                <a16:creationId xmlns:a16="http://schemas.microsoft.com/office/drawing/2014/main" id="{6A32AFD8-D599-48DF-CFFD-0AB78AA6C7AD}"/>
              </a:ext>
            </a:extLst>
          </p:cNvPr>
          <p:cNvSpPr/>
          <p:nvPr/>
        </p:nvSpPr>
        <p:spPr>
          <a:xfrm>
            <a:off x="11055514" y="601805"/>
            <a:ext cx="120000" cy="12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9398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heme/theme1.xml><?xml version="1.0" encoding="utf-8"?>
<a:theme xmlns:a="http://schemas.openxmlformats.org/drawingml/2006/main" name="1_Deloitte_Brand_16_9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" id="{8B76E5FB-3D44-4ADE-97F4-EE2F8DA6C64F}" vid="{D90B51BD-6DB3-412C-BDC1-2EA0386B91BC}"/>
    </a:ext>
  </a:extLst>
</a:theme>
</file>

<file path=ppt/theme/theme2.xml><?xml version="1.0" encoding="utf-8"?>
<a:theme xmlns:a="http://schemas.openxmlformats.org/drawingml/2006/main" name="1_Deloitte_Brand_16_9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" id="{8B76E5FB-3D44-4ADE-97F4-EE2F8DA6C64F}" vid="{D90B51BD-6DB3-412C-BDC1-2EA0386B91B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B32110-3B49-40E7-8C15-5E4A22FF8A7B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2d04b2e9-88f0-4ee7-b1e2-4de363e485c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9E60AADF42347A22A5B258ECE583A" ma:contentTypeVersion="14" ma:contentTypeDescription="Create a new document." ma:contentTypeScope="" ma:versionID="69c3fb5ff2cd96113169b748a0d88327">
  <xsd:schema xmlns:xsd="http://www.w3.org/2001/XMLSchema" xmlns:xs="http://www.w3.org/2001/XMLSchema" xmlns:p="http://schemas.microsoft.com/office/2006/metadata/properties" xmlns:ns2="3700a5c1-c4a1-4c74-8d91-dfc8831b4c07" xmlns:ns3="5e2fc1fe-2483-4566-8a07-8cb0f24750cf" targetNamespace="http://schemas.microsoft.com/office/2006/metadata/properties" ma:root="true" ma:fieldsID="b2bdbd42fc06d7a21b12a9a8a90d0870" ns2:_="" ns3:_="">
    <xsd:import namespace="3700a5c1-c4a1-4c74-8d91-dfc8831b4c07"/>
    <xsd:import namespace="5e2fc1fe-2483-4566-8a07-8cb0f24750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3:TaxCatchAll" minOccurs="0"/>
                <xsd:element ref="ns2:MediaServiceOCR" minOccurs="0"/>
                <xsd:element ref="ns2:MediaServiceGenerationTime" minOccurs="0"/>
                <xsd:element ref="ns2:lcf76f155ced4ddcb4097134ff3c332f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00a5c1-c4a1-4c74-8d91-dfc8831b4c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fc1fe-2483-4566-8a07-8cb0f24750c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388ed6f-90e6-412c-a71e-ac9f33a44bf0}" ma:internalName="TaxCatchAll" ma:showField="CatchAllData" ma:web="5e2fc1fe-2483-4566-8a07-8cb0f24750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e2fc1fe-2483-4566-8a07-8cb0f24750cf" xsi:nil="true"/>
    <lcf76f155ced4ddcb4097134ff3c332f xmlns="3700a5c1-c4a1-4c74-8d91-dfc8831b4c0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907A0D8-ACB0-4930-B3AA-F91DD5D64328}">
  <ds:schemaRefs>
    <ds:schemaRef ds:uri="3700a5c1-c4a1-4c74-8d91-dfc8831b4c07"/>
    <ds:schemaRef ds:uri="5e2fc1fe-2483-4566-8a07-8cb0f24750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07376A1-CC42-438F-85FD-93A015D166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CA026D-4666-483B-9EA4-E4BAFDF32B68}">
  <ds:schemaRefs>
    <ds:schemaRef ds:uri="5e2fc1fe-2483-4566-8a07-8cb0f24750cf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3700a5c1-c4a1-4c74-8d91-dfc8831b4c07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730</Words>
  <Application>Microsoft Macintosh PowerPoint</Application>
  <PresentationFormat>Widescreen</PresentationFormat>
  <Paragraphs>176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Verdana</vt:lpstr>
      <vt:lpstr>Wingdings 2</vt:lpstr>
      <vt:lpstr>1_Deloitte_Brand_16_9</vt:lpstr>
      <vt:lpstr>1_Deloitte_Brand_16_9</vt:lpstr>
      <vt:lpstr>think-cell Slide</vt:lpstr>
      <vt:lpstr>MMO Test Execution &amp; Bug Report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Khadri, Habib</dc:creator>
  <cp:lastModifiedBy>Gandhi, Samir</cp:lastModifiedBy>
  <cp:revision>19</cp:revision>
  <dcterms:created xsi:type="dcterms:W3CDTF">2026-03-30T19:40:35Z</dcterms:created>
  <dcterms:modified xsi:type="dcterms:W3CDTF">2026-07-21T17:29:47Z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0x010100CA69E60AADF42347A22A5B258ECE583A</vt:lpwstr>
  </property>
  <property fmtid="{D5CDD505-2E9C-101B-9397-08002B2CF9AE}" pid="3" name="MediaServiceImageTags">
    <vt:lpwstr/>
  </property>
</Properties>
</file>