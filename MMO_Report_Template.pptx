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  <p:sldMasterId id="2147483757" r:id="rId5"/>
  </p:sldMasterIdLst>
  <p:notesMasterIdLst>
    <p:notesMasterId r:id="rId14"/>
  </p:notesMasterIdLst>
  <p:sldIdLst>
    <p:sldId id="2147483588" r:id="rId6"/>
    <p:sldId id="2147483620" r:id="rId7"/>
    <p:sldId id="2147483614" r:id="rId8"/>
    <p:sldId id="2147483622" r:id="rId9"/>
    <p:sldId id="2147483621" r:id="rId10"/>
    <p:sldId id="2147483623" r:id="rId11"/>
    <p:sldId id="2147483608" r:id="rId12"/>
    <p:sldId id="2147483700" r:id="rId21"/>
    <p:sldId id="2147483609" r:id="rId13"/>
    <p:sldId id="21474837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2B47-29F0-5145-A610-1B393F7C5C22}">
          <p14:sldIdLst>
            <p14:sldId id="2147483588"/>
            <p14:sldId id="2147483620"/>
          </p14:sldIdLst>
        </p14:section>
        <p14:section name="Work Stream Report" id="{7F7058A9-543B-4063-913C-9EBD99D479DF}">
          <p14:sldIdLst>
            <p14:sldId id="2147483614"/>
            <p14:sldId id="2147483622"/>
            <p14:sldId id="2147483621"/>
            <p14:sldId id="2147483623"/>
            <p14:sldId id="2147483608"/>
            <p14:sldId id="2147483700"/>
            <p14:sldId id="2147483609"/>
            <p14:sldId id="21474837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92DB77-016D-2894-7618-15E9AB52A849}" name="Sharma, Utkarsh" initials="US" userId="S::utkasharma@deloitte.com::0b75815b-62e9-4a90-8530-df5f1a468d5b" providerId="AD"/>
  <p188:author id="{394961A2-CD47-D227-8F1E-7B111DEE8F7B}" name="Khadri, Habib" initials="HK" userId="S::hkhadri@deloitte.com::fb9fabdf-5b74-4106-9d79-d7bad83cee2b" providerId="AD"/>
  <p188:author id="{542719E4-734E-9509-4F5E-E8B595E54DC2}" name="Curtis, Rhonda" initials="" userId="S::rhcurtis@deloitte.com::490ac867-96aa-4c70-800f-015ffadabd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50F"/>
    <a:srgbClr val="EDF5E8"/>
    <a:srgbClr val="E7EFE3"/>
    <a:srgbClr val="2ECC71"/>
    <a:srgbClr val="E8E9ED"/>
    <a:srgbClr val="E67E22"/>
    <a:srgbClr val="9A564F"/>
    <a:srgbClr val="2C9B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393D8-7A53-4C9B-9909-442E2ED55D50}" v="1226" dt="2026-09-21T22:23:15.717"/>
    <p1510:client id="{86520559-9C2C-B64B-B429-9977961AE228}" v="187" dt="2026-09-21T22:07:42.560"/>
    <p1510:client id="{D4CCB43C-DAFA-65BB-6425-86B9D91E3F7A}" v="210" vWet="211" dt="2026-09-21T21:09:58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CC89-694D-6647-91BA-F3E287B706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3E35-2244-C342-BE62-0B069E5D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1FBDF-07B1-4D9C-9CED-52EAE94FBB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6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6821-AA4F-1632-A121-1B2282F3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13123-D703-BB38-B549-70F641DBC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73765-B20C-A64A-6819-F89FD11F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&gt; Executed &gt; In Progress&gt; Pass &gt; Fail &gt; Defect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6922-2533-238B-2C6C-0881AEEA7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93E35-2244-C342-BE62-0B069E5D84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7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701D-881A-6713-C0AF-E97B8E0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623C2-61B9-9C51-6DFE-16194B4B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2BB77-2BA5-585E-B515-654E948DC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EA809-9D70-E1F3-EB22-0E18A40E9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712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A5E5-05FD-661E-7484-665E986F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C3D26-BF68-EC22-3B7A-E6BAE39B7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99177-8E04-D839-1521-6AE0ED047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C8CF-16E9-3B06-9848-BDB39FA39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81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C035-7C5D-031D-1AAB-03BC50FB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75086-7CEC-B170-7108-46261227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6064E-22E4-4A4B-41AB-BD5F8557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65F1-60D1-BC0A-819B-66E9B2950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96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D3D9-6466-2F55-F196-D6B6CE16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0BAC9-1680-BC8E-E919-068170F78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5C91D-D13B-C4E4-424F-A01ED57FC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04C4F-3D4D-7E9D-5C2C-B6BE11EA3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8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65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6E5346-2FAE-41B8-872E-F4C0489B6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6E5346-2FAE-41B8-872E-F4C0489B6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6D88CB5-8A32-4E28-88D8-2EB8AFCF3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622800"/>
            <a:ext cx="112014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5D5-02D2-4800-869F-1667101F09CF}"/>
              </a:ext>
            </a:extLst>
          </p:cNvPr>
          <p:cNvSpPr txBox="1"/>
          <p:nvPr userDrawn="1"/>
        </p:nvSpPr>
        <p:spPr>
          <a:xfrm>
            <a:off x="495300" y="64008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>
              <a:solidFill>
                <a:schemeClr val="bg2">
                  <a:lumMod val="9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ags" Target="../tags/tag4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18403481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270" imgH="270" progId="TCLayout.ActiveDocument.1">
                  <p:embed/>
                </p:oleObj>
              </mc:Choice>
              <mc:Fallback>
                <p:oleObj name="think-cell Slide" r:id="rId3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20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22" orient="horz" pos="640">
          <p15:clr>
            <a:srgbClr val="F26B43"/>
          </p15:clr>
        </p15:guide>
        <p15:guide id="65" orient="horz" pos="2160">
          <p15:clr>
            <a:srgbClr val="F26B43"/>
          </p15:clr>
        </p15:guide>
        <p15:guide id="66" orient="horz" pos="3968">
          <p15:clr>
            <a:srgbClr val="F26B43"/>
          </p15:clr>
        </p15:guide>
        <p15:guide id="67" pos="312">
          <p15:clr>
            <a:srgbClr val="F26B43"/>
          </p15:clr>
        </p15:guide>
        <p15:guide id="68" pos="7368">
          <p15:clr>
            <a:srgbClr val="F26B43"/>
          </p15:clr>
        </p15:guide>
        <p15:guide id="70" orient="horz" pos="4081">
          <p15:clr>
            <a:srgbClr val="F26B43"/>
          </p15:clr>
        </p15:guide>
        <p15:guide id="77" pos="3783">
          <p15:clr>
            <a:srgbClr val="F26B43"/>
          </p15:clr>
        </p15:guide>
        <p15:guide id="78" pos="3896">
          <p15:clr>
            <a:srgbClr val="F26B43"/>
          </p15:clr>
        </p15:guide>
        <p15:guide id="79" pos="3840">
          <p15:clr>
            <a:srgbClr val="F26B43"/>
          </p15:clr>
        </p15:guide>
        <p15:guide id="81" orient="horz" pos="1049">
          <p15:clr>
            <a:srgbClr val="F26B43"/>
          </p15:clr>
        </p15:guide>
        <p15:guide id="82" orient="horz" pos="641">
          <p15:clr>
            <a:srgbClr val="F26B43"/>
          </p15:clr>
        </p15:guide>
        <p15:guide id="83" orient="horz" pos="39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270" imgH="270" progId="TCLayout.ActiveDocument.1">
                  <p:embed/>
                </p:oleObj>
              </mc:Choice>
              <mc:Fallback>
                <p:oleObj name="think-cell Slide" r:id="rId3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b928880-8a55-4bc3-974b-6773ba0778d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5cbc0be2-c0c0-4e56-a45f-61ecdb73f5e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267bae2-9fad-44f1-b82a-5d1e7518f04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dev.azure.com/medmutual/HRP/_queries/query/?tempQueryId=5cbc0be2-c0c0-4e56-a45f-61ecdb73f5e3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3" Type="http://schemas.openxmlformats.org/officeDocument/2006/relationships/image" Target="../media/imageEnrollmentDefect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3" Type="http://schemas.openxmlformats.org/officeDocument/2006/relationships/image" Target="../media/imageEDIDefec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745B-8D83-C40B-3E9E-4C016ED9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2935976"/>
            <a:ext cx="11201400" cy="923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MMO Test Execution &amp; Defect Report</a:t>
            </a:r>
            <a:endParaRPr lang="en-US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76F38-9832-1E0D-1CF1-540781298B51}"/>
              </a:ext>
            </a:extLst>
          </p:cNvPr>
          <p:cNvSpPr txBox="1">
            <a:spLocks/>
          </p:cNvSpPr>
          <p:nvPr/>
        </p:nvSpPr>
        <p:spPr bwMode="gray">
          <a:xfrm>
            <a:off x="495300" y="3782643"/>
            <a:ext cx="11201400" cy="9233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>
                <a:solidFill>
                  <a:prstClr val="black"/>
                </a:solidFill>
                <a:latin typeface="Calibri"/>
              </a:rPr>
              <a:t>{{Date}}</a:t>
            </a: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96727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3050-B538-8D58-A4E4-0E7C3FD9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arrHeader">
            <a:extLst>
              <a:ext uri="{FF2B5EF4-FFF2-40B4-BE49-F238E27FC236}">
                <a16:creationId xmlns:a16="http://schemas.microsoft.com/office/drawing/2014/main" id="{DDA3501E-37FA-BBD5-7F1A-700EA3501B1B}"/>
              </a:ext>
            </a:extLst>
          </p:cNvPr>
          <p:cNvSpPr txBox="1"/>
          <p:nvPr/>
        </p:nvSpPr>
        <p:spPr>
          <a:xfrm>
            <a:off x="376931" y="2440118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Status</a:t>
            </a:r>
          </a:p>
        </p:txBody>
      </p:sp>
      <p:sp>
        <p:nvSpPr>
          <p:cNvPr id="61" name="NarrLeft">
            <a:extLst>
              <a:ext uri="{FF2B5EF4-FFF2-40B4-BE49-F238E27FC236}">
                <a16:creationId xmlns:a16="http://schemas.microsoft.com/office/drawing/2014/main" id="{015F27E5-6300-FD86-61EC-A29EB191B909}"/>
              </a:ext>
            </a:extLst>
          </p:cNvPr>
          <p:cNvSpPr txBox="1"/>
          <p:nvPr/>
        </p:nvSpPr>
        <p:spPr>
          <a:xfrm>
            <a:off x="368223" y="2716857"/>
            <a:ext cx="5406764" cy="3228686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Executive Summary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{{AI_OVERALL_STATUS}}</a:t>
            </a: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{{AI_PDM_ITERATION_UPDATE}}</a:t>
            </a: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{{AI_PDM_DEFECT_SUMMARY}}</a:t>
            </a: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{{AI_BENEFITS_UPDATE}}</a:t>
            </a:r>
            <a:r>
              <a:rPr lang="en-US" sz="1000" dirty="0">
                <a:solidFill>
                  <a:srgbClr val="333333"/>
                </a:solidFill>
                <a:latin typeface="Calibri"/>
                <a:cs typeface="Calibri"/>
              </a:rPr>
              <a:t/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Defect Triage:</a:t>
            </a:r>
            <a:endParaRPr lang="en-US" sz="1050" b="1" dirty="0">
              <a:solidFill>
                <a:srgbClr val="0076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{{AI_DEFECT_TRIAGE}}</a:t>
            </a: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6FC7E3E-3C8D-5720-3B00-B4B11D35F996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SIT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Execution Status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Report |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AsOf">
            <a:extLst>
              <a:ext uri="{FF2B5EF4-FFF2-40B4-BE49-F238E27FC236}">
                <a16:creationId xmlns:a16="http://schemas.microsoft.com/office/drawing/2014/main" id="{3BADCF61-8843-CACB-D4A9-361363446042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21E322-FD16-698F-4E8E-A2C22B6AD423}"/>
              </a:ext>
            </a:extLst>
          </p:cNvPr>
          <p:cNvSpPr txBox="1"/>
          <p:nvPr/>
        </p:nvSpPr>
        <p:spPr>
          <a:xfrm>
            <a:off x="366668" y="6024736"/>
            <a:ext cx="616040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dirty="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  <a:endParaRPr lang="en-US" sz="800" dirty="0"/>
          </a:p>
        </p:txBody>
      </p:sp>
      <p:sp>
        <p:nvSpPr>
          <p:cNvPr id="27" name="NarrLeft">
            <a:extLst>
              <a:ext uri="{FF2B5EF4-FFF2-40B4-BE49-F238E27FC236}">
                <a16:creationId xmlns:a16="http://schemas.microsoft.com/office/drawing/2014/main" id="{4A25FA09-209E-0831-0B89-5B8FBD195A77}"/>
              </a:ext>
            </a:extLst>
          </p:cNvPr>
          <p:cNvSpPr txBox="1"/>
          <p:nvPr/>
        </p:nvSpPr>
        <p:spPr>
          <a:xfrm>
            <a:off x="6396209" y="2716857"/>
            <a:ext cx="5405798" cy="3223773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NarrHeader">
            <a:extLst>
              <a:ext uri="{FF2B5EF4-FFF2-40B4-BE49-F238E27FC236}">
                <a16:creationId xmlns:a16="http://schemas.microsoft.com/office/drawing/2014/main" id="{3DF8CFDF-5033-6E84-FC61-C280BEDF2E37}"/>
              </a:ext>
            </a:extLst>
          </p:cNvPr>
          <p:cNvSpPr txBox="1"/>
          <p:nvPr/>
        </p:nvSpPr>
        <p:spPr>
          <a:xfrm>
            <a:off x="6397891" y="2414275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Test Case and Defect Breakdown</a:t>
            </a:r>
          </a:p>
        </p:txBody>
      </p:sp>
      <p:graphicFrame>
        <p:nvGraphicFramePr>
          <p:cNvPr id="52" name="WorkstreamSummary">
            <a:extLst>
              <a:ext uri="{FF2B5EF4-FFF2-40B4-BE49-F238E27FC236}">
                <a16:creationId xmlns:a16="http://schemas.microsoft.com/office/drawing/2014/main" id="{EE2634A9-121F-87F6-65CC-9E3D03E9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63084"/>
              </p:ext>
            </p:extLst>
          </p:nvPr>
        </p:nvGraphicFramePr>
        <p:xfrm>
          <a:off x="6527074" y="2852056"/>
          <a:ext cx="5163863" cy="29523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56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557600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460627">
                  <a:extLst>
                    <a:ext uri="{9D8B030D-6E8A-4147-A177-3AD203B41FA5}">
                      <a16:colId xmlns:a16="http://schemas.microsoft.com/office/drawing/2014/main" val="3289360789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4185109620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472809960"/>
                    </a:ext>
                  </a:extLst>
                </a:gridCol>
                <a:gridCol w="517815">
                  <a:extLst>
                    <a:ext uri="{9D8B030D-6E8A-4147-A177-3AD203B41FA5}">
                      <a16:colId xmlns:a16="http://schemas.microsoft.com/office/drawing/2014/main" val="881928816"/>
                    </a:ext>
                  </a:extLst>
                </a:gridCol>
                <a:gridCol w="427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267">
                <a:tc gridSpan="10"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</a:rPr>
                        <a:t>Review Summary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34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Workstreams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Planned*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Executed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libri"/>
                        </a:rPr>
                        <a:t>Open Defects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Cursory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{{PDMCTTC}}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{{PDMCIPTC}}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{{PDMCURSORYDEFOPEN}}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3191323699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{{PDMSITTC}}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{{PDMSITFP}}%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{{PDMSITIPTC}}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{{PDMSITDEFOPEN}}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Calibri"/>
                        </a:rPr>
                        <a:t>2026 Benefits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{{ACTIVEBENETC}}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{{ACTIVEBENFP}}%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{{ACTIVEBENIPTC}}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{{ACTIVEBENB}}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Enrollment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{{ENROFTC}}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{{ENROIPTC}}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{{ENROB}}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>
                          <a:latin typeface="Calibri"/>
                        </a:rPr>
                        <a:t>EDI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{{EDITTC}}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{{EDIETC}}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{{EDIEP}}%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{{EDIPP}}%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{{EDIFTC}}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{{EDIFP}}%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{{EDIIPTC}}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{{EDIB}}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297792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{{TTC}}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{{ETC}}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{{EP}}%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{{PTC}}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{{PP}}%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{{FTC}}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{{FP}}%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{{IPTC}}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latin typeface="+mn-lt"/>
                        </a:rPr>
                        <a:t>{{TB}}</a:t>
                      </a:r>
                      <a:endParaRPr lang="en-US" dirty="0"/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A96CAB9-1357-C066-3A53-B0C34DEC314A}"/>
              </a:ext>
            </a:extLst>
          </p:cNvPr>
          <p:cNvSpPr txBox="1"/>
          <p:nvPr/>
        </p:nvSpPr>
        <p:spPr>
          <a:xfrm>
            <a:off x="376244" y="6146737"/>
            <a:ext cx="571975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in-progress awaiting to clear pending dependencies 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sp>
        <p:nvSpPr>
          <p:cNvPr id="26" name="StatBox1">
            <a:extLst>
              <a:ext uri="{FF2B5EF4-FFF2-40B4-BE49-F238E27FC236}">
                <a16:creationId xmlns:a16="http://schemas.microsoft.com/office/drawing/2014/main" id="{99D07C76-B78A-0AE6-9F5B-2EBA09200CF4}"/>
              </a:ext>
            </a:extLst>
          </p:cNvPr>
          <p:cNvSpPr>
            <a:spLocks noGrp="1" noChangeAspect="1"/>
          </p:cNvSpPr>
          <p:nvPr/>
        </p:nvSpPr>
        <p:spPr>
          <a:xfrm>
            <a:off x="350597" y="1461008"/>
            <a:ext cx="1723995" cy="891136"/>
          </a:xfrm>
          <a:prstGeom prst="rect">
            <a:avLst/>
          </a:prstGeom>
          <a:solidFill>
            <a:srgbClr val="F0FAFA"/>
          </a:solidFill>
          <a:ln w="19050">
            <a:solidFill>
              <a:srgbClr val="0076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Stat1Num">
            <a:extLst>
              <a:ext uri="{FF2B5EF4-FFF2-40B4-BE49-F238E27FC236}">
                <a16:creationId xmlns:a16="http://schemas.microsoft.com/office/drawing/2014/main" id="{23AD6140-4D03-1877-22EA-E129D493E908}"/>
              </a:ext>
            </a:extLst>
          </p:cNvPr>
          <p:cNvSpPr txBox="1">
            <a:spLocks noChangeAspect="1"/>
          </p:cNvSpPr>
          <p:nvPr/>
        </p:nvSpPr>
        <p:spPr>
          <a:xfrm>
            <a:off x="347542" y="1568438"/>
            <a:ext cx="1735119" cy="510955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7680"/>
                </a:solidFill>
              </a:rPr>
              <a:t>{{TTC}}*</a:t>
            </a:r>
            <a:endParaRPr lang="en-US" sz="4800" b="1" baseline="30000" dirty="0">
              <a:solidFill>
                <a:srgbClr val="007680"/>
              </a:solidFill>
            </a:endParaRPr>
          </a:p>
        </p:txBody>
      </p:sp>
      <p:sp>
        <p:nvSpPr>
          <p:cNvPr id="33" name="Stat1Lbl">
            <a:extLst>
              <a:ext uri="{FF2B5EF4-FFF2-40B4-BE49-F238E27FC236}">
                <a16:creationId xmlns:a16="http://schemas.microsoft.com/office/drawing/2014/main" id="{6A6015CF-3978-00B4-DDA9-6B3ED3FB61D3}"/>
              </a:ext>
            </a:extLst>
          </p:cNvPr>
          <p:cNvSpPr txBox="1">
            <a:spLocks noChangeAspect="1"/>
          </p:cNvSpPr>
          <p:nvPr/>
        </p:nvSpPr>
        <p:spPr>
          <a:xfrm>
            <a:off x="350597" y="2120091"/>
            <a:ext cx="1723997" cy="233528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Total Test Cases</a:t>
            </a:r>
          </a:p>
        </p:txBody>
      </p:sp>
      <p:sp>
        <p:nvSpPr>
          <p:cNvPr id="34" name="StatBox2">
            <a:extLst>
              <a:ext uri="{FF2B5EF4-FFF2-40B4-BE49-F238E27FC236}">
                <a16:creationId xmlns:a16="http://schemas.microsoft.com/office/drawing/2014/main" id="{ADCE0457-7EF0-A291-CAF7-184C3CD6CE93}"/>
              </a:ext>
            </a:extLst>
          </p:cNvPr>
          <p:cNvSpPr>
            <a:spLocks noGrp="1"/>
          </p:cNvSpPr>
          <p:nvPr/>
        </p:nvSpPr>
        <p:spPr>
          <a:xfrm>
            <a:off x="4203523" y="1459534"/>
            <a:ext cx="1728216" cy="886968"/>
          </a:xfrm>
          <a:prstGeom prst="rect">
            <a:avLst/>
          </a:prstGeom>
          <a:solidFill>
            <a:srgbClr val="F0FAF2"/>
          </a:solidFill>
          <a:ln w="19050">
            <a:solidFill>
              <a:srgbClr val="00AA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at2Num">
            <a:extLst>
              <a:ext uri="{FF2B5EF4-FFF2-40B4-BE49-F238E27FC236}">
                <a16:creationId xmlns:a16="http://schemas.microsoft.com/office/drawing/2014/main" id="{140DF3D2-B158-FCC3-3217-402F4E05B2D0}"/>
              </a:ext>
            </a:extLst>
          </p:cNvPr>
          <p:cNvSpPr txBox="1"/>
          <p:nvPr/>
        </p:nvSpPr>
        <p:spPr>
          <a:xfrm>
            <a:off x="4203523" y="1559531"/>
            <a:ext cx="173512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00AA55"/>
                </a:solidFill>
                <a:ea typeface="Calibri"/>
                <a:cs typeface="Calibri"/>
              </a:rPr>
              <a:t>{{PTC}}</a:t>
            </a:r>
          </a:p>
        </p:txBody>
      </p:sp>
      <p:sp>
        <p:nvSpPr>
          <p:cNvPr id="36" name="Stat2Lbl">
            <a:extLst>
              <a:ext uri="{FF2B5EF4-FFF2-40B4-BE49-F238E27FC236}">
                <a16:creationId xmlns:a16="http://schemas.microsoft.com/office/drawing/2014/main" id="{D60C9933-0CA7-4B03-D1F8-F76BF8812620}"/>
              </a:ext>
            </a:extLst>
          </p:cNvPr>
          <p:cNvSpPr txBox="1"/>
          <p:nvPr/>
        </p:nvSpPr>
        <p:spPr>
          <a:xfrm>
            <a:off x="4202715" y="2109225"/>
            <a:ext cx="1730273" cy="255901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Passed ({{PP}}%)</a:t>
            </a:r>
          </a:p>
        </p:txBody>
      </p:sp>
      <p:sp>
        <p:nvSpPr>
          <p:cNvPr id="37" name="StatBox3">
            <a:extLst>
              <a:ext uri="{FF2B5EF4-FFF2-40B4-BE49-F238E27FC236}">
                <a16:creationId xmlns:a16="http://schemas.microsoft.com/office/drawing/2014/main" id="{7E6BF14B-91CB-E9B6-FD42-553A467DEC7F}"/>
              </a:ext>
            </a:extLst>
          </p:cNvPr>
          <p:cNvSpPr>
            <a:spLocks noGrp="1"/>
          </p:cNvSpPr>
          <p:nvPr/>
        </p:nvSpPr>
        <p:spPr>
          <a:xfrm>
            <a:off x="6143661" y="1459534"/>
            <a:ext cx="1728216" cy="886968"/>
          </a:xfrm>
          <a:prstGeom prst="rect">
            <a:avLst/>
          </a:prstGeom>
          <a:solidFill>
            <a:srgbClr val="FFF2F2"/>
          </a:solidFill>
          <a:ln w="19050">
            <a:solidFill>
              <a:srgbClr val="CC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tat3Num">
            <a:extLst>
              <a:ext uri="{FF2B5EF4-FFF2-40B4-BE49-F238E27FC236}">
                <a16:creationId xmlns:a16="http://schemas.microsoft.com/office/drawing/2014/main" id="{C460BBE5-6FF9-1801-3054-B7925A291984}"/>
              </a:ext>
            </a:extLst>
          </p:cNvPr>
          <p:cNvSpPr txBox="1"/>
          <p:nvPr/>
        </p:nvSpPr>
        <p:spPr>
          <a:xfrm>
            <a:off x="6148521" y="1551039"/>
            <a:ext cx="173026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CC3333"/>
                </a:solidFill>
                <a:ea typeface="Calibri"/>
                <a:cs typeface="Calibri"/>
              </a:rPr>
              <a:t>{{FTC}}</a:t>
            </a:r>
          </a:p>
        </p:txBody>
      </p:sp>
      <p:sp>
        <p:nvSpPr>
          <p:cNvPr id="39" name="Stat3Lbl">
            <a:extLst>
              <a:ext uri="{FF2B5EF4-FFF2-40B4-BE49-F238E27FC236}">
                <a16:creationId xmlns:a16="http://schemas.microsoft.com/office/drawing/2014/main" id="{83033A1F-7611-EB65-BFE3-BF9920E39A94}"/>
              </a:ext>
            </a:extLst>
          </p:cNvPr>
          <p:cNvSpPr txBox="1"/>
          <p:nvPr/>
        </p:nvSpPr>
        <p:spPr>
          <a:xfrm>
            <a:off x="6151576" y="2122785"/>
            <a:ext cx="1730260" cy="246777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Failed ({{FP}}%)</a:t>
            </a:r>
          </a:p>
        </p:txBody>
      </p:sp>
      <p:sp>
        <p:nvSpPr>
          <p:cNvPr id="43" name="StatBox4">
            <a:extLst>
              <a:ext uri="{FF2B5EF4-FFF2-40B4-BE49-F238E27FC236}">
                <a16:creationId xmlns:a16="http://schemas.microsoft.com/office/drawing/2014/main" id="{89B73705-04BD-B75C-57CF-9ECDC19137A6}"/>
              </a:ext>
            </a:extLst>
          </p:cNvPr>
          <p:cNvSpPr>
            <a:spLocks noGrp="1"/>
          </p:cNvSpPr>
          <p:nvPr/>
        </p:nvSpPr>
        <p:spPr>
          <a:xfrm>
            <a:off x="10026991" y="1466651"/>
            <a:ext cx="1728216" cy="886968"/>
          </a:xfrm>
          <a:prstGeom prst="rect">
            <a:avLst/>
          </a:prstGeom>
          <a:solidFill>
            <a:srgbClr val="FFF8F0"/>
          </a:solidFill>
          <a:ln w="19050">
            <a:solidFill>
              <a:srgbClr val="E07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Stat4Num">
            <a:extLst>
              <a:ext uri="{FF2B5EF4-FFF2-40B4-BE49-F238E27FC236}">
                <a16:creationId xmlns:a16="http://schemas.microsoft.com/office/drawing/2014/main" id="{EDF03EF3-9B1E-4916-6594-E140C2B54504}"/>
              </a:ext>
            </a:extLst>
          </p:cNvPr>
          <p:cNvSpPr txBox="1"/>
          <p:nvPr/>
        </p:nvSpPr>
        <p:spPr>
          <a:xfrm>
            <a:off x="10023937" y="1556722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E07000"/>
                </a:solidFill>
                <a:ea typeface="Calibri"/>
                <a:cs typeface="Calibri"/>
              </a:rPr>
              <a:t>{{TB}}</a:t>
            </a:r>
          </a:p>
        </p:txBody>
      </p:sp>
      <p:sp>
        <p:nvSpPr>
          <p:cNvPr id="45" name="Stat4Lbl">
            <a:extLst>
              <a:ext uri="{FF2B5EF4-FFF2-40B4-BE49-F238E27FC236}">
                <a16:creationId xmlns:a16="http://schemas.microsoft.com/office/drawing/2014/main" id="{A236E7EF-8E9C-6470-792F-D6C0DFD6951E}"/>
              </a:ext>
            </a:extLst>
          </p:cNvPr>
          <p:cNvSpPr txBox="1"/>
          <p:nvPr/>
        </p:nvSpPr>
        <p:spPr>
          <a:xfrm>
            <a:off x="10037630" y="2118575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Open Defects</a:t>
            </a:r>
          </a:p>
        </p:txBody>
      </p:sp>
      <p:sp>
        <p:nvSpPr>
          <p:cNvPr id="46" name="StatBox3">
            <a:extLst>
              <a:ext uri="{FF2B5EF4-FFF2-40B4-BE49-F238E27FC236}">
                <a16:creationId xmlns:a16="http://schemas.microsoft.com/office/drawing/2014/main" id="{80E9E55F-0CEC-90AF-EC57-7C6FB1593F69}"/>
              </a:ext>
            </a:extLst>
          </p:cNvPr>
          <p:cNvSpPr>
            <a:spLocks noGrp="1"/>
          </p:cNvSpPr>
          <p:nvPr/>
        </p:nvSpPr>
        <p:spPr>
          <a:xfrm>
            <a:off x="2276656" y="1459534"/>
            <a:ext cx="1728216" cy="886968"/>
          </a:xfrm>
          <a:prstGeom prst="rect">
            <a:avLst/>
          </a:prstGeom>
          <a:solidFill>
            <a:srgbClr val="E8E9ED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Stat3Num">
            <a:extLst>
              <a:ext uri="{FF2B5EF4-FFF2-40B4-BE49-F238E27FC236}">
                <a16:creationId xmlns:a16="http://schemas.microsoft.com/office/drawing/2014/main" id="{6D6873E7-420A-807B-C4AC-5CA86A4CDA28}"/>
              </a:ext>
            </a:extLst>
          </p:cNvPr>
          <p:cNvSpPr txBox="1"/>
          <p:nvPr/>
        </p:nvSpPr>
        <p:spPr>
          <a:xfrm>
            <a:off x="2274412" y="1552017"/>
            <a:ext cx="1728511" cy="511637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ea typeface="Calibri"/>
                <a:cs typeface="Calibri"/>
              </a:rPr>
              <a:t>{{ETC}}</a:t>
            </a:r>
            <a:endParaRPr lang="en-US" sz="4800" b="1">
              <a:ln>
                <a:solidFill>
                  <a:srgbClr val="53565A"/>
                </a:solidFill>
              </a:ln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48" name="Stat3Lbl">
            <a:extLst>
              <a:ext uri="{FF2B5EF4-FFF2-40B4-BE49-F238E27FC236}">
                <a16:creationId xmlns:a16="http://schemas.microsoft.com/office/drawing/2014/main" id="{227A0A4C-EDFB-7539-91F0-950357C2ACE2}"/>
              </a:ext>
            </a:extLst>
          </p:cNvPr>
          <p:cNvSpPr txBox="1"/>
          <p:nvPr/>
        </p:nvSpPr>
        <p:spPr>
          <a:xfrm>
            <a:off x="2265560" y="2117157"/>
            <a:ext cx="1728512" cy="227193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Executed</a:t>
            </a:r>
          </a:p>
        </p:txBody>
      </p:sp>
      <p:sp>
        <p:nvSpPr>
          <p:cNvPr id="49" name="StatBox4">
            <a:extLst>
              <a:ext uri="{FF2B5EF4-FFF2-40B4-BE49-F238E27FC236}">
                <a16:creationId xmlns:a16="http://schemas.microsoft.com/office/drawing/2014/main" id="{D3BC3390-ECDB-17DF-E2EA-778AF4F865DE}"/>
              </a:ext>
            </a:extLst>
          </p:cNvPr>
          <p:cNvSpPr>
            <a:spLocks noGrp="1"/>
          </p:cNvSpPr>
          <p:nvPr/>
        </p:nvSpPr>
        <p:spPr>
          <a:xfrm>
            <a:off x="8076895" y="1457382"/>
            <a:ext cx="1728216" cy="886968"/>
          </a:xfrm>
          <a:prstGeom prst="rect">
            <a:avLst/>
          </a:prstGeom>
          <a:solidFill>
            <a:srgbClr val="D8FFFD">
              <a:alpha val="87843"/>
            </a:srgbClr>
          </a:solidFill>
          <a:ln w="19050">
            <a:solidFill>
              <a:srgbClr val="6FC2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Stat4Num">
            <a:extLst>
              <a:ext uri="{FF2B5EF4-FFF2-40B4-BE49-F238E27FC236}">
                <a16:creationId xmlns:a16="http://schemas.microsoft.com/office/drawing/2014/main" id="{F2F8CA9C-06FB-7F56-B430-CBB275468108}"/>
              </a:ext>
            </a:extLst>
          </p:cNvPr>
          <p:cNvSpPr txBox="1"/>
          <p:nvPr/>
        </p:nvSpPr>
        <p:spPr>
          <a:xfrm>
            <a:off x="8073841" y="1547453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6FC2B4"/>
                </a:solidFill>
                <a:ea typeface="Calibri"/>
                <a:cs typeface="Calibri"/>
              </a:rPr>
              <a:t>{{IPTC}}</a:t>
            </a:r>
          </a:p>
        </p:txBody>
      </p:sp>
      <p:sp>
        <p:nvSpPr>
          <p:cNvPr id="51" name="Stat4Lbl">
            <a:extLst>
              <a:ext uri="{FF2B5EF4-FFF2-40B4-BE49-F238E27FC236}">
                <a16:creationId xmlns:a16="http://schemas.microsoft.com/office/drawing/2014/main" id="{3385AB6F-5E80-30BE-218A-1FC78F12CFC7}"/>
              </a:ext>
            </a:extLst>
          </p:cNvPr>
          <p:cNvSpPr txBox="1"/>
          <p:nvPr/>
        </p:nvSpPr>
        <p:spPr>
          <a:xfrm>
            <a:off x="8087534" y="2109306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In Progress</a:t>
            </a:r>
          </a:p>
        </p:txBody>
      </p:sp>
      <p:sp>
        <p:nvSpPr>
          <p:cNvPr id="11" name="LegendBox">
            <a:extLst>
              <a:ext uri="{FF2B5EF4-FFF2-40B4-BE49-F238E27FC236}">
                <a16:creationId xmlns:a16="http://schemas.microsoft.com/office/drawing/2014/main" id="{834828F7-8CCF-D014-B2A1-FA7B223ADFB9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D9283-C35E-CD42-5849-79EEACFB7A44}"/>
              </a:ext>
            </a:extLst>
          </p:cNvPr>
          <p:cNvGrpSpPr/>
          <p:nvPr/>
        </p:nvGrpSpPr>
        <p:grpSpPr>
          <a:xfrm>
            <a:off x="7821411" y="215093"/>
            <a:ext cx="2300000" cy="660000"/>
            <a:chOff x="9400000" y="280000"/>
            <a:chExt cx="2300000" cy="660000"/>
          </a:xfrm>
        </p:grpSpPr>
        <p:sp>
          <p:nvSpPr>
            <p:cNvPr id="20" name="LegendBox">
              <a:extLst>
                <a:ext uri="{FF2B5EF4-FFF2-40B4-BE49-F238E27FC236}">
                  <a16:creationId xmlns:a16="http://schemas.microsoft.com/office/drawing/2014/main" id="{9E7F1FB6-D66C-348B-B8C7-138CB4C99A64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1" name="Dot1">
              <a:extLst>
                <a:ext uri="{FF2B5EF4-FFF2-40B4-BE49-F238E27FC236}">
                  <a16:creationId xmlns:a16="http://schemas.microsoft.com/office/drawing/2014/main" id="{5F918CAD-647A-FFEC-BE75-950CECA8A67B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Lbl1">
              <a:extLst>
                <a:ext uri="{FF2B5EF4-FFF2-40B4-BE49-F238E27FC236}">
                  <a16:creationId xmlns:a16="http://schemas.microsoft.com/office/drawing/2014/main" id="{2FB5EDEA-ACD1-6393-8004-24B092E92F2C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30" name="Dot2">
              <a:extLst>
                <a:ext uri="{FF2B5EF4-FFF2-40B4-BE49-F238E27FC236}">
                  <a16:creationId xmlns:a16="http://schemas.microsoft.com/office/drawing/2014/main" id="{69F61DFD-6F87-FF9E-6F99-4EA015841059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BF3C3D1E-6713-D27F-CF4D-1A74255EAD22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EC6270FC-32C7-234E-D56E-5CC7AF1F2701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Lbl3">
              <a:extLst>
                <a:ext uri="{FF2B5EF4-FFF2-40B4-BE49-F238E27FC236}">
                  <a16:creationId xmlns:a16="http://schemas.microsoft.com/office/drawing/2014/main" id="{87378057-3253-0DFA-1659-084282424C2D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41" name="Dot4">
              <a:extLst>
                <a:ext uri="{FF2B5EF4-FFF2-40B4-BE49-F238E27FC236}">
                  <a16:creationId xmlns:a16="http://schemas.microsoft.com/office/drawing/2014/main" id="{DA47427F-D5AA-6953-81DD-ED682FB72A0A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Lbl4">
              <a:extLst>
                <a:ext uri="{FF2B5EF4-FFF2-40B4-BE49-F238E27FC236}">
                  <a16:creationId xmlns:a16="http://schemas.microsoft.com/office/drawing/2014/main" id="{C12ECC9D-BCDC-8510-CD1A-A5EC3FAC16F2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3" name="Dot3">
            <a:extLst>
              <a:ext uri="{FF2B5EF4-FFF2-40B4-BE49-F238E27FC236}">
                <a16:creationId xmlns:a16="http://schemas.microsoft.com/office/drawing/2014/main" id="{991FA8AC-D41A-89C1-C6EB-FE5914097816}"/>
              </a:ext>
            </a:extLst>
          </p:cNvPr>
          <p:cNvSpPr/>
          <p:nvPr/>
        </p:nvSpPr>
        <p:spPr>
          <a:xfrm>
            <a:off x="10832657" y="541882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6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Testing Execution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47937"/>
              </p:ext>
            </p:extLst>
          </p:nvPr>
        </p:nvGraphicFramePr>
        <p:xfrm>
          <a:off x="501651" y="1490836"/>
          <a:ext cx="11175482" cy="1814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320813991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464094568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168240689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75189816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57898767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21841244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81">
                <a:tc gridSpan="13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  <a:r>
                        <a:rPr lang="en-US" sz="1000" kern="1200" baseline="300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endParaRPr lang="en-US" sz="1000" baseline="30000" dirty="0"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Cursory</a:t>
                      </a:r>
                      <a:endParaRPr lang="en-US" sz="1000" b="1" baseline="30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{{PDMIT2EP}}%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{{PDMIT2PTC}}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{{PDMIT2PP}}%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{{PDMIT2FTC}}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{{PDMIT2FP}}%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{{PDMIT2IPTC}}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{{PDMIT2DEFOPEN}}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{{PDMIT21ETC}}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{{PDMIT21EP}}%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{{PDMIT21PTC}}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{{PDMIT21PP}}%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{{PDMIT21FTC}}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{{PDMIT21FP}}%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{{PDMIT21IPTC}}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{{PDMIT21BTC}}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{{PDMIT21NSTC}}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{{PDMIT21DEFOPEN}}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229393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{{PDMIT3ETC}}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{{PDMIT3EP}}%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{{PDMIT3PTC}}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{{PDMIT3PP}}%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{{PDMIT3FTC}}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{{PDMIT3FP}}%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{{PDMIT3IPTC}}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{{PDMIT3BTC}}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{{PDMIT3NSTC}}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{{PDMIT3DEFOPEN}}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95197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F250EFB-F4DA-42AB-09C3-043BD78F3A71}"/>
              </a:ext>
            </a:extLst>
          </p:cNvPr>
          <p:cNvSpPr txBox="1"/>
          <p:nvPr/>
        </p:nvSpPr>
        <p:spPr>
          <a:xfrm>
            <a:off x="495836" y="5729113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</a:t>
            </a:r>
            <a:r>
              <a:rPr lang="en-US" sz="800">
                <a:solidFill>
                  <a:srgbClr val="313131"/>
                </a:solidFill>
              </a:rPr>
              <a:t>Cursory Review validates that the data in PDM is matching with the source; no further validation on data quality is done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D7915-ECA8-77EF-3291-5F8531DAA9F8}"/>
              </a:ext>
            </a:extLst>
          </p:cNvPr>
          <p:cNvSpPr txBox="1"/>
          <p:nvPr/>
        </p:nvSpPr>
        <p:spPr>
          <a:xfrm>
            <a:off x="495836" y="5873595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>
                <a:solidFill>
                  <a:schemeClr val="dk1"/>
                </a:solidFill>
              </a:rPr>
              <a:t>**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479868-6844-26B2-E461-5CFEE8A40FE8}"/>
              </a:ext>
            </a:extLst>
          </p:cNvPr>
          <p:cNvSpPr txBox="1"/>
          <p:nvPr/>
        </p:nvSpPr>
        <p:spPr>
          <a:xfrm>
            <a:off x="495836" y="5989502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***</a:t>
            </a:r>
            <a:r>
              <a:rPr lang="en-US" sz="800">
                <a:solidFill>
                  <a:srgbClr val="313131"/>
                </a:solidFill>
              </a:rPr>
              <a:t>Defects included from previous iterations</a:t>
            </a:r>
          </a:p>
        </p:txBody>
      </p:sp>
      <p:sp>
        <p:nvSpPr>
          <p:cNvPr id="13" name="LegendBox">
            <a:extLst>
              <a:ext uri="{FF2B5EF4-FFF2-40B4-BE49-F238E27FC236}">
                <a16:creationId xmlns:a16="http://schemas.microsoft.com/office/drawing/2014/main" id="{E5AAE186-9015-AF07-72EA-58EBD400AF07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F49F0-D0F3-1C86-C12F-93692B176DD7}"/>
              </a:ext>
            </a:extLst>
          </p:cNvPr>
          <p:cNvSpPr txBox="1"/>
          <p:nvPr/>
        </p:nvSpPr>
        <p:spPr>
          <a:xfrm>
            <a:off x="495836" y="6112613"/>
            <a:ext cx="60548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313131"/>
                </a:solidFill>
              </a:rPr>
              <a:t>Executed</a:t>
            </a:r>
            <a:r>
              <a:rPr lang="en-US" sz="80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>
                <a:solidFill>
                  <a:srgbClr val="313131"/>
                </a:solidFill>
              </a:rPr>
              <a:t>Passed</a:t>
            </a:r>
            <a:r>
              <a:rPr lang="en-US" sz="80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>
                <a:solidFill>
                  <a:srgbClr val="313131"/>
                </a:solidFill>
              </a:rPr>
              <a:t>Failed</a:t>
            </a:r>
            <a:r>
              <a:rPr lang="en-US" sz="80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14863" y="982262"/>
            <a:ext cx="11101069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{{AI_PDM_CURSORY_STATUS}}</a:t>
            </a:r>
            <a:r>
              <a:rPr lang="en-US" sz="900" b="1" i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9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</a:p>
          <a:p>
            <a:pPr>
              <a:spcBef>
                <a:spcPts val="200"/>
              </a:spcBef>
            </a:pPr>
            <a:endParaRPr lang="en-US" sz="900" dirty="0"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94E49F4F-74EB-46D0-1475-3A6BD2792461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WorkstreamSummary">
            <a:extLst>
              <a:ext uri="{FF2B5EF4-FFF2-40B4-BE49-F238E27FC236}">
                <a16:creationId xmlns:a16="http://schemas.microsoft.com/office/drawing/2014/main" id="{CDB1D4FD-F646-A646-F27C-694A21293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791683"/>
              </p:ext>
            </p:extLst>
          </p:nvPr>
        </p:nvGraphicFramePr>
        <p:xfrm>
          <a:off x="495836" y="3457728"/>
          <a:ext cx="11163817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3383328722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705187464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PDM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{{PDMSITTC}}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{{PDMSITETC}}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{{PDMSITIPTC}}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{{PDMSITBTC}}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{{PDMSITNSTC}}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{{PDMSITDEFOPEN}}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{{PDMSITTC}}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{{PDMSITETC}}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{{PDMSITPTC}}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{{PDMSITFTC}}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{{PDMSITIPTC}}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{{PDMSITBTC}}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{{PDMSITNSTC}}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{{PDMCB}}*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77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BE94-B8E2-51AF-2511-9F0CC86E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DB64E7-162E-0F5B-9E60-CCCF933D3EC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43B77641-B9A4-FF9B-1089-33EDDA27F05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BB09E675-6F6C-94A6-877E-245EE23D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77359"/>
              </p:ext>
            </p:extLst>
          </p:nvPr>
        </p:nvGraphicFramePr>
        <p:xfrm>
          <a:off x="501650" y="1490836"/>
          <a:ext cx="5406762" cy="156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Iteration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{{PDMIT2DEFOPEN}}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{{PDMIT2DEFCLOSED}}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{{PDMIT2DEFRESOLVED}}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{{PDMIT21DEFOPEN}}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{{PDMIT21DEFCLOSED}}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{{PDMIT21DEFRESOLVED}}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822939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{{PDMIT3DEFOPEN}}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{{PDMIT3DEFCLOSED}}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{{PDMIT3DEFRESOLVED}}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595197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{{PDMSITDEFOPEN}}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{{PDMSITDEFCLOSED}}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{{PDMSITDEFRESOLVED}}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{{PDMCB}}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aphicFrame>
        <p:nvGraphicFramePr>
          <p:cNvPr id="9000" name="SeverityTable"/>
          <p:cNvGraphicFramePr>
            <a:graphicFrameLocks noGrp="1"/>
          </p:cNvGraphicFramePr>
          <p:nvPr/>
        </p:nvGraphicFramePr>
        <p:xfrm>
          <a:off x="501650" y="3175836"/>
          <a:ext cx="5406762" cy="156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Testing Defect Summary by Severity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Critical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{{PDMSEVCRITTOTAL}}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{{PDMSEVCRITOPEN}}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{{PDMSEVCRITCLOSED}}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{{PDMSEVCRITRESOLVED}}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{{PDMSEVHIGHTOTAL}}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{{PDMSEVHIGHOPEN}}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{{PDMSEVHIGHCLOSED}}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{{PDMSEVHIGHRESOLVED}}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{{PDMSEVMEDTOTAL}}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{{PDMSEVMEDOPEN}}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{{PDMSEVMEDCLOSED}}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{{PDMSEVMEDRESOLVED}}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{{PDMSEVLOWTOTAL}}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{{PDMSEVLOWOPEN}}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{{PDMSEVLOWCLOSED}}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{{PDMSEVLOWRESOLVED}}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{{PDMCB}}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{{PDMDEFRESOLVEDTOTAL}}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0E77E65D-2938-7D33-7E7A-BF43D5E0DC8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D9230A7B-BC38-B2FF-D2AB-CA6DC45BCEE5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03C244D-3943-90BC-E1FD-ECC641DC68E0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05F4765E-EF33-E121-E16B-CFE1006FC72F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11AC445D-A448-A86F-1A52-9BD1FAF9D06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1E6FFD12-44E9-F623-44B4-B5545D03CDBF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4FA4C29A-59D9-BB32-BC13-D8DA16982AFB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34F94A80-85E9-EF89-D739-CA80FD715586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95D7A5AD-9F52-3519-BA87-D8F3DB6ADA6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6AC06057-B5F5-BAAD-4352-E90983D1FB86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92A6CAA0-FDE3-2FD0-09F9-92D52E882E3C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600339-6144-3556-FD70-AAF6E472D810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{{AI_PDM_DEFECT_STATUS}}</a:t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1260D4F1-FCD9-8BA1-42E0-D923A624AFEF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B8652786-6E36-3217-9FF0-D7BB0C7DEF8D}"/>
              </a:ext>
            </a:extLst>
          </p:cNvPr>
          <p:cNvSpPr txBox="1"/>
          <p:nvPr/>
        </p:nvSpPr>
        <p:spPr>
          <a:xfrm>
            <a:off x="501650" y="4860836"/>
            <a:ext cx="540676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{{AI_PDM_DEFECT_INSIGHTS}}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8989A7C4-2A1E-CB24-608F-2D57939B1AB4}"/>
              </a:ext>
            </a:extLst>
          </p:cNvPr>
          <p:cNvSpPr txBox="1"/>
          <p:nvPr/>
        </p:nvSpPr>
        <p:spPr>
          <a:xfrm>
            <a:off x="6487008" y="400312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PDM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{{AI_PDM_BURNDOWN_INSIGHTS}}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F0C2-4E4C-A305-D2D8-F87CB9E3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03" y="1361963"/>
            <a:ext cx="4928616" cy="26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Benefits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C5AF1582-CDC9-F592-4EB1-797D4002AF9D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47249"/>
              </p:ext>
            </p:extLst>
          </p:nvPr>
        </p:nvGraphicFramePr>
        <p:xfrm>
          <a:off x="501651" y="1490836"/>
          <a:ext cx="11163821" cy="1329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35078129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27563176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39772898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7994411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1293845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276562566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Priority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{{BENEPBFTC}}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{{BENEPBIPTC}}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{{BENEPBBTC}}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{{BENEPBNSTC}}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{{BENEPBDEF}}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2026 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{{BENE26FTC}}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{{BENE26NSTC}}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{{BENE26DEF}}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075110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90205"/>
              </p:ext>
            </p:extLst>
          </p:nvPr>
        </p:nvGraphicFramePr>
        <p:xfrm>
          <a:off x="501648" y="2916387"/>
          <a:ext cx="11163826" cy="271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3720477358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Benefits 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Benefit Type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Signature HMO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{{BENESIHMBTC}}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{{BENESIHMNSTC}}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{{BENESIHMDEFOPEN}}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Access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{{BENEACPBTC}}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{{BENEACPNSTC}}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{{BENEACPDEFOPEN}}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Premium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{{BENEPRPBTC}}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{{BENEPRPDEFOPEN}}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3774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MMEGWP PPO CWRU MAPD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{{BENEMMEGWPTTC}}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+mn-lt"/>
                          <a:ea typeface="Calibri"/>
                          <a:cs typeface="Calibri"/>
                        </a:rPr>
                        <a:t>11/30/2026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{{BENEMMEGWPETC}}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{{BENEMMEGWPPTC}}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{{BENEMMEGWPFTC}}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{{BENEMMEGWPIPTC}}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{{BENEMMEGWPBTC}}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{{BENEMMEGWPNSTC}}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{{BENEMMEGWPDEFOPEN}}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7367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Classic HMO NEOH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11/30/2026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{{BENENEOHIPTC}}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{{BENENEOHBTC}}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{{BENENEOHDEFOPEN}}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{{ACTIVEBENB}}</a:t>
                      </a:r>
                      <a:endParaRPr lang="en-US" dirty="0"/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5093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" name="TextBox 9">
            <a:extLst>
              <a:ext uri="{FF2B5EF4-FFF2-40B4-BE49-F238E27FC236}">
                <a16:creationId xmlns:a16="http://schemas.microsoft.com/office/drawing/2014/main" id="{79EC38D1-5F6B-40F1-80E8-5EFE366432DC}"/>
              </a:ext>
            </a:extLst>
          </p:cNvPr>
          <p:cNvSpPr txBox="1"/>
          <p:nvPr/>
        </p:nvSpPr>
        <p:spPr>
          <a:xfrm>
            <a:off x="501648" y="6362001"/>
            <a:ext cx="365164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Benefit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650D5-95BE-2E4E-7E8D-8EC1E9AAACA0}"/>
              </a:ext>
            </a:extLst>
          </p:cNvPr>
          <p:cNvSpPr txBox="1"/>
          <p:nvPr/>
        </p:nvSpPr>
        <p:spPr>
          <a:xfrm>
            <a:off x="500191" y="5869983"/>
            <a:ext cx="5967376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  <a:endParaRPr lang="en-US" sz="800" dirty="0">
              <a:solidFill>
                <a:srgbClr val="313131"/>
              </a:solidFill>
              <a:ea typeface="Calibri"/>
              <a:cs typeface="Calibri"/>
            </a:endParaRP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  <a:ea typeface="Calibri"/>
                <a:cs typeface="Calibri"/>
              </a:rPr>
              <a:t>In Progress </a:t>
            </a:r>
            <a:r>
              <a:rPr lang="en-US" sz="800" dirty="0">
                <a:solidFill>
                  <a:srgbClr val="313131"/>
                </a:solidFill>
                <a:ea typeface="Calibri"/>
                <a:cs typeface="Calibri"/>
              </a:rPr>
              <a:t>– The test case is currently in-progress awaiting to clear pending dependencies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D58E4-CCA9-B0A1-08F2-55502C6553A0}"/>
              </a:ext>
            </a:extLst>
          </p:cNvPr>
          <p:cNvSpPr txBox="1"/>
          <p:nvPr/>
        </p:nvSpPr>
        <p:spPr>
          <a:xfrm>
            <a:off x="500191" y="5633823"/>
            <a:ext cx="859993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  <a:br>
              <a:rPr lang="en-US" sz="800">
                <a:solidFill>
                  <a:srgbClr val="313131"/>
                </a:solidFill>
              </a:rPr>
            </a:br>
            <a:r>
              <a:rPr lang="en-US" sz="800">
                <a:solidFill>
                  <a:srgbClr val="313131"/>
                </a:solidFill>
              </a:rPr>
              <a:t>Note: Additional 2026 Benefit plans are still pending test execution and are not yet reflected in these totals; they will be incorporated as testing begins.</a:t>
            </a:r>
          </a:p>
          <a:p>
            <a:pPr>
              <a:spcBef>
                <a:spcPts val="600"/>
              </a:spcBef>
            </a:pPr>
            <a:endParaRPr lang="en-US" sz="80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00191" y="982262"/>
            <a:ext cx="1110106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{{AI_BENEFITS_STATUS}}</a:t>
            </a:r>
            <a:endParaRPr lang="en-US" sz="9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8" name="Dot3">
            <a:extLst>
              <a:ext uri="{FF2B5EF4-FFF2-40B4-BE49-F238E27FC236}">
                <a16:creationId xmlns:a16="http://schemas.microsoft.com/office/drawing/2014/main" id="{5A59C70E-6484-A352-D9FE-E84F2CCE9E9A}"/>
              </a:ext>
            </a:extLst>
          </p:cNvPr>
          <p:cNvSpPr/>
          <p:nvPr/>
        </p:nvSpPr>
        <p:spPr>
          <a:xfrm>
            <a:off x="10832657" y="541882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86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98DD-2983-733F-C2AA-43B0BFDA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C883B3B-A4D8-5BEA-F6DA-F2C60E53A113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Benefits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A6B90EBB-18F9-BA70-0220-8612AAD86C63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95F6666C-0C28-6B1E-5536-89416C45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75337"/>
              </p:ext>
            </p:extLst>
          </p:nvPr>
        </p:nvGraphicFramePr>
        <p:xfrm>
          <a:off x="501650" y="1490836"/>
          <a:ext cx="5406762" cy="17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Signature HMO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{{BENESIHMDEFTOTAL}}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{{BENESIHMDEFOPEN}}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{{BENESIHMDEFCLOSED}}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{{BENESIHMDEFRESOLVED}}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65087997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Access PPO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{{BENEACPDEFTOTAL}}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{{BENEACPDEFOPEN}}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{{BENEACPDEFCLOSED}}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{{BENEACPDEFRESOLVED}}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29261743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Premium PPO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{{BENEPRPDEFTOTAL}}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{{BENEPRPDEFOPEN}}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{{BENEPRPDEFCLOSED}}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{{BENEPRPDEFRESOLVED}}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76771039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Classic HMO NEOH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{{BENENEOHDEFTOTAL}}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{{BENENEOHDEFOPEN}}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{{BENENEOHDEFCLOSED}}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{{BENENEOHDEFRESOLVED}}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07388535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MMEGWP PPO CWRU MAPD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{{BENEMMEGWPDEFTOTAL}}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{{BENEMMEGWPDEFOPEN}}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{{BENEMMEGWPDEFCLOSED}}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{{BENEMMEGWPDEFRESOLVED}}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66485138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TOTAL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{{BENEDEFTOTAL}}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{{ACTIVEBENB}}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{{BENEDEFCLOSEDTOTAL}}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{{BENEDEFRESOLVEDTOTAL}}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aphicFrame>
        <p:nvGraphicFramePr>
          <p:cNvPr id="9001" name="SeverityTable"/>
          <p:cNvGraphicFramePr>
            <a:graphicFrameLocks noGrp="1"/>
          </p:cNvGraphicFramePr>
          <p:nvPr/>
        </p:nvGraphicFramePr>
        <p:xfrm>
          <a:off x="501650" y="3400836"/>
          <a:ext cx="5406762" cy="156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Testing Defect Summary by Severity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Critical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{{BENESEVCRITTOTAL}}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{{BENESEVCRITOPEN}}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{{BENESEVCRITCLOSED}}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{{BENESEVCRITRESOLVED}}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{{BENESEVHIGHTOTAL}}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{{BENESEVHIGHOPEN}}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{{BENESEVHIGHCLOSED}}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{{BENESEVHIGHRESOLVED}}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{{BENESEVMEDTOTAL}}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{{BENESEVMEDOPEN}}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{{BENESEVMEDCLOSED}}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{{BENESEVMEDRESOLVED}}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{{BENESEVLOWTOTAL}}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{{BENESEVLOWOPEN}}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{{BENESEVLOWCLOSED}}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{{BENESEVLOWRESOLVED}}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{{ACTIVEBENB}}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{{BENEDEFRESOLVEDTOTAL}}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4EBFBF2D-14C9-E484-A86D-DEB8E53528B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39589F60-41E6-4F82-3D22-47CE7B2B854A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7AD57AAC-B825-2AD7-CE12-069BA732F534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DE741940-02A4-217C-972F-62BDF6110BD6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D959B33-EAF6-6ACD-BBAE-90A2AA35CC0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615C179A-3231-CB26-740D-5EAF3798D372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0240504B-E8D8-BBF2-C779-1D407E092E4E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E5FF786F-6C18-8733-F745-44B17E81C099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29F4749C-C7E9-5F5F-E8D3-4ED341B19F14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2C5C409D-D4D7-3426-5DD6-A5A88D93D49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6645CCFE-2D4B-4768-A563-CE066C2145E6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63A99F-F10C-F476-BD18-80D172CF3ECF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{{AI_BENEFITS_DEFECT_STATUS}}</a:t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0322AFEA-DA5C-D2DD-6DB9-D53378AC1317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F2C5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E3310B2B-DD89-700B-E1AA-326FE202EC82}"/>
              </a:ext>
            </a:extLst>
          </p:cNvPr>
          <p:cNvSpPr txBox="1"/>
          <p:nvPr/>
        </p:nvSpPr>
        <p:spPr>
          <a:xfrm>
            <a:off x="514863" y="5085836"/>
            <a:ext cx="5406764" cy="1672164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lang="en-US" sz="1000">
                <a:solidFill>
                  <a:srgbClr val="333333"/>
                </a:solidFill>
              </a:rPr>
              <a:t>{{AI_BENEFITS_DEFECT_INSIGHTS}}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E3B8AB44-EBBA-05F9-372E-1F6615836CA5}"/>
              </a:ext>
            </a:extLst>
          </p:cNvPr>
          <p:cNvSpPr txBox="1"/>
          <p:nvPr/>
        </p:nvSpPr>
        <p:spPr>
          <a:xfrm>
            <a:off x="6467475" y="416331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Benefits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{{AI_BENEFITS_BURNDOWN_INSIGHTS}}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FF0000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B213BD-6501-9C1B-2462-A961A2F14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18" y="1407173"/>
            <a:ext cx="4931427" cy="26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9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AC78-999A-1386-44C5-67394F49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FBF2166-CA40-EB00-72DE-CF6EA25DAA35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Enrollment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F449DDE4-BC67-6C8D-F62D-A0916D0EDDD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545BBFD5-1ABF-69CC-96A3-1A1936AC9179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4166A4B-D9F2-9206-1457-A1E309F97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108606"/>
              </p:ext>
            </p:extLst>
          </p:nvPr>
        </p:nvGraphicFramePr>
        <p:xfrm>
          <a:off x="501651" y="1490836"/>
          <a:ext cx="11163819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656281088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4945854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65365666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462436254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59838324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BCED5835-B2AF-263C-1A80-3C8AB59F1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101653"/>
              </p:ext>
            </p:extLst>
          </p:nvPr>
        </p:nvGraphicFramePr>
        <p:xfrm>
          <a:off x="501647" y="2916387"/>
          <a:ext cx="11163817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3383328722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705187464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{{ENRONSTC}}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{{ENROB}}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{{ENRONSTC}}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{{ENROB}}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424936E-24B6-9485-550E-0EE8FF958362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C1772053-EBD9-79FF-F0F2-1EAAD6375D08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4C57C884-EFD4-858F-5364-D2358DC4357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B5675901-A831-5015-A06B-3C31969F35A2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8DE6BA46-175B-9316-8124-F6DDE2B572AF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933E470F-746A-CC53-6817-CB5720AAC83A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C9130CF9-03AF-A5DE-D5C2-839A796B59EA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60514A09-3F19-7644-40B1-46558B48819B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22AFF10A-F3BA-C145-05B4-031858875B7C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EF495954-9023-464B-011A-A23D8751FD70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" name="TextBox 10">
            <a:extLst>
              <a:ext uri="{FF2B5EF4-FFF2-40B4-BE49-F238E27FC236}">
                <a16:creationId xmlns:a16="http://schemas.microsoft.com/office/drawing/2014/main" id="{5F584BFC-9B3C-E0F5-7B63-DC34D149E6F7}"/>
              </a:ext>
            </a:extLst>
          </p:cNvPr>
          <p:cNvSpPr txBox="1"/>
          <p:nvPr/>
        </p:nvSpPr>
        <p:spPr>
          <a:xfrm>
            <a:off x="501648" y="5178143"/>
            <a:ext cx="3891130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Enrollment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01A35-DCF0-2023-F2FF-C6791388F407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25C0F-EF18-1295-A114-9AAD64CE57BD}"/>
              </a:ext>
            </a:extLst>
          </p:cNvPr>
          <p:cNvSpPr txBox="1"/>
          <p:nvPr/>
        </p:nvSpPr>
        <p:spPr>
          <a:xfrm>
            <a:off x="501648" y="4674667"/>
            <a:ext cx="69659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58D0882-3254-620F-9493-A68E3708F23E}"/>
              </a:ext>
            </a:extLst>
          </p:cNvPr>
          <p:cNvSpPr txBox="1"/>
          <p:nvPr/>
        </p:nvSpPr>
        <p:spPr>
          <a:xfrm>
            <a:off x="501647" y="982262"/>
            <a:ext cx="11449411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{{AI_ENROLLMENT_STATUS}}</a:t>
            </a:r>
          </a:p>
        </p:txBody>
      </p:sp>
      <p:sp>
        <p:nvSpPr>
          <p:cNvPr id="14" name="Dot2">
            <a:extLst>
              <a:ext uri="{FF2B5EF4-FFF2-40B4-BE49-F238E27FC236}">
                <a16:creationId xmlns:a16="http://schemas.microsoft.com/office/drawing/2014/main" id="{AC6FC462-1D10-858D-0557-F92946F56FAB}"/>
              </a:ext>
            </a:extLst>
          </p:cNvPr>
          <p:cNvSpPr/>
          <p:nvPr/>
        </p:nvSpPr>
        <p:spPr>
          <a:xfrm>
            <a:off x="10831633" y="538869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92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4771-151B-081A-9B85-2F0261D4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B4B7E0-2E5B-1FDB-A265-19FDCA68A88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EDI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D5D988BE-F30D-7255-F745-B0CA49C3B4F5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{{Date}}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FC7AA5C5-5FE6-1E42-0C66-2E21EB7EF8E4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E24F1FE-5E35-ECCA-F64E-F2BC45E2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1486"/>
              </p:ext>
            </p:extLst>
          </p:nvPr>
        </p:nvGraphicFramePr>
        <p:xfrm>
          <a:off x="501651" y="1490836"/>
          <a:ext cx="11163819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066859929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017906410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536469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82149871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6132481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{{EDIEP}}%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{{EDIFP}}%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13DA4AA9-7308-ADC1-016A-B57315180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98199"/>
              </p:ext>
            </p:extLst>
          </p:nvPr>
        </p:nvGraphicFramePr>
        <p:xfrm>
          <a:off x="501648" y="2916387"/>
          <a:ext cx="11163826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24266214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{{EDITTC}}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{{EDIETC}}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{{EDIFTC}}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{{EDIIPTC}}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{{EDINSTC}}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{{EDIB}}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{{EDITTC}}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{{EDIETC}}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{{EDIFTC}}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{{EDIIPTC}}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{{EDIBTC}}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{{EDINSTC}}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{{EDIB}}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A7FDDEF-DC45-BFF3-A9F3-76297216B631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6DC893-5DE3-2E94-8CB5-C1B89D788038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8FD67AAE-FDDD-9D28-DA90-E7412F17A762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DCF5507-1574-5760-CEE0-E683DFB82F5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418D569B-5F61-2C55-25D6-5A7878C53FD0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D48D5FC-C778-128D-2EC9-30BB075C9E30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8C8176A6-7976-2BA6-0256-2A9E0D469F7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0366259E-11AE-6A45-5A54-1C9958F58DBF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D322DE72-97CD-2BE2-6870-D0C107BC77A7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65AFCE8E-65ED-E03C-8549-FA6CF1B2A85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D09FDA01-FC88-7BF3-4513-B24FF4B3F3E4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E8E1266-0B69-7EC7-1BF0-F38241F01A00}"/>
              </a:ext>
            </a:extLst>
          </p:cNvPr>
          <p:cNvSpPr txBox="1"/>
          <p:nvPr/>
        </p:nvSpPr>
        <p:spPr>
          <a:xfrm>
            <a:off x="501648" y="4674667"/>
            <a:ext cx="6741834" cy="5693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01301D2-1CA4-1DB8-1E32-B898DE3D8286}"/>
              </a:ext>
            </a:extLst>
          </p:cNvPr>
          <p:cNvSpPr txBox="1"/>
          <p:nvPr/>
        </p:nvSpPr>
        <p:spPr>
          <a:xfrm>
            <a:off x="516162" y="982262"/>
            <a:ext cx="11101069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{{AI_EDI_STATUS}}</a:t>
            </a:r>
            <a:endParaRPr lang="en-US" sz="9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039AB3-2265-47ED-E1B2-F87473DAA5B6}"/>
              </a:ext>
            </a:extLst>
          </p:cNvPr>
          <p:cNvSpPr txBox="1"/>
          <p:nvPr/>
        </p:nvSpPr>
        <p:spPr>
          <a:xfrm>
            <a:off x="501648" y="5178143"/>
            <a:ext cx="3410934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EDI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4"/>
            </a:endParaRP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FC64DE6A-0248-2863-2364-6E35CB0EA72B}"/>
              </a:ext>
            </a:extLst>
          </p:cNvPr>
          <p:cNvSpPr/>
          <p:nvPr/>
        </p:nvSpPr>
        <p:spPr>
          <a:xfrm>
            <a:off x="10831633" y="538869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2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BE94-B8E2-51AF-2511-9F0CC86E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DB64E7-162E-0F5B-9E60-CCCF933D3EC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Enrollment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43B77641-B9A4-FF9B-1089-33EDDA27F05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BB09E675-6F6C-94A6-877E-245EE23D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77359"/>
              </p:ext>
            </p:extLst>
          </p:nvPr>
        </p:nvGraphicFramePr>
        <p:xfrm>
          <a:off x="501650" y="1490836"/>
          <a:ext cx="5406762" cy="8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aphicFrame>
        <p:nvGraphicFramePr>
          <p:cNvPr id="9000" name="SeverityTable"/>
          <p:cNvGraphicFramePr>
            <a:graphicFrameLocks noGrp="1"/>
          </p:cNvGraphicFramePr>
          <p:nvPr/>
        </p:nvGraphicFramePr>
        <p:xfrm>
          <a:off x="501650" y="2500836"/>
          <a:ext cx="5406762" cy="156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Testing Defect Summary by Severity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Critical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{{ENROSEVCRITTOTAL}}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{{ENROSEVCRITOPEN}}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{{ENROSEVCRITCLOSED}}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{{ENROSEVCRITRESOLVED}}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{{ENROSEVHIGHTOTAL}}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{{ENROSEVHIGHOPEN}}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{{ENROSEVHIGHCLOSED}}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{{ENROSEVHIGHRESOLVED}}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{{ENROSEVMEDTOTAL}}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{{ENROSEVMEDOPEN}}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{{ENROSEVMEDCLOSED}}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{{ENROSEVMEDRESOLVED}}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{{ENROSEVLOWTOTAL}}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{{ENROSEVLOWOPEN}}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{{ENROSEVLOWCLOSED}}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{{ENROSEVLOWRESOLVED}}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{{ENRODEFRESOLVEDTOTAL}}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0E77E65D-2938-7D33-7E7A-BF43D5E0DC8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D9230A7B-BC38-B2FF-D2AB-CA6DC45BCEE5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03C244D-3943-90BC-E1FD-ECC641DC68E0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05F4765E-EF33-E121-E16B-CFE1006FC72F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11AC445D-A448-A86F-1A52-9BD1FAF9D06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1E6FFD12-44E9-F623-44B4-B5545D03CDBF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4FA4C29A-59D9-BB32-BC13-D8DA16982AFB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34F94A80-85E9-EF89-D739-CA80FD715586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95D7A5AD-9F52-3519-BA87-D8F3DB6ADA6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6AC06057-B5F5-BAAD-4352-E90983D1FB86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92A6CAA0-FDE3-2FD0-09F9-92D52E882E3C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600339-6144-3556-FD70-AAF6E472D810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{{AI_ENROLLMENT_DEFECT_STATUS}}</a:t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1260D4F1-FCD9-8BA1-42E0-D923A624AFEF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B8652786-6E36-3217-9FF0-D7BB0C7DEF8D}"/>
              </a:ext>
            </a:extLst>
          </p:cNvPr>
          <p:cNvSpPr txBox="1"/>
          <p:nvPr/>
        </p:nvSpPr>
        <p:spPr>
          <a:xfrm>
            <a:off x="501650" y="4185836"/>
            <a:ext cx="540676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{{AI_ENROLLMENT_DEFECT_INSIGHTS}}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8989A7C4-2A1E-CB24-608F-2D57939B1AB4}"/>
              </a:ext>
            </a:extLst>
          </p:cNvPr>
          <p:cNvSpPr txBox="1"/>
          <p:nvPr/>
        </p:nvSpPr>
        <p:spPr>
          <a:xfrm>
            <a:off x="6487008" y="400312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Enrollment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{{AI_ENROLLMENT_BURNDOWN_INSIGHTS}}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F0C2-4E4C-A305-D2D8-F87CB9E3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03" y="1361963"/>
            <a:ext cx="4928616" cy="26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3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BE94-B8E2-51AF-2511-9F0CC86E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DB64E7-162E-0F5B-9E60-CCCF933D3EC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43B77641-B9A4-FF9B-1089-33EDDA27F05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{{Date}}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BB09E675-6F6C-94A6-877E-245EE23D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77359"/>
              </p:ext>
            </p:extLst>
          </p:nvPr>
        </p:nvGraphicFramePr>
        <p:xfrm>
          <a:off x="501650" y="1490836"/>
          <a:ext cx="5406762" cy="8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aphicFrame>
        <p:nvGraphicFramePr>
          <p:cNvPr id="9000" name="SeverityTable"/>
          <p:cNvGraphicFramePr>
            <a:graphicFrameLocks noGrp="1"/>
          </p:cNvGraphicFramePr>
          <p:nvPr/>
        </p:nvGraphicFramePr>
        <p:xfrm>
          <a:off x="501650" y="2500836"/>
          <a:ext cx="5406762" cy="156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1500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Testing Defect Summary by Severity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Critical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{{EDISEVCRITTOTAL}}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{{EDISEVCRITOPEN}}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{{EDISEVCRITCLOSED}}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{{EDISEVCRITRESOLVED}}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{{EDISEVHIGHTOTAL}}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{{EDISEVHIGHOPEN}}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{{EDISEVHIGHCLOSED}}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{{EDISEVHIGHRESOLVED}}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{{EDISEVMEDTOTAL}}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{{EDISEVMEDOPEN}}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{{EDISEVMEDCLOSED}}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{{EDISEVMEDRESOLVED}}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{{EDISEVLOWTOTAL}}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{{EDISEVLOWOPEN}}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{{EDISEVLOWCLOSED}}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{{EDISEVLOWRESOLVED}}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2500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{{EDIB}}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{{EDIDEFCLOSEDTOTAL}}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{{EDIDEFRESOLVEDTOTAL}}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0E77E65D-2938-7D33-7E7A-BF43D5E0DC8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D9230A7B-BC38-B2FF-D2AB-CA6DC45BCEE5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03C244D-3943-90BC-E1FD-ECC641DC68E0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05F4765E-EF33-E121-E16B-CFE1006FC72F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11AC445D-A448-A86F-1A52-9BD1FAF9D06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1E6FFD12-44E9-F623-44B4-B5545D03CDBF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4FA4C29A-59D9-BB32-BC13-D8DA16982AFB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34F94A80-85E9-EF89-D739-CA80FD715586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95D7A5AD-9F52-3519-BA87-D8F3DB6ADA6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6AC06057-B5F5-BAAD-4352-E90983D1FB86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92A6CAA0-FDE3-2FD0-09F9-92D52E882E3C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600339-6144-3556-FD70-AAF6E472D810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{{AI_EDI_DEFECT_STATUS}}</a:t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r>
              <a:rPr lang="en-US" sz="900" b="1" dirty="0">
                <a:solidFill>
                  <a:srgbClr val="313131"/>
                </a:solidFill>
              </a:rPr>
              <a:t/>
            </a:r>
            <a:r>
              <a:rPr lang="en-US" sz="900" dirty="0">
                <a:solidFill>
                  <a:srgbClr val="313131"/>
                </a:solidFill>
              </a:rPr>
              <a:t/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1260D4F1-FCD9-8BA1-42E0-D923A624AFEF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B8652786-6E36-3217-9FF0-D7BB0C7DEF8D}"/>
              </a:ext>
            </a:extLst>
          </p:cNvPr>
          <p:cNvSpPr txBox="1"/>
          <p:nvPr/>
        </p:nvSpPr>
        <p:spPr>
          <a:xfrm>
            <a:off x="501650" y="4185836"/>
            <a:ext cx="540676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{{AI_EDI_DEFECT_INSIGHTS}}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  <a:r>
              <a:rPr lang="en-US" sz="1000" b="1" dirty="0">
                <a:solidFill>
                  <a:srgbClr val="333333"/>
                </a:solidFill>
              </a:rPr>
              <a:t/>
            </a: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8989A7C4-2A1E-CB24-608F-2D57939B1AB4}"/>
              </a:ext>
            </a:extLst>
          </p:cNvPr>
          <p:cNvSpPr txBox="1"/>
          <p:nvPr/>
        </p:nvSpPr>
        <p:spPr>
          <a:xfrm>
            <a:off x="6487008" y="400312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EDI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{{AI_EDI_BURNDOWN_INSIGHTS}}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/>
            </a:r>
            <a:r>
              <a:rPr lang="en-US" sz="1000" b="1" dirty="0"/>
              <a:t/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b="1" dirty="0"/>
              <a:t/>
            </a:r>
            <a:r>
              <a:rPr lang="en-US" sz="1000" dirty="0"/>
              <a:t/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F0C2-4E4C-A305-D2D8-F87CB9E3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03" y="1361963"/>
            <a:ext cx="4928616" cy="26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37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heme/theme1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2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3B32110-3B49-40E7-8C15-5E4A22FF8A7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2d04b2e9-88f0-4ee7-b1e2-4de363e485c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3C35E85-8C58-304C-A673-847FAA008EB9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de739b16-9ef6-4e25-bd4a-ee9215286bc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00a5c1-c4a1-4c74-8d91-dfc8831b4c07">
      <Terms xmlns="http://schemas.microsoft.com/office/infopath/2007/PartnerControls"/>
    </lcf76f155ced4ddcb4097134ff3c332f>
    <TaxCatchAll xmlns="5e2fc1fe-2483-4566-8a07-8cb0f24750cf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9E60AADF42347A22A5B258ECE583A" ma:contentTypeVersion="14" ma:contentTypeDescription="Create a new document." ma:contentTypeScope="" ma:versionID="69c3fb5ff2cd96113169b748a0d88327">
  <xsd:schema xmlns:xsd="http://www.w3.org/2001/XMLSchema" xmlns:xs="http://www.w3.org/2001/XMLSchema" xmlns:p="http://schemas.microsoft.com/office/2006/metadata/properties" xmlns:ns2="3700a5c1-c4a1-4c74-8d91-dfc8831b4c07" xmlns:ns3="5e2fc1fe-2483-4566-8a07-8cb0f24750cf" targetNamespace="http://schemas.microsoft.com/office/2006/metadata/properties" ma:root="true" ma:fieldsID="b2bdbd42fc06d7a21b12a9a8a90d0870" ns2:_="" ns3:_="">
    <xsd:import namespace="3700a5c1-c4a1-4c74-8d91-dfc8831b4c07"/>
    <xsd:import namespace="5e2fc1fe-2483-4566-8a07-8cb0f24750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lcf76f155ced4ddcb4097134ff3c332f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0a5c1-c4a1-4c74-8d91-dfc8831b4c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fc1fe-2483-4566-8a07-8cb0f24750c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88ed6f-90e6-412c-a71e-ac9f33a44bf0}" ma:internalName="TaxCatchAll" ma:showField="CatchAllData" ma:web="5e2fc1fe-2483-4566-8a07-8cb0f24750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7376A1-CC42-438F-85FD-93A015D166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A026D-4666-483B-9EA4-E4BAFDF32B68}">
  <ds:schemaRefs>
    <ds:schemaRef ds:uri="5e2fc1fe-2483-4566-8a07-8cb0f24750cf"/>
    <ds:schemaRef ds:uri="http://purl.org/dc/dcmitype/"/>
    <ds:schemaRef ds:uri="http://schemas.openxmlformats.org/package/2006/metadata/core-properties"/>
    <ds:schemaRef ds:uri="3700a5c1-c4a1-4c74-8d91-dfc8831b4c07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32684CF-211A-4A9D-ADCE-B07A85478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00a5c1-c4a1-4c74-8d91-dfc8831b4c07"/>
    <ds:schemaRef ds:uri="5e2fc1fe-2483-4566-8a07-8cb0f24750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2200</Words>
  <Application>Microsoft Macintosh PowerPoint</Application>
  <PresentationFormat>Widescreen</PresentationFormat>
  <Paragraphs>623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Verdana</vt:lpstr>
      <vt:lpstr>Wingdings 2</vt:lpstr>
      <vt:lpstr>1_Deloitte_Brand_16_9</vt:lpstr>
      <vt:lpstr>1_Deloitte_Brand_16_9</vt:lpstr>
      <vt:lpstr>think-cell Slide</vt:lpstr>
      <vt:lpstr>MMO Test Execution &amp; Defect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Khadri, Habib</dc:creator>
  <cp:lastModifiedBy>Gandhi, Samir</cp:lastModifiedBy>
  <cp:revision>11</cp:revision>
  <dcterms:created xsi:type="dcterms:W3CDTF">2026-03-30T19:40:35Z</dcterms:created>
  <dcterms:modified xsi:type="dcterms:W3CDTF">2026-09-29T12:43:08Z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0x010100CA69E60AADF42347A22A5B258ECE583A</vt:lpwstr>
  </property>
  <property fmtid="{D5CDD505-2E9C-101B-9397-08002B2CF9AE}" pid="3" name="MediaServiceImageTags">
    <vt:lpwstr/>
  </property>
</Properties>
</file>