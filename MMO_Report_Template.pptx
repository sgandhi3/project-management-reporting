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9" r:id="rId4"/>
    <p:sldMasterId id="2147483757" r:id="rId5"/>
  </p:sldMasterIdLst>
  <p:notesMasterIdLst>
    <p:notesMasterId r:id="rId14"/>
  </p:notesMasterIdLst>
  <p:sldIdLst>
    <p:sldId id="2147483588" r:id="rId6"/>
    <p:sldId id="2147483620" r:id="rId7"/>
    <p:sldId id="2147483702" r:id="rId23"/>
    <p:sldId id="2147483614" r:id="rId8"/>
    <p:sldId id="2147483622" r:id="rId9"/>
    <p:sldId id="2147483621" r:id="rId10"/>
    <p:sldId id="2147483623" r:id="rId11"/>
    <p:sldId id="2147483608" r:id="rId12"/>
    <p:sldId id="2147483700" r:id="rId21"/>
    <p:sldId id="2147483609" r:id="rId13"/>
    <p:sldId id="214748370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50C2B47-29F0-5145-A610-1B393F7C5C22}">
          <p14:sldIdLst>
            <p14:sldId id="2147483588"/>
            <p14:sldId id="2147483620"/>
          </p14:sldIdLst>
        </p14:section>
        <p14:section name="Work Stream Report" id="{7F7058A9-543B-4063-913C-9EBD99D479DF}">
          <p14:sldIdLst>
            <p14:sldId id="2147483614"/>
            <p14:sldId id="2147483622"/>
            <p14:sldId id="2147483621"/>
            <p14:sldId id="2147483623"/>
            <p14:sldId id="2147483608"/>
            <p14:sldId id="2147483700"/>
            <p14:sldId id="2147483609"/>
            <p14:sldId id="214748370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92DB77-016D-2894-7618-15E9AB52A849}" name="Sharma, Utkarsh" initials="US" userId="S::utkasharma@deloitte.com::0b75815b-62e9-4a90-8530-df5f1a468d5b" providerId="AD"/>
  <p188:author id="{394961A2-CD47-D227-8F1E-7B111DEE8F7B}" name="Khadri, Habib" initials="HK" userId="S::hkhadri@deloitte.com::fb9fabdf-5b74-4106-9d79-d7bad83cee2b" providerId="AD"/>
  <p188:author id="{542719E4-734E-9509-4F5E-E8B595E54DC2}" name="Curtis, Rhonda" initials="" userId="S::rhcurtis@deloitte.com::490ac867-96aa-4c70-800f-015ffadabd6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C50F"/>
    <a:srgbClr val="EDF5E8"/>
    <a:srgbClr val="E7EFE3"/>
    <a:srgbClr val="2ECC71"/>
    <a:srgbClr val="E8E9ED"/>
    <a:srgbClr val="E67E22"/>
    <a:srgbClr val="9A564F"/>
    <a:srgbClr val="2C9B9A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E393D8-7A53-4C9B-9909-442E2ED55D50}" v="1226" dt="2026-09-21T22:23:15.717"/>
    <p1510:client id="{86520559-9C2C-B64B-B429-9977961AE228}" v="187" dt="2026-09-21T22:07:42.560"/>
    <p1510:client id="{D4CCB43C-DAFA-65BB-6425-86B9D91E3F7A}" v="210" vWet="211" dt="2026-09-21T21:09:58.3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5"/>
  </p:normalViewPr>
  <p:slideViewPr>
    <p:cSldViewPr snapToGrid="0">
      <p:cViewPr varScale="1">
        <p:scale>
          <a:sx n="119" d="100"/>
          <a:sy n="119" d="100"/>
        </p:scale>
        <p:origin x="8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notesMaster" Target="notesMasters/notesMaster1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ACC89-694D-6647-91BA-F3E287B706AB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93E35-2244-C342-BE62-0B069E5D8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4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5F1FBDF-07B1-4D9C-9CED-52EAE94FBB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16657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56821-AA4F-1632-A121-1B2282F3D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413123-D703-BB38-B549-70F641DBCD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373765-B20C-A64A-6819-F89FD11FF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Total &gt; Executed &gt; In Progress&gt; Pass &gt; Fail &gt; Defect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D6922-2533-238B-2C6C-0881AEEA7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93E35-2244-C342-BE62-0B069E5D84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174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F701D-881A-6713-C0AF-E97B8E09E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4623C2-61B9-9C51-6DFE-16194B4B6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62BB77-2BA5-585E-B515-654E948DC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AEA809-9D70-E1F3-EB22-0E18A40E95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17124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A5E5-05FD-661E-7484-665E986FB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4C3D26-BF68-EC22-3B7A-E6BAE39B7E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299177-8E04-D839-1521-6AE0ED047E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2C8CF-16E9-3B06-9848-BDB39FA391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4815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BC035-7C5D-031D-1AAB-03BC50FBE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275086-7CEC-B170-7108-462612279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A6064E-22E4-4A4B-41AB-BD5F8557D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C65F1-60D1-BC0A-819B-66E9B2950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09678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5D3D9-6466-2F55-F196-D6B6CE16B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D0BAC9-1680-BC8E-E919-068170F78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5C91D-D13B-C4E4-424F-A01ED57FC4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704C4F-3D4D-7E9D-5C2C-B6BE11EA39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4080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.xml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E9ED29CA-6A60-490D-9D54-EA7CC7AF832C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119E2360-A688-44DF-A6BB-76D18177CC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accent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265C3C7-34A9-47F1-AB5F-2771E187891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A9400861-EDC5-4A80-9569-C20320CE00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64DC9296-DBBC-4C4E-ACB4-7DA2607D52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3E26591B-8E9F-4856-8284-BF3F8DB6AB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43F42271-5510-4D15-B07B-133237928B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00E9FD99-54D9-422B-9717-D0DD3442A0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BAF30821-90D3-436A-8DDF-D130E66447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5C1A565D-B22B-4EE2-ACC9-C993D581F00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666738FD-9737-43F5-8E36-896FD725FE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sp>
        <p:nvSpPr>
          <p:cNvPr id="41" name="Picture Placeholder 8">
            <a:extLst>
              <a:ext uri="{FF2B5EF4-FFF2-40B4-BE49-F238E27FC236}">
                <a16:creationId xmlns:a16="http://schemas.microsoft.com/office/drawing/2014/main" id="{AC175F74-77C8-4969-BBF5-920619ED76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93716" y="727595"/>
            <a:ext cx="5400000" cy="5400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381750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0250D39-3CD2-434D-B748-17EED0F3A2F1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29F2EAE-0B0B-4311-B8C7-B92308FDB4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DD66D6FD-671C-4971-84E7-3F95D681AA9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A0D0BAEB-42C5-4909-8FAE-D062C5097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A442559A-2DAB-4A59-908E-A9F30033549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1" name="Rectangle 9">
              <a:extLst>
                <a:ext uri="{FF2B5EF4-FFF2-40B4-BE49-F238E27FC236}">
                  <a16:creationId xmlns:a16="http://schemas.microsoft.com/office/drawing/2014/main" id="{3319EAFB-82E3-4AA5-8E76-BCBFD48519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Rectangle 10">
              <a:extLst>
                <a:ext uri="{FF2B5EF4-FFF2-40B4-BE49-F238E27FC236}">
                  <a16:creationId xmlns:a16="http://schemas.microsoft.com/office/drawing/2014/main" id="{1B86A800-7B43-42DC-8F55-2BE218DAA8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Freeform 11">
              <a:extLst>
                <a:ext uri="{FF2B5EF4-FFF2-40B4-BE49-F238E27FC236}">
                  <a16:creationId xmlns:a16="http://schemas.microsoft.com/office/drawing/2014/main" id="{74D7DE78-318C-43DC-8425-6815074FDF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12">
              <a:extLst>
                <a:ext uri="{FF2B5EF4-FFF2-40B4-BE49-F238E27FC236}">
                  <a16:creationId xmlns:a16="http://schemas.microsoft.com/office/drawing/2014/main" id="{8B9FF502-04DE-4886-8EC5-F59E2DDA76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Freeform 13">
              <a:extLst>
                <a:ext uri="{FF2B5EF4-FFF2-40B4-BE49-F238E27FC236}">
                  <a16:creationId xmlns:a16="http://schemas.microsoft.com/office/drawing/2014/main" id="{AFD2C9A9-58B2-40D7-900D-9935E569C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Freeform 14">
              <a:extLst>
                <a:ext uri="{FF2B5EF4-FFF2-40B4-BE49-F238E27FC236}">
                  <a16:creationId xmlns:a16="http://schemas.microsoft.com/office/drawing/2014/main" id="{FBFCAACE-51E1-460B-B814-DB6E1935A9A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5D988E-AB9B-4338-8B0B-A9D2FBBD359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8" name="Oval 5">
              <a:extLst>
                <a:ext uri="{FF2B5EF4-FFF2-40B4-BE49-F238E27FC236}">
                  <a16:creationId xmlns:a16="http://schemas.microsoft.com/office/drawing/2014/main" id="{900D145D-F249-4360-A851-84590354DE0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6">
              <a:extLst>
                <a:ext uri="{FF2B5EF4-FFF2-40B4-BE49-F238E27FC236}">
                  <a16:creationId xmlns:a16="http://schemas.microsoft.com/office/drawing/2014/main" id="{DA91093B-1D7D-4E9C-80DD-053FD0C9282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7">
              <a:extLst>
                <a:ext uri="{FF2B5EF4-FFF2-40B4-BE49-F238E27FC236}">
                  <a16:creationId xmlns:a16="http://schemas.microsoft.com/office/drawing/2014/main" id="{D75F7421-C68D-4202-A0E2-B866717DDEF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8">
              <a:extLst>
                <a:ext uri="{FF2B5EF4-FFF2-40B4-BE49-F238E27FC236}">
                  <a16:creationId xmlns:a16="http://schemas.microsoft.com/office/drawing/2014/main" id="{6DE98E27-9E3D-4174-9895-EE41667C63A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Rectangle 9">
              <a:extLst>
                <a:ext uri="{FF2B5EF4-FFF2-40B4-BE49-F238E27FC236}">
                  <a16:creationId xmlns:a16="http://schemas.microsoft.com/office/drawing/2014/main" id="{A400316F-9B75-46A7-B1DF-72DD3623FD16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Rectangle 10">
              <a:extLst>
                <a:ext uri="{FF2B5EF4-FFF2-40B4-BE49-F238E27FC236}">
                  <a16:creationId xmlns:a16="http://schemas.microsoft.com/office/drawing/2014/main" id="{80392710-6741-4A2A-B74E-E7E47B6F6C9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1">
              <a:extLst>
                <a:ext uri="{FF2B5EF4-FFF2-40B4-BE49-F238E27FC236}">
                  <a16:creationId xmlns:a16="http://schemas.microsoft.com/office/drawing/2014/main" id="{7E5628F7-91B4-40CC-93AA-15FE7FE83E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9" name="Freeform 12">
              <a:extLst>
                <a:ext uri="{FF2B5EF4-FFF2-40B4-BE49-F238E27FC236}">
                  <a16:creationId xmlns:a16="http://schemas.microsoft.com/office/drawing/2014/main" id="{705DD4AC-A5BB-439E-AD61-E7E5A2A004D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0" name="Freeform 13">
              <a:extLst>
                <a:ext uri="{FF2B5EF4-FFF2-40B4-BE49-F238E27FC236}">
                  <a16:creationId xmlns:a16="http://schemas.microsoft.com/office/drawing/2014/main" id="{B332C818-B977-4B0B-BF7A-3565E9B5BE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1" name="Freeform 14">
              <a:extLst>
                <a:ext uri="{FF2B5EF4-FFF2-40B4-BE49-F238E27FC236}">
                  <a16:creationId xmlns:a16="http://schemas.microsoft.com/office/drawing/2014/main" id="{01AFB913-ABEF-4721-A184-6CE57CC2AA4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8810673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chemeClr val="bg1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8228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471654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. Title Only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D6E5346-2FAE-41B8-872E-F4C0489B672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D6E5346-2FAE-41B8-872E-F4C0489B67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36D88CB5-8A32-4E28-88D8-2EB8AFCF3E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300" y="622800"/>
            <a:ext cx="11201400" cy="33239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E765D5-02D2-4800-869F-1667101F09CF}"/>
              </a:ext>
            </a:extLst>
          </p:cNvPr>
          <p:cNvSpPr txBox="1"/>
          <p:nvPr userDrawn="1"/>
        </p:nvSpPr>
        <p:spPr>
          <a:xfrm>
            <a:off x="495300" y="6400800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750" kern="1200" smtClean="0">
                <a:solidFill>
                  <a:schemeClr val="bg2">
                    <a:lumMod val="9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 kern="1200">
              <a:solidFill>
                <a:schemeClr val="bg2">
                  <a:lumMod val="9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332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emf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ags" Target="../tags/tag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53.xml"/><Relationship Id="rId26" Type="http://schemas.openxmlformats.org/officeDocument/2006/relationships/slideLayout" Target="../slideLayouts/slideLayout61.xml"/><Relationship Id="rId21" Type="http://schemas.openxmlformats.org/officeDocument/2006/relationships/slideLayout" Target="../slideLayouts/slideLayout56.xml"/><Relationship Id="rId34" Type="http://schemas.openxmlformats.org/officeDocument/2006/relationships/slideLayout" Target="../slideLayouts/slideLayout69.xml"/><Relationship Id="rId7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52.xml"/><Relationship Id="rId25" Type="http://schemas.openxmlformats.org/officeDocument/2006/relationships/slideLayout" Target="../slideLayouts/slideLayout60.xml"/><Relationship Id="rId33" Type="http://schemas.openxmlformats.org/officeDocument/2006/relationships/slideLayout" Target="../slideLayouts/slideLayout68.xml"/><Relationship Id="rId38" Type="http://schemas.openxmlformats.org/officeDocument/2006/relationships/image" Target="../media/image1.emf"/><Relationship Id="rId2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51.xml"/><Relationship Id="rId20" Type="http://schemas.openxmlformats.org/officeDocument/2006/relationships/slideLayout" Target="../slideLayouts/slideLayout55.xml"/><Relationship Id="rId29" Type="http://schemas.openxmlformats.org/officeDocument/2006/relationships/slideLayout" Target="../slideLayouts/slideLayout64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24" Type="http://schemas.openxmlformats.org/officeDocument/2006/relationships/slideLayout" Target="../slideLayouts/slideLayout59.xml"/><Relationship Id="rId32" Type="http://schemas.openxmlformats.org/officeDocument/2006/relationships/slideLayout" Target="../slideLayouts/slideLayout67.xml"/><Relationship Id="rId37" Type="http://schemas.openxmlformats.org/officeDocument/2006/relationships/oleObject" Target="../embeddings/oleObject1.bin"/><Relationship Id="rId5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50.xml"/><Relationship Id="rId23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3.xml"/><Relationship Id="rId36" Type="http://schemas.openxmlformats.org/officeDocument/2006/relationships/tags" Target="../tags/tag4.xml"/><Relationship Id="rId10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54.xml"/><Relationship Id="rId31" Type="http://schemas.openxmlformats.org/officeDocument/2006/relationships/slideLayout" Target="../slideLayouts/slideLayout66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7.xml"/><Relationship Id="rId27" Type="http://schemas.openxmlformats.org/officeDocument/2006/relationships/slideLayout" Target="../slideLayouts/slideLayout62.xml"/><Relationship Id="rId30" Type="http://schemas.openxmlformats.org/officeDocument/2006/relationships/slideLayout" Target="../slideLayouts/slideLayout65.xml"/><Relationship Id="rId35" Type="http://schemas.openxmlformats.org/officeDocument/2006/relationships/theme" Target="../theme/theme2.xml"/><Relationship Id="rId8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7"/>
            </p:custDataLst>
            <p:extLst>
              <p:ext uri="{D42A27DB-BD31-4B8C-83A1-F6EECF244321}">
                <p14:modId xmlns:p14="http://schemas.microsoft.com/office/powerpoint/2010/main" val="4184034811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8" imgW="270" imgH="270" progId="TCLayout.ActiveDocument.1">
                  <p:embed/>
                </p:oleObj>
              </mc:Choice>
              <mc:Fallback>
                <p:oleObj name="think-cell Slide" r:id="rId38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  <p:sldLayoutId id="2147483737" r:id="rId17"/>
    <p:sldLayoutId id="2147483738" r:id="rId18"/>
    <p:sldLayoutId id="2147483739" r:id="rId19"/>
    <p:sldLayoutId id="2147483740" r:id="rId20"/>
    <p:sldLayoutId id="2147483741" r:id="rId21"/>
    <p:sldLayoutId id="2147483742" r:id="rId22"/>
    <p:sldLayoutId id="2147483743" r:id="rId23"/>
    <p:sldLayoutId id="2147483744" r:id="rId24"/>
    <p:sldLayoutId id="2147483745" r:id="rId25"/>
    <p:sldLayoutId id="2147483746" r:id="rId26"/>
    <p:sldLayoutId id="2147483747" r:id="rId27"/>
    <p:sldLayoutId id="2147483748" r:id="rId28"/>
    <p:sldLayoutId id="2147483749" r:id="rId29"/>
    <p:sldLayoutId id="2147483750" r:id="rId30"/>
    <p:sldLayoutId id="2147483751" r:id="rId31"/>
    <p:sldLayoutId id="2147483752" r:id="rId32"/>
    <p:sldLayoutId id="2147483753" r:id="rId33"/>
    <p:sldLayoutId id="2147483754" r:id="rId34"/>
    <p:sldLayoutId id="2147483755" r:id="rId3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4020">
          <p15:clr>
            <a:srgbClr val="F26B43"/>
          </p15:clr>
        </p15:guide>
        <p15:guide id="7" orient="horz" pos="200">
          <p15:clr>
            <a:srgbClr val="F26B43"/>
          </p15:clr>
        </p15:guide>
        <p15:guide id="8" orient="horz" pos="4080">
          <p15:clr>
            <a:srgbClr val="F26B43"/>
          </p15:clr>
        </p15:guide>
        <p15:guide id="22" orient="horz" pos="640">
          <p15:clr>
            <a:srgbClr val="F26B43"/>
          </p15:clr>
        </p15:guide>
        <p15:guide id="65" orient="horz" pos="2160">
          <p15:clr>
            <a:srgbClr val="F26B43"/>
          </p15:clr>
        </p15:guide>
        <p15:guide id="66" orient="horz" pos="3968">
          <p15:clr>
            <a:srgbClr val="F26B43"/>
          </p15:clr>
        </p15:guide>
        <p15:guide id="67" pos="312">
          <p15:clr>
            <a:srgbClr val="F26B43"/>
          </p15:clr>
        </p15:guide>
        <p15:guide id="68" pos="7368">
          <p15:clr>
            <a:srgbClr val="F26B43"/>
          </p15:clr>
        </p15:guide>
        <p15:guide id="70" orient="horz" pos="4081">
          <p15:clr>
            <a:srgbClr val="F26B43"/>
          </p15:clr>
        </p15:guide>
        <p15:guide id="77" pos="3783">
          <p15:clr>
            <a:srgbClr val="F26B43"/>
          </p15:clr>
        </p15:guide>
        <p15:guide id="78" pos="3896">
          <p15:clr>
            <a:srgbClr val="F26B43"/>
          </p15:clr>
        </p15:guide>
        <p15:guide id="79" pos="3840">
          <p15:clr>
            <a:srgbClr val="F26B43"/>
          </p15:clr>
        </p15:guide>
        <p15:guide id="81" orient="horz" pos="1049">
          <p15:clr>
            <a:srgbClr val="F26B43"/>
          </p15:clr>
        </p15:guide>
        <p15:guide id="82" orient="horz" pos="641">
          <p15:clr>
            <a:srgbClr val="F26B43"/>
          </p15:clr>
        </p15:guide>
        <p15:guide id="83" orient="horz" pos="39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6"/>
            </p:custData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270" imgH="270" progId="TCLayout.ActiveDocument.1">
                  <p:embed/>
                </p:oleObj>
              </mc:Choice>
              <mc:Fallback>
                <p:oleObj name="think-cell Slide" r:id="rId37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  <p:sldLayoutId id="2147483773" r:id="rId14"/>
    <p:sldLayoutId id="2147483774" r:id="rId15"/>
    <p:sldLayoutId id="2147483775" r:id="rId16"/>
    <p:sldLayoutId id="2147483776" r:id="rId17"/>
    <p:sldLayoutId id="2147483777" r:id="rId18"/>
    <p:sldLayoutId id="2147483778" r:id="rId19"/>
    <p:sldLayoutId id="2147483779" r:id="rId20"/>
    <p:sldLayoutId id="2147483780" r:id="rId21"/>
    <p:sldLayoutId id="2147483781" r:id="rId22"/>
    <p:sldLayoutId id="2147483782" r:id="rId23"/>
    <p:sldLayoutId id="2147483783" r:id="rId24"/>
    <p:sldLayoutId id="2147483784" r:id="rId25"/>
    <p:sldLayoutId id="2147483785" r:id="rId26"/>
    <p:sldLayoutId id="2147483786" r:id="rId27"/>
    <p:sldLayoutId id="2147483787" r:id="rId28"/>
    <p:sldLayoutId id="2147483788" r:id="rId29"/>
    <p:sldLayoutId id="2147483789" r:id="rId30"/>
    <p:sldLayoutId id="2147483790" r:id="rId31"/>
    <p:sldLayoutId id="2147483791" r:id="rId32"/>
    <p:sldLayoutId id="2147483792" r:id="rId33"/>
    <p:sldLayoutId id="2147483793" r:id="rId34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b928880-8a55-4bc3-974b-6773ba0778d4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5cbc0be2-c0c0-4e56-a45f-61ecdb73f5e3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267bae2-9fad-44f1-b82a-5d1e7518f043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6.xml"/><Relationship Id="rId4" Type="http://schemas.openxmlformats.org/officeDocument/2006/relationships/hyperlink" Target="https://dev.azure.com/medmutual/HRP/_queries/query/?tempQueryId=5cbc0be2-c0c0-4e56-a45f-61ecdb73f5e3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Relationship Id="rId3" Type="http://schemas.openxmlformats.org/officeDocument/2006/relationships/image" Target="../media/imageEnrollmentDefect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Relationship Id="rId3" Type="http://schemas.openxmlformats.org/officeDocument/2006/relationships/image" Target="../media/imageEDIDefect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2745B-8D83-C40B-3E9E-4C016ED9E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5300" y="2935976"/>
            <a:ext cx="11201400" cy="923330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/>
              <a:t>MMO Test Execution &amp; Defect Report</a:t>
            </a:r>
            <a:endParaRPr lang="en-US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5376F38-9832-1E0D-1CF1-540781298B51}"/>
              </a:ext>
            </a:extLst>
          </p:cNvPr>
          <p:cNvSpPr txBox="1">
            <a:spLocks/>
          </p:cNvSpPr>
          <p:nvPr/>
        </p:nvSpPr>
        <p:spPr bwMode="gray">
          <a:xfrm>
            <a:off x="495300" y="3782643"/>
            <a:ext cx="11201400" cy="92333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3600"/>
              </a:lnSpc>
              <a:spcBef>
                <a:spcPct val="0"/>
              </a:spcBef>
              <a:buNone/>
              <a:defRPr sz="3600" b="1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500">
                <a:solidFill>
                  <a:prstClr val="black"/>
                </a:solidFill>
                <a:latin typeface="Calibri"/>
              </a:rPr>
              <a:t>{{Date}}</a:t>
            </a: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2967274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63050-B538-8D58-A4E4-0E7C3FD9B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NarrHeader">
            <a:extLst>
              <a:ext uri="{FF2B5EF4-FFF2-40B4-BE49-F238E27FC236}">
                <a16:creationId xmlns:a16="http://schemas.microsoft.com/office/drawing/2014/main" id="{DDA3501E-37FA-BBD5-7F1A-700EA3501B1B}"/>
              </a:ext>
            </a:extLst>
          </p:cNvPr>
          <p:cNvSpPr txBox="1"/>
          <p:nvPr/>
        </p:nvSpPr>
        <p:spPr>
          <a:xfrm>
            <a:off x="376931" y="2440118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Status</a:t>
            </a:r>
          </a:p>
        </p:txBody>
      </p:sp>
      <p:sp>
        <p:nvSpPr>
          <p:cNvPr id="61" name="NarrLeft">
            <a:extLst>
              <a:ext uri="{FF2B5EF4-FFF2-40B4-BE49-F238E27FC236}">
                <a16:creationId xmlns:a16="http://schemas.microsoft.com/office/drawing/2014/main" id="{015F27E5-6300-FD86-61EC-A29EB191B909}"/>
              </a:ext>
            </a:extLst>
          </p:cNvPr>
          <p:cNvSpPr txBox="1"/>
          <p:nvPr/>
        </p:nvSpPr>
        <p:spPr>
          <a:xfrm>
            <a:off x="368223" y="2716857"/>
            <a:ext cx="5406764" cy="3228686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Executive Summary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{{AI_OVERALL_STATUS}}</a:t>
            </a: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{{AI_PDM_ITERATION_UPDATE}}</a:t>
            </a: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{{AI_ENROLLMENT_UPDATE}}</a:t>
            </a:r>
            <a:r>
              <a:rPr lang="en-US" sz="1000" dirty="0">
                <a:solidFill>
                  <a:srgbClr val="333333"/>
                </a:solidFill>
                <a:latin typeface="Calibri"/>
                <a:cs typeface="Calibri"/>
              </a:rPr>
              <a:t/>
            </a: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{{AI_CLAIMS_UPDATE}}</a:t>
            </a:r>
            <a:r>
              <a:rPr lang="en-US" sz="1000" dirty="0">
                <a:solidFill>
                  <a:srgbClr val="333333"/>
                </a:solidFill>
                <a:latin typeface="Calibri"/>
                <a:cs typeface="Calibri"/>
              </a:rPr>
              <a:t/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Defect Triage:</a:t>
            </a:r>
            <a:endParaRPr lang="en-US" sz="1050" b="1" dirty="0">
              <a:solidFill>
                <a:srgbClr val="007680"/>
              </a:solidFill>
              <a:latin typeface="Calibri"/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{{AI_PDM_DEFECT_SUMMARY}}</a:t>
            </a: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{{AI_DEFECT_TRIAGE}}</a:t>
            </a: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6FC7E3E-3C8D-5720-3B00-B4B11D35F996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SIT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Execution Status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Report |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Executive Summary</a:t>
            </a:r>
          </a:p>
        </p:txBody>
      </p:sp>
      <p:sp>
        <p:nvSpPr>
          <p:cNvPr id="14" name="AsOf">
            <a:extLst>
              <a:ext uri="{FF2B5EF4-FFF2-40B4-BE49-F238E27FC236}">
                <a16:creationId xmlns:a16="http://schemas.microsoft.com/office/drawing/2014/main" id="{3BADCF61-8843-CACB-D4A9-361363446042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lvl="0"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21E322-FD16-698F-4E8E-A2C22B6AD423}"/>
              </a:ext>
            </a:extLst>
          </p:cNvPr>
          <p:cNvSpPr txBox="1"/>
          <p:nvPr/>
        </p:nvSpPr>
        <p:spPr>
          <a:xfrm>
            <a:off x="366668" y="6024736"/>
            <a:ext cx="6160405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dirty="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endParaRPr lang="en-US" sz="800" dirty="0"/>
          </a:p>
        </p:txBody>
      </p:sp>
      <p:sp>
        <p:nvSpPr>
          <p:cNvPr id="27" name="NarrLeft">
            <a:extLst>
              <a:ext uri="{FF2B5EF4-FFF2-40B4-BE49-F238E27FC236}">
                <a16:creationId xmlns:a16="http://schemas.microsoft.com/office/drawing/2014/main" id="{4A25FA09-209E-0831-0B89-5B8FBD195A77}"/>
              </a:ext>
            </a:extLst>
          </p:cNvPr>
          <p:cNvSpPr txBox="1"/>
          <p:nvPr/>
        </p:nvSpPr>
        <p:spPr>
          <a:xfrm>
            <a:off x="6396209" y="2716857"/>
            <a:ext cx="5405798" cy="3223773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28" name="NarrHeader">
            <a:extLst>
              <a:ext uri="{FF2B5EF4-FFF2-40B4-BE49-F238E27FC236}">
                <a16:creationId xmlns:a16="http://schemas.microsoft.com/office/drawing/2014/main" id="{3DF8CFDF-5033-6E84-FC61-C280BEDF2E37}"/>
              </a:ext>
            </a:extLst>
          </p:cNvPr>
          <p:cNvSpPr txBox="1"/>
          <p:nvPr/>
        </p:nvSpPr>
        <p:spPr>
          <a:xfrm>
            <a:off x="6397891" y="2414275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Test Case and Defect Breakdown</a:t>
            </a:r>
          </a:p>
        </p:txBody>
      </p:sp>
      <p:graphicFrame>
        <p:nvGraphicFramePr>
          <p:cNvPr id="52" name="WorkstreamSummary">
            <a:extLst>
              <a:ext uri="{FF2B5EF4-FFF2-40B4-BE49-F238E27FC236}">
                <a16:creationId xmlns:a16="http://schemas.microsoft.com/office/drawing/2014/main" id="{EE2634A9-121F-87F6-65CC-9E3D03E98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8263084"/>
              </p:ext>
            </p:extLst>
          </p:nvPr>
        </p:nvGraphicFramePr>
        <p:xfrm>
          <a:off x="6517176" y="2815458"/>
          <a:ext cx="5163863" cy="30083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31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2800">
                  <a:extLst>
                    <a:ext uri="{9D8B030D-6E8A-4147-A177-3AD203B41FA5}">
                      <a16:colId xmlns:a16="http://schemas.microsoft.com/office/drawing/2014/main" val="3657914926"/>
                    </a:ext>
                  </a:extLst>
                </a:gridCol>
                <a:gridCol w="619746">
                  <a:extLst>
                    <a:ext uri="{9D8B030D-6E8A-4147-A177-3AD203B41FA5}">
                      <a16:colId xmlns:a16="http://schemas.microsoft.com/office/drawing/2014/main" val="3775692062"/>
                    </a:ext>
                  </a:extLst>
                </a:gridCol>
                <a:gridCol w="511965">
                  <a:extLst>
                    <a:ext uri="{9D8B030D-6E8A-4147-A177-3AD203B41FA5}">
                      <a16:colId xmlns:a16="http://schemas.microsoft.com/office/drawing/2014/main" val="3289360789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4185109620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2472809960"/>
                    </a:ext>
                  </a:extLst>
                </a:gridCol>
                <a:gridCol w="4753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2267">
                <a:tc gridSpan="9"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rgbClr val="FFFFFF"/>
                          </a:solidFill>
                          <a:latin typeface="Calibri"/>
                        </a:rPr>
                        <a:t>Review Summary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34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Workstreams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Planned*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Executed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313131"/>
                          </a:solidFill>
                          <a:latin typeface="Calibri"/>
                        </a:rPr>
                        <a:t>Open Defects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Cursory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{{PDMCTTC}}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{{PDMCURSORYDEFOPEN}}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3191323699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{{PDMSITTC}}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{{PDMSITDEFOPEN}}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2026 Benefits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{{ACTIVEBENETC}}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{{ACTIVEBENB}}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Enrollment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{{ENROB}}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latin typeface="Calibri"/>
                        </a:rPr>
                        <a:t>EDI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{{EDIB}}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940687559"/>
                  </a:ext>
                </a:extLst>
              </a:tr>
              <a:tr h="297792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{{TTC}}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{{TB}}</a:t>
                      </a:r>
                      <a:endParaRPr lang="en-US" dirty="0"/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EA96CAB9-1357-C066-3A53-B0C34DEC314A}"/>
              </a:ext>
            </a:extLst>
          </p:cNvPr>
          <p:cNvSpPr txBox="1"/>
          <p:nvPr/>
        </p:nvSpPr>
        <p:spPr>
          <a:xfrm>
            <a:off x="376244" y="6146737"/>
            <a:ext cx="5719756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26" name="StatBox1">
            <a:extLst>
              <a:ext uri="{FF2B5EF4-FFF2-40B4-BE49-F238E27FC236}">
                <a16:creationId xmlns:a16="http://schemas.microsoft.com/office/drawing/2014/main" id="{99D07C76-B78A-0AE6-9F5B-2EBA09200CF4}"/>
              </a:ext>
            </a:extLst>
          </p:cNvPr>
          <p:cNvSpPr>
            <a:spLocks noGrp="1" noChangeAspect="1"/>
          </p:cNvSpPr>
          <p:nvPr/>
        </p:nvSpPr>
        <p:spPr>
          <a:xfrm>
            <a:off x="350597" y="1461008"/>
            <a:ext cx="1723995" cy="891136"/>
          </a:xfrm>
          <a:prstGeom prst="rect">
            <a:avLst/>
          </a:prstGeom>
          <a:solidFill>
            <a:srgbClr val="F0FAFA"/>
          </a:solidFill>
          <a:ln w="19050">
            <a:solidFill>
              <a:srgbClr val="00768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Stat1Num">
            <a:extLst>
              <a:ext uri="{FF2B5EF4-FFF2-40B4-BE49-F238E27FC236}">
                <a16:creationId xmlns:a16="http://schemas.microsoft.com/office/drawing/2014/main" id="{23AD6140-4D03-1877-22EA-E129D493E908}"/>
              </a:ext>
            </a:extLst>
          </p:cNvPr>
          <p:cNvSpPr txBox="1">
            <a:spLocks noChangeAspect="1"/>
          </p:cNvSpPr>
          <p:nvPr/>
        </p:nvSpPr>
        <p:spPr>
          <a:xfrm>
            <a:off x="347542" y="1568438"/>
            <a:ext cx="1735119" cy="510955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 dirty="0">
                <a:solidFill>
                  <a:srgbClr val="007680"/>
                </a:solidFill>
              </a:rPr>
              <a:t>{{TTC}}*</a:t>
            </a:r>
            <a:endParaRPr lang="en-US" sz="4800" b="1" baseline="30000" dirty="0">
              <a:solidFill>
                <a:srgbClr val="007680"/>
              </a:solidFill>
            </a:endParaRPr>
          </a:p>
        </p:txBody>
      </p:sp>
      <p:sp>
        <p:nvSpPr>
          <p:cNvPr id="33" name="Stat1Lbl">
            <a:extLst>
              <a:ext uri="{FF2B5EF4-FFF2-40B4-BE49-F238E27FC236}">
                <a16:creationId xmlns:a16="http://schemas.microsoft.com/office/drawing/2014/main" id="{6A6015CF-3978-00B4-DDA9-6B3ED3FB61D3}"/>
              </a:ext>
            </a:extLst>
          </p:cNvPr>
          <p:cNvSpPr txBox="1">
            <a:spLocks noChangeAspect="1"/>
          </p:cNvSpPr>
          <p:nvPr/>
        </p:nvSpPr>
        <p:spPr>
          <a:xfrm>
            <a:off x="350597" y="2120091"/>
            <a:ext cx="1723997" cy="233528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Total Test Cases</a:t>
            </a:r>
          </a:p>
        </p:txBody>
      </p:sp>
      <p:sp>
        <p:nvSpPr>
          <p:cNvPr id="34" name="StatBox2">
            <a:extLst>
              <a:ext uri="{FF2B5EF4-FFF2-40B4-BE49-F238E27FC236}">
                <a16:creationId xmlns:a16="http://schemas.microsoft.com/office/drawing/2014/main" id="{ADCE0457-7EF0-A291-CAF7-184C3CD6CE93}"/>
              </a:ext>
            </a:extLst>
          </p:cNvPr>
          <p:cNvSpPr>
            <a:spLocks noGrp="1"/>
          </p:cNvSpPr>
          <p:nvPr/>
        </p:nvSpPr>
        <p:spPr>
          <a:xfrm>
            <a:off x="5190905" y="1459534"/>
            <a:ext cx="1728216" cy="886968"/>
          </a:xfrm>
          <a:prstGeom prst="rect">
            <a:avLst/>
          </a:prstGeom>
          <a:solidFill>
            <a:srgbClr val="F0FAF2"/>
          </a:solidFill>
          <a:ln w="19050">
            <a:solidFill>
              <a:srgbClr val="00AA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Stat2Num">
            <a:extLst>
              <a:ext uri="{FF2B5EF4-FFF2-40B4-BE49-F238E27FC236}">
                <a16:creationId xmlns:a16="http://schemas.microsoft.com/office/drawing/2014/main" id="{140DF3D2-B158-FCC3-3217-402F4E05B2D0}"/>
              </a:ext>
            </a:extLst>
          </p:cNvPr>
          <p:cNvSpPr txBox="1"/>
          <p:nvPr/>
        </p:nvSpPr>
        <p:spPr>
          <a:xfrm>
            <a:off x="5190905" y="1559531"/>
            <a:ext cx="173512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00AA55"/>
                </a:solidFill>
                <a:ea typeface="Calibri"/>
                <a:cs typeface="Calibri"/>
              </a:rPr>
              <a:t>{{PTC}}</a:t>
            </a:r>
          </a:p>
        </p:txBody>
      </p:sp>
      <p:sp>
        <p:nvSpPr>
          <p:cNvPr id="36" name="Stat2Lbl">
            <a:extLst>
              <a:ext uri="{FF2B5EF4-FFF2-40B4-BE49-F238E27FC236}">
                <a16:creationId xmlns:a16="http://schemas.microsoft.com/office/drawing/2014/main" id="{D60C9933-0CA7-4B03-D1F8-F76BF8812620}"/>
              </a:ext>
            </a:extLst>
          </p:cNvPr>
          <p:cNvSpPr txBox="1"/>
          <p:nvPr/>
        </p:nvSpPr>
        <p:spPr>
          <a:xfrm>
            <a:off x="5190097" y="2109225"/>
            <a:ext cx="1730273" cy="255901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Passed ({{PP}}%)</a:t>
            </a:r>
          </a:p>
        </p:txBody>
      </p:sp>
      <p:sp>
        <p:nvSpPr>
          <p:cNvPr id="37" name="StatBox3">
            <a:extLst>
              <a:ext uri="{FF2B5EF4-FFF2-40B4-BE49-F238E27FC236}">
                <a16:creationId xmlns:a16="http://schemas.microsoft.com/office/drawing/2014/main" id="{7E6BF14B-91CB-E9B6-FD42-553A467DEC7F}"/>
              </a:ext>
            </a:extLst>
          </p:cNvPr>
          <p:cNvSpPr>
            <a:spLocks noGrp="1"/>
          </p:cNvSpPr>
          <p:nvPr/>
        </p:nvSpPr>
        <p:spPr>
          <a:xfrm>
            <a:off x="7611058" y="1459534"/>
            <a:ext cx="1728216" cy="886968"/>
          </a:xfrm>
          <a:prstGeom prst="rect">
            <a:avLst/>
          </a:prstGeom>
          <a:solidFill>
            <a:srgbClr val="FFF2F2"/>
          </a:solidFill>
          <a:ln w="19050">
            <a:solidFill>
              <a:srgbClr val="CC333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Stat3Num">
            <a:extLst>
              <a:ext uri="{FF2B5EF4-FFF2-40B4-BE49-F238E27FC236}">
                <a16:creationId xmlns:a16="http://schemas.microsoft.com/office/drawing/2014/main" id="{C460BBE5-6FF9-1801-3054-B7925A291984}"/>
              </a:ext>
            </a:extLst>
          </p:cNvPr>
          <p:cNvSpPr txBox="1"/>
          <p:nvPr/>
        </p:nvSpPr>
        <p:spPr>
          <a:xfrm>
            <a:off x="7615918" y="1551039"/>
            <a:ext cx="173026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CC3333"/>
                </a:solidFill>
                <a:ea typeface="Calibri"/>
                <a:cs typeface="Calibri"/>
              </a:rPr>
              <a:t>{{FTC}}</a:t>
            </a:r>
          </a:p>
        </p:txBody>
      </p:sp>
      <p:sp>
        <p:nvSpPr>
          <p:cNvPr id="39" name="Stat3Lbl">
            <a:extLst>
              <a:ext uri="{FF2B5EF4-FFF2-40B4-BE49-F238E27FC236}">
                <a16:creationId xmlns:a16="http://schemas.microsoft.com/office/drawing/2014/main" id="{83033A1F-7611-EB65-BFE3-BF9920E39A94}"/>
              </a:ext>
            </a:extLst>
          </p:cNvPr>
          <p:cNvSpPr txBox="1"/>
          <p:nvPr/>
        </p:nvSpPr>
        <p:spPr>
          <a:xfrm>
            <a:off x="7618973" y="2122785"/>
            <a:ext cx="1730260" cy="246777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Failed ({{FP}}%)</a:t>
            </a:r>
          </a:p>
        </p:txBody>
      </p:sp>
      <p:sp>
        <p:nvSpPr>
          <p:cNvPr id="43" name="StatBox4">
            <a:extLst>
              <a:ext uri="{FF2B5EF4-FFF2-40B4-BE49-F238E27FC236}">
                <a16:creationId xmlns:a16="http://schemas.microsoft.com/office/drawing/2014/main" id="{89B73705-04BD-B75C-57CF-9ECDC19137A6}"/>
              </a:ext>
            </a:extLst>
          </p:cNvPr>
          <p:cNvSpPr>
            <a:spLocks noGrp="1"/>
          </p:cNvSpPr>
          <p:nvPr/>
        </p:nvSpPr>
        <p:spPr>
          <a:xfrm>
            <a:off x="10031212" y="1466651"/>
            <a:ext cx="1728216" cy="886968"/>
          </a:xfrm>
          <a:prstGeom prst="rect">
            <a:avLst/>
          </a:prstGeom>
          <a:solidFill>
            <a:srgbClr val="FFF8F0"/>
          </a:solidFill>
          <a:ln w="19050">
            <a:solidFill>
              <a:srgbClr val="E07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4" name="Stat4Num">
            <a:extLst>
              <a:ext uri="{FF2B5EF4-FFF2-40B4-BE49-F238E27FC236}">
                <a16:creationId xmlns:a16="http://schemas.microsoft.com/office/drawing/2014/main" id="{EDF03EF3-9B1E-4916-6594-E140C2B54504}"/>
              </a:ext>
            </a:extLst>
          </p:cNvPr>
          <p:cNvSpPr txBox="1"/>
          <p:nvPr/>
        </p:nvSpPr>
        <p:spPr>
          <a:xfrm>
            <a:off x="10028158" y="1556722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E07000"/>
                </a:solidFill>
                <a:ea typeface="Calibri"/>
                <a:cs typeface="Calibri"/>
              </a:rPr>
              <a:t>{{TB}}</a:t>
            </a:r>
          </a:p>
        </p:txBody>
      </p:sp>
      <p:sp>
        <p:nvSpPr>
          <p:cNvPr id="45" name="Stat4Lbl">
            <a:extLst>
              <a:ext uri="{FF2B5EF4-FFF2-40B4-BE49-F238E27FC236}">
                <a16:creationId xmlns:a16="http://schemas.microsoft.com/office/drawing/2014/main" id="{A236E7EF-8E9C-6470-792F-D6C0DFD6951E}"/>
              </a:ext>
            </a:extLst>
          </p:cNvPr>
          <p:cNvSpPr txBox="1"/>
          <p:nvPr/>
        </p:nvSpPr>
        <p:spPr>
          <a:xfrm>
            <a:off x="10041851" y="2118575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Open Defects</a:t>
            </a:r>
          </a:p>
        </p:txBody>
      </p:sp>
      <p:sp>
        <p:nvSpPr>
          <p:cNvPr id="46" name="StatBox3">
            <a:extLst>
              <a:ext uri="{FF2B5EF4-FFF2-40B4-BE49-F238E27FC236}">
                <a16:creationId xmlns:a16="http://schemas.microsoft.com/office/drawing/2014/main" id="{80E9E55F-0CEC-90AF-EC57-7C6FB1593F69}"/>
              </a:ext>
            </a:extLst>
          </p:cNvPr>
          <p:cNvSpPr>
            <a:spLocks noGrp="1"/>
          </p:cNvSpPr>
          <p:nvPr/>
        </p:nvSpPr>
        <p:spPr>
          <a:xfrm>
            <a:off x="2770751" y="1459534"/>
            <a:ext cx="1728216" cy="886968"/>
          </a:xfrm>
          <a:prstGeom prst="rect">
            <a:avLst/>
          </a:prstGeom>
          <a:solidFill>
            <a:srgbClr val="E8E9ED"/>
          </a:solidFill>
          <a:ln w="19050">
            <a:solidFill>
              <a:schemeClr val="tx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7" name="Stat3Num">
            <a:extLst>
              <a:ext uri="{FF2B5EF4-FFF2-40B4-BE49-F238E27FC236}">
                <a16:creationId xmlns:a16="http://schemas.microsoft.com/office/drawing/2014/main" id="{6D6873E7-420A-807B-C4AC-5CA86A4CDA28}"/>
              </a:ext>
            </a:extLst>
          </p:cNvPr>
          <p:cNvSpPr txBox="1"/>
          <p:nvPr/>
        </p:nvSpPr>
        <p:spPr>
          <a:xfrm>
            <a:off x="2768507" y="1552017"/>
            <a:ext cx="1728511" cy="511637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ln>
                  <a:solidFill>
                    <a:schemeClr val="tx2"/>
                  </a:solidFill>
                </a:ln>
                <a:solidFill>
                  <a:schemeClr val="tx2"/>
                </a:solidFill>
                <a:ea typeface="Calibri"/>
                <a:cs typeface="Calibri"/>
              </a:rPr>
              <a:t>{{ETC}}</a:t>
            </a:r>
            <a:endParaRPr lang="en-US" sz="4800" b="1">
              <a:ln>
                <a:solidFill>
                  <a:srgbClr val="53565A"/>
                </a:solidFill>
              </a:ln>
              <a:solidFill>
                <a:schemeClr val="tx2"/>
              </a:solidFill>
              <a:ea typeface="Calibri"/>
              <a:cs typeface="Calibri"/>
            </a:endParaRPr>
          </a:p>
        </p:txBody>
      </p:sp>
      <p:sp>
        <p:nvSpPr>
          <p:cNvPr id="48" name="Stat3Lbl">
            <a:extLst>
              <a:ext uri="{FF2B5EF4-FFF2-40B4-BE49-F238E27FC236}">
                <a16:creationId xmlns:a16="http://schemas.microsoft.com/office/drawing/2014/main" id="{227A0A4C-EDFB-7539-91F0-950357C2ACE2}"/>
              </a:ext>
            </a:extLst>
          </p:cNvPr>
          <p:cNvSpPr txBox="1"/>
          <p:nvPr/>
        </p:nvSpPr>
        <p:spPr>
          <a:xfrm>
            <a:off x="2759655" y="2117157"/>
            <a:ext cx="1728512" cy="227193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Executed</a:t>
            </a:r>
          </a:p>
        </p:txBody>
      </p:sp>
      <p:sp>
        <p:nvSpPr>
          <p:cNvPr id="11" name="LegendBox">
            <a:extLst>
              <a:ext uri="{FF2B5EF4-FFF2-40B4-BE49-F238E27FC236}">
                <a16:creationId xmlns:a16="http://schemas.microsoft.com/office/drawing/2014/main" id="{834828F7-8CCF-D014-B2A1-FA7B223ADFB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5FD9283-C35E-CD42-5849-79EEACFB7A44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0" name="LegendBox">
              <a:extLst>
                <a:ext uri="{FF2B5EF4-FFF2-40B4-BE49-F238E27FC236}">
                  <a16:creationId xmlns:a16="http://schemas.microsoft.com/office/drawing/2014/main" id="{9E7F1FB6-D66C-348B-B8C7-138CB4C99A64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1" name="Dot1">
              <a:extLst>
                <a:ext uri="{FF2B5EF4-FFF2-40B4-BE49-F238E27FC236}">
                  <a16:creationId xmlns:a16="http://schemas.microsoft.com/office/drawing/2014/main" id="{5F918CAD-647A-FFEC-BE75-950CECA8A67B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2" name="Lbl1">
              <a:extLst>
                <a:ext uri="{FF2B5EF4-FFF2-40B4-BE49-F238E27FC236}">
                  <a16:creationId xmlns:a16="http://schemas.microsoft.com/office/drawing/2014/main" id="{2FB5EDEA-ACD1-6393-8004-24B092E92F2C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30" name="Dot2">
              <a:extLst>
                <a:ext uri="{FF2B5EF4-FFF2-40B4-BE49-F238E27FC236}">
                  <a16:creationId xmlns:a16="http://schemas.microsoft.com/office/drawing/2014/main" id="{69F61DFD-6F87-FF9E-6F99-4EA015841059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BF3C3D1E-6713-D27F-CF4D-1A74255EAD22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EC6270FC-32C7-234E-D56E-5CC7AF1F2701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0" name="Lbl3">
              <a:extLst>
                <a:ext uri="{FF2B5EF4-FFF2-40B4-BE49-F238E27FC236}">
                  <a16:creationId xmlns:a16="http://schemas.microsoft.com/office/drawing/2014/main" id="{87378057-3253-0DFA-1659-084282424C2D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41" name="Dot4">
              <a:extLst>
                <a:ext uri="{FF2B5EF4-FFF2-40B4-BE49-F238E27FC236}">
                  <a16:creationId xmlns:a16="http://schemas.microsoft.com/office/drawing/2014/main" id="{DA47427F-D5AA-6953-81DD-ED682FB72A0A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Lbl4">
              <a:extLst>
                <a:ext uri="{FF2B5EF4-FFF2-40B4-BE49-F238E27FC236}">
                  <a16:creationId xmlns:a16="http://schemas.microsoft.com/office/drawing/2014/main" id="{C12ECC9D-BCDC-8510-CD1A-A5EC3FAC16F2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3" name="Dot3">
            <a:extLst>
              <a:ext uri="{FF2B5EF4-FFF2-40B4-BE49-F238E27FC236}">
                <a16:creationId xmlns:a16="http://schemas.microsoft.com/office/drawing/2014/main" id="{991FA8AC-D41A-89C1-C6EB-FE5914097816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02668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Testing Execution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1647937"/>
              </p:ext>
            </p:extLst>
          </p:nvPr>
        </p:nvGraphicFramePr>
        <p:xfrm>
          <a:off x="501651" y="1490836"/>
          <a:ext cx="11175482" cy="17114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578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14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14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14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2320813991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3464094568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1682406896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3751898163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3578987673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2218412443"/>
                    </a:ext>
                  </a:extLst>
                </a:gridCol>
                <a:gridCol w="957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  <a:r>
                        <a:rPr lang="en-US" sz="1000" kern="1200" baseline="300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Iteration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endParaRPr lang="en-US" sz="1000" baseline="30000" dirty="0"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Cursory</a:t>
                      </a:r>
                      <a:endParaRPr lang="en-US" sz="1000" b="1" baseline="30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{{PDMIT2PTC}}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{{PDMIT2FTC}}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2.1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{{PDMIT21PP}}%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{{PDMIT21FP}}%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{{PDMIT21DEFOPEN}}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8229393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{{PDMIT3ETC}}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{{PDMIT3PTC}}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{{PDMIT3PP}}%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{{PDMIT3FP}}%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{{PDMIT3DEFOPEN}}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595197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--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DF250EFB-F4DA-42AB-09C3-043BD78F3A71}"/>
              </a:ext>
            </a:extLst>
          </p:cNvPr>
          <p:cNvSpPr txBox="1"/>
          <p:nvPr/>
        </p:nvSpPr>
        <p:spPr>
          <a:xfrm>
            <a:off x="495836" y="4874534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</a:t>
            </a:r>
            <a:r>
              <a:rPr lang="en-US" sz="800">
                <a:solidFill>
                  <a:srgbClr val="313131"/>
                </a:solidFill>
              </a:rPr>
              <a:t>Cursory Review validates that the data in PDM is matching with the source; no further validation on data quality is done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9D7915-ECA8-77EF-3291-5F8531DAA9F8}"/>
              </a:ext>
            </a:extLst>
          </p:cNvPr>
          <p:cNvSpPr txBox="1"/>
          <p:nvPr/>
        </p:nvSpPr>
        <p:spPr>
          <a:xfrm>
            <a:off x="495836" y="5019016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>
                <a:solidFill>
                  <a:schemeClr val="dk1"/>
                </a:solidFill>
              </a:rPr>
              <a:t>**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9479868-6844-26B2-E461-5CFEE8A40FE8}"/>
              </a:ext>
            </a:extLst>
          </p:cNvPr>
          <p:cNvSpPr txBox="1"/>
          <p:nvPr/>
        </p:nvSpPr>
        <p:spPr>
          <a:xfrm>
            <a:off x="495836" y="5134923"/>
            <a:ext cx="8599932" cy="44627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***</a:t>
            </a:r>
            <a:r>
              <a:rPr lang="en-US" sz="800">
                <a:solidFill>
                  <a:srgbClr val="313131"/>
                </a:solidFill>
              </a:rPr>
              <a:t>Defects included from previous iterations</a:t>
            </a:r>
          </a:p>
          <a:p>
            <a:pPr>
              <a:buSzPct val="100000"/>
            </a:pPr>
            <a:r>
              <a:rPr lang="en-US" sz="800" b="1" baseline="30000" dirty="0">
                <a:solidFill>
                  <a:srgbClr val="313131"/>
                </a:solidFill>
              </a:rPr>
              <a:t>{{PDMBLOCKEDFN}}</a:t>
            </a:r>
            <a:r>
              <a:rPr lang="en-US" sz="800" dirty="0"/>
              <a:t>{{AI_PDM_BLOCKED_NOTE}}</a:t>
            </a:r>
          </a:p>
        </p:txBody>
      </p:sp>
      <p:sp>
        <p:nvSpPr>
          <p:cNvPr id="13" name="LegendBox">
            <a:extLst>
              <a:ext uri="{FF2B5EF4-FFF2-40B4-BE49-F238E27FC236}">
                <a16:creationId xmlns:a16="http://schemas.microsoft.com/office/drawing/2014/main" id="{E5AAE186-9015-AF07-72EA-58EBD400AF07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DF49F0-D0F3-1C86-C12F-93692B176DD7}"/>
              </a:ext>
            </a:extLst>
          </p:cNvPr>
          <p:cNvSpPr txBox="1"/>
          <p:nvPr/>
        </p:nvSpPr>
        <p:spPr>
          <a:xfrm>
            <a:off x="495836" y="5558606"/>
            <a:ext cx="6054866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14863" y="982262"/>
            <a:ext cx="11101069" cy="76944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{{AI_PDM_CURSORY_STATUS}}</a:t>
            </a:r>
            <a:r>
              <a:rPr lang="en-US" sz="900" b="1" i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  <a:r>
              <a:rPr lang="en-US" sz="9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spcBef>
                <a:spcPts val="200"/>
              </a:spcBef>
            </a:pPr>
            <a:endParaRPr lang="en-US" sz="900" dirty="0"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94E49F4F-74EB-46D0-1475-3A6BD2792461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5" name="WorkstreamSummary">
            <a:extLst>
              <a:ext uri="{FF2B5EF4-FFF2-40B4-BE49-F238E27FC236}">
                <a16:creationId xmlns:a16="http://schemas.microsoft.com/office/drawing/2014/main" id="{CDB1D4FD-F646-A646-F27C-694A212939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7791683"/>
              </p:ext>
            </p:extLst>
          </p:nvPr>
        </p:nvGraphicFramePr>
        <p:xfrm>
          <a:off x="495836" y="3457728"/>
          <a:ext cx="11163817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PDM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{{PDMSITTC}}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10/15/2026{{PDMSITENDTBD}}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{{PDMSITETC}}</a:t>
                      </a:r>
                      <a:r>
                        <a:rPr lang="en-US" sz="1000" baseline="30000" dirty="0">
                          <a:latin typeface="+mn-lt"/>
                        </a:rPr>
                        <a:t>{{PDMBLOCKEDFN}}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{{PDMSITBTC}}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{{PDMSITDEFOPEN}}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{{PDMSITFTC}}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{{PDMSITBTC}}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{{PDMCB}}</a:t>
                      </a:r>
                      <a:r>
                        <a:rPr lang="en-US" sz="1000" b="1" baseline="30000" dirty="0">
                          <a:solidFill>
                            <a:schemeClr val="bg1"/>
                          </a:solidFill>
                        </a:rPr>
                        <a:t>***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6779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Iteration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2.1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1822939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595197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{{PDMCB}}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0" name="SeverityTable"/>
          <p:cNvGraphicFramePr>
            <a:graphicFrameLocks noGrp="1"/>
          </p:cNvGraphicFramePr>
          <p:nvPr/>
        </p:nvGraphicFramePr>
        <p:xfrm>
          <a:off x="501650" y="3175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{{PDMCB}}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{{AI_PDM_DEFECT_STATUS}}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5540836"/>
            <a:ext cx="5406764" cy="121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{{AI_PDM_DEFECT_INSIGHTS}}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PDM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{{AI_PDM_BURNDOWN_INSIGHTS}}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4800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Benefits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C5AF1582-CDC9-F592-4EB1-797D4002AF9D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047249"/>
              </p:ext>
            </p:extLst>
          </p:nvPr>
        </p:nvGraphicFramePr>
        <p:xfrm>
          <a:off x="501651" y="1490836"/>
          <a:ext cx="11163821" cy="13298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28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4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1350781296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275631766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979944116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112938457"/>
                    </a:ext>
                  </a:extLst>
                </a:gridCol>
                <a:gridCol w="878054">
                  <a:extLst>
                    <a:ext uri="{9D8B030D-6E8A-4147-A177-3AD203B41FA5}">
                      <a16:colId xmlns:a16="http://schemas.microsoft.com/office/drawing/2014/main" val="3276562566"/>
                    </a:ext>
                  </a:extLst>
                </a:gridCol>
              </a:tblGrid>
              <a:tr h="216281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Priority Benefit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{{BENEPBBTC}}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{{BENEPBNSTC}}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{{BENEPBDEF}}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2026 Benefits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{{BENE26DEF}}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6075110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618782B0-D982-744F-A272-59964160D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4590205"/>
              </p:ext>
            </p:extLst>
          </p:nvPr>
        </p:nvGraphicFramePr>
        <p:xfrm>
          <a:off x="501648" y="2916387"/>
          <a:ext cx="11163826" cy="271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3720477358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Benefits 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Benefit Type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Signature HMO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 dirty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{{BENESIHMBTC}}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{{BENESIHMDEFOPEN}}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Access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{{BENEACPBTC}}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{{BENEACPDEFOPEN}}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Premium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{{BENEPRPBTC}}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63774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MMEGWP PPO CWRU MAPD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 dirty="0">
                          <a:latin typeface="+mn-lt"/>
                          <a:ea typeface="Calibri"/>
                          <a:cs typeface="Calibri"/>
                        </a:rPr>
                        <a:t>11/30/2026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{{BENEMMEGWPBTC}}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1736708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Classic HMO NEOH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11/30/2026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{{BENENEOHBTC}}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{{ACTIVEBENB}}</a:t>
                      </a:r>
                      <a:endParaRPr lang="en-US" dirty="0"/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9">
            <a:extLst>
              <a:ext uri="{FF2B5EF4-FFF2-40B4-BE49-F238E27FC236}">
                <a16:creationId xmlns:a16="http://schemas.microsoft.com/office/drawing/2014/main" id="{79EC38D1-5F6B-40F1-80E8-5EFE366432DC}"/>
              </a:ext>
            </a:extLst>
          </p:cNvPr>
          <p:cNvSpPr txBox="1"/>
          <p:nvPr/>
        </p:nvSpPr>
        <p:spPr>
          <a:xfrm>
            <a:off x="501648" y="6362001"/>
            <a:ext cx="3651641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Benefit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9650D5-95BE-2E4E-7E8D-8EC1E9AAACA0}"/>
              </a:ext>
            </a:extLst>
          </p:cNvPr>
          <p:cNvSpPr txBox="1"/>
          <p:nvPr/>
        </p:nvSpPr>
        <p:spPr>
          <a:xfrm>
            <a:off x="500191" y="5869983"/>
            <a:ext cx="5967376" cy="49244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  <a:endParaRPr lang="en-US" sz="800" dirty="0">
              <a:solidFill>
                <a:srgbClr val="313131"/>
              </a:solidFill>
              <a:ea typeface="Calibri"/>
              <a:cs typeface="Calibri"/>
            </a:endParaRP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2D58E4-CCA9-B0A1-08F2-55502C6553A0}"/>
              </a:ext>
            </a:extLst>
          </p:cNvPr>
          <p:cNvSpPr txBox="1"/>
          <p:nvPr/>
        </p:nvSpPr>
        <p:spPr>
          <a:xfrm>
            <a:off x="500191" y="5633823"/>
            <a:ext cx="8599932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br>
              <a:rPr lang="en-US" sz="800">
                <a:solidFill>
                  <a:srgbClr val="313131"/>
                </a:solidFill>
              </a:rPr>
            </a:br>
            <a:r>
              <a:rPr lang="en-US" sz="800">
                <a:solidFill>
                  <a:srgbClr val="313131"/>
                </a:solidFill>
              </a:rPr>
              <a:t>Note: Additional 2026 Benefit plans are still pending test execution and are not yet reflected in these totals; they will be incorporated as testing begins.</a:t>
            </a:r>
          </a:p>
          <a:p>
            <a:pPr>
              <a:spcBef>
                <a:spcPts val="600"/>
              </a:spcBef>
            </a:pPr>
            <a:endParaRPr lang="en-US" sz="80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00191" y="982262"/>
            <a:ext cx="11101069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{{AI_BENEFITS_STATUS}}</a:t>
            </a:r>
            <a:endParaRPr lang="en-US" sz="900" dirty="0">
              <a:solidFill>
                <a:srgbClr val="333333"/>
              </a:solidFill>
              <a:ea typeface="Calibri"/>
              <a:cs typeface="Calibri"/>
            </a:endParaRPr>
          </a:p>
        </p:txBody>
      </p:sp>
      <p:sp>
        <p:nvSpPr>
          <p:cNvPr id="8" name="Dot3">
            <a:extLst>
              <a:ext uri="{FF2B5EF4-FFF2-40B4-BE49-F238E27FC236}">
                <a16:creationId xmlns:a16="http://schemas.microsoft.com/office/drawing/2014/main" id="{5A59C70E-6484-A352-D9FE-E84F2CCE9E9A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2865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098DD-2983-733F-C2AA-43B0BFDAF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C883B3B-A4D8-5BEA-F6DA-F2C60E53A113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Benefits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A6B90EBB-18F9-BA70-0220-8612AAD86C63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95F6666C-0C28-6B1E-5536-89416C450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575337"/>
              </p:ext>
            </p:extLst>
          </p:nvPr>
        </p:nvGraphicFramePr>
        <p:xfrm>
          <a:off x="501650" y="1490836"/>
          <a:ext cx="5406762" cy="17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j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Plan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Signature HMO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765087997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Access PPO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129261743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Premium PPO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376771039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Classic HMO NEOH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4107388535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MMEGWP PPO CWRU MAPD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2866485138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TOTAL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{{ACTIVEBENB}}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{{BENEDEFCLOSEDTOTAL}}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{{BENEDEFRESOLVEDTOTAL}}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1" name="SeverityTable"/>
          <p:cNvGraphicFramePr>
            <a:graphicFrameLocks noGrp="1"/>
          </p:cNvGraphicFramePr>
          <p:nvPr/>
        </p:nvGraphicFramePr>
        <p:xfrm>
          <a:off x="501650" y="340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{{ACTIVEBENB}}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4EBFBF2D-14C9-E484-A86D-DEB8E53528B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39589F60-41E6-4F82-3D22-47CE7B2B854A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7AD57AAC-B825-2AD7-CE12-069BA732F534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DE741940-02A4-217C-972F-62BDF6110BD6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959B33-EAF6-6ACD-BBAE-90A2AA35CC0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615C179A-3231-CB26-740D-5EAF3798D372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240504B-E8D8-BBF2-C779-1D407E092E4E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E5FF786F-6C18-8733-F745-44B17E81C099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29F4749C-C7E9-5F5F-E8D3-4ED341B19F14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2C5C409D-D4D7-3426-5DD6-A5A88D93D49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6645CCFE-2D4B-4768-A563-CE066C2145E6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C63A99F-F10C-F476-BD18-80D172CF3ECF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{{AI_BENEFITS_DEFECT_STATUS}}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0322AFEA-DA5C-D2DD-6DB9-D53378AC1317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F2C5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E3310B2B-DD89-700B-E1AA-326FE202EC82}"/>
              </a:ext>
            </a:extLst>
          </p:cNvPr>
          <p:cNvSpPr txBox="1"/>
          <p:nvPr/>
        </p:nvSpPr>
        <p:spPr>
          <a:xfrm>
            <a:off x="514863" y="5765836"/>
            <a:ext cx="5406764" cy="992164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>
              <a:spcBef>
                <a:spcPts val="300"/>
              </a:spcBef>
            </a:pPr>
            <a:r>
              <a:rPr lang="en-US" sz="1000">
                <a:solidFill>
                  <a:srgbClr val="333333"/>
                </a:solidFill>
              </a:rPr>
              <a:t>{{AI_BENEFITS_DEFECT_INSIGHTS}}</a:t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E3B8AB44-EBBA-05F9-372E-1F6615836CA5}"/>
              </a:ext>
            </a:extLst>
          </p:cNvPr>
          <p:cNvSpPr txBox="1"/>
          <p:nvPr/>
        </p:nvSpPr>
        <p:spPr>
          <a:xfrm>
            <a:off x="6467475" y="416331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Benefits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{{AI_BENEFITS_BURNDOWN_INSIGHTS}}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FF0000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FF0000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FF0000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FB213BD-6501-9C1B-2462-A961A2F14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618" y="1407173"/>
            <a:ext cx="4931427" cy="2641636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5025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5395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EAC78-999A-1386-44C5-67394F496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FBF2166-CA40-EB00-72DE-CF6EA25DAA35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Enrollment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F449DDE4-BC67-6C8D-F62D-A0916D0EDDD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545BBFD5-1ABF-69CC-96A3-1A1936AC917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4166A4B-D9F2-9206-1457-A1E309F97B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10860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289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1656281088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94945854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2462436254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598383242"/>
                    </a:ext>
                  </a:extLst>
                </a:gridCol>
                <a:gridCol w="87804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BCED5835-B2AF-263C-1A80-3C8AB59F1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101653"/>
              </p:ext>
            </p:extLst>
          </p:nvPr>
        </p:nvGraphicFramePr>
        <p:xfrm>
          <a:off x="501647" y="2916387"/>
          <a:ext cx="11163817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Enrollment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D424936E-24B6-9485-550E-0EE8FF958362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C1772053-EBD9-79FF-F0F2-1EAAD6375D08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4C57C884-EFD4-858F-5364-D2358DC4357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B5675901-A831-5015-A06B-3C31969F35A2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8DE6BA46-175B-9316-8124-F6DDE2B572AF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933E470F-746A-CC53-6817-CB5720AAC83A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C9130CF9-03AF-A5DE-D5C2-839A796B59EA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60514A09-3F19-7644-40B1-46558B48819B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22AFF10A-F3BA-C145-05B4-031858875B7C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EF495954-9023-464B-011A-A23D8751FD70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10">
            <a:extLst>
              <a:ext uri="{FF2B5EF4-FFF2-40B4-BE49-F238E27FC236}">
                <a16:creationId xmlns:a16="http://schemas.microsoft.com/office/drawing/2014/main" id="{5F584BFC-9B3C-E0F5-7B63-DC34D149E6F7}"/>
              </a:ext>
            </a:extLst>
          </p:cNvPr>
          <p:cNvSpPr txBox="1"/>
          <p:nvPr/>
        </p:nvSpPr>
        <p:spPr>
          <a:xfrm>
            <a:off x="501648" y="5178143"/>
            <a:ext cx="3891130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Enrollment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401A35-DCF0-2023-F2FF-C6791388F407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 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D25C0F-EF18-1295-A114-9AAD64CE57BD}"/>
              </a:ext>
            </a:extLst>
          </p:cNvPr>
          <p:cNvSpPr txBox="1"/>
          <p:nvPr/>
        </p:nvSpPr>
        <p:spPr>
          <a:xfrm>
            <a:off x="501648" y="4674667"/>
            <a:ext cx="6965952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B58D0882-3254-620F-9493-A68E3708F23E}"/>
              </a:ext>
            </a:extLst>
          </p:cNvPr>
          <p:cNvSpPr txBox="1"/>
          <p:nvPr/>
        </p:nvSpPr>
        <p:spPr>
          <a:xfrm>
            <a:off x="501647" y="982262"/>
            <a:ext cx="11449411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{{AI_ENROLLMENT_STATUS}}</a:t>
            </a:r>
          </a:p>
        </p:txBody>
      </p:sp>
      <p:sp>
        <p:nvSpPr>
          <p:cNvPr id="14" name="Dot2">
            <a:extLst>
              <a:ext uri="{FF2B5EF4-FFF2-40B4-BE49-F238E27FC236}">
                <a16:creationId xmlns:a16="http://schemas.microsoft.com/office/drawing/2014/main" id="{AC6FC462-1D10-858D-0557-F92946F56FAB}"/>
              </a:ext>
            </a:extLst>
          </p:cNvPr>
          <p:cNvSpPr/>
          <p:nvPr/>
        </p:nvSpPr>
        <p:spPr>
          <a:xfrm>
            <a:off x="10831633" y="538869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4924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4771-151B-081A-9B85-2F0261D4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FB4B7E0-2E5B-1FDB-A265-19FDCA68A88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EDI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D5D988BE-F30D-7255-F745-B0CA49C3B4F5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FC7AA5C5-5FE6-1E42-0C66-2E21EB7EF8E4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E24F1FE-5E35-ECCA-F64E-F2BC45E2C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1148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289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1066859929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017906410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82149871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161324812"/>
                    </a:ext>
                  </a:extLst>
                </a:gridCol>
                <a:gridCol w="87804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13DA4AA9-7308-ADC1-016A-B57315180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098199"/>
              </p:ext>
            </p:extLst>
          </p:nvPr>
        </p:nvGraphicFramePr>
        <p:xfrm>
          <a:off x="501648" y="2916387"/>
          <a:ext cx="11163826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242662145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EDI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{{EDIB}}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8A7FDDEF-DC45-BFF3-A9F3-76297216B631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76DC893-5DE3-2E94-8CB5-C1B89D788038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8FD67AAE-FDDD-9D28-DA90-E7412F17A762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DCF5507-1574-5760-CEE0-E683DFB82F5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418D569B-5F61-2C55-25D6-5A7878C53FD0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48D5FC-C778-128D-2EC9-30BB075C9E30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8C8176A6-7976-2BA6-0256-2A9E0D469F7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366259E-11AE-6A45-5A54-1C9958F58DBF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D322DE72-97CD-2BE2-6870-D0C107BC77A7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65AFCE8E-65ED-E03C-8549-FA6CF1B2A85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D09FDA01-FC88-7BF3-4513-B24FF4B3F3E4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E8E1266-0B69-7EC7-1BF0-F38241F01A00}"/>
              </a:ext>
            </a:extLst>
          </p:cNvPr>
          <p:cNvSpPr txBox="1"/>
          <p:nvPr/>
        </p:nvSpPr>
        <p:spPr>
          <a:xfrm>
            <a:off x="501648" y="4674667"/>
            <a:ext cx="6741834" cy="5693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B01301D2-1CA4-1DB8-1E32-B898DE3D8286}"/>
              </a:ext>
            </a:extLst>
          </p:cNvPr>
          <p:cNvSpPr txBox="1"/>
          <p:nvPr/>
        </p:nvSpPr>
        <p:spPr>
          <a:xfrm>
            <a:off x="516162" y="982262"/>
            <a:ext cx="11101069" cy="2769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{{AI_EDI_STATUS}}</a:t>
            </a:r>
            <a:endParaRPr lang="en-US" sz="900" dirty="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6039AB3-2265-47ED-E1B2-F87473DAA5B6}"/>
              </a:ext>
            </a:extLst>
          </p:cNvPr>
          <p:cNvSpPr txBox="1"/>
          <p:nvPr/>
        </p:nvSpPr>
        <p:spPr>
          <a:xfrm>
            <a:off x="501648" y="5178143"/>
            <a:ext cx="3410934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EDI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4"/>
            </a:endParaRPr>
          </a:p>
        </p:txBody>
      </p:sp>
      <p:sp>
        <p:nvSpPr>
          <p:cNvPr id="7" name="Dot2">
            <a:extLst>
              <a:ext uri="{FF2B5EF4-FFF2-40B4-BE49-F238E27FC236}">
                <a16:creationId xmlns:a16="http://schemas.microsoft.com/office/drawing/2014/main" id="{FC64DE6A-0248-2863-2364-6E35CB0EA72B}"/>
              </a:ext>
            </a:extLst>
          </p:cNvPr>
          <p:cNvSpPr/>
          <p:nvPr/>
        </p:nvSpPr>
        <p:spPr>
          <a:xfrm>
            <a:off x="10831633" y="538869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623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Enrollment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8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Phase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0" name="SeverityTable"/>
          <p:cNvGraphicFramePr>
            <a:graphicFrameLocks noGrp="1"/>
          </p:cNvGraphicFramePr>
          <p:nvPr/>
        </p:nvGraphicFramePr>
        <p:xfrm>
          <a:off x="501650" y="250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{{AI_ENROLLMENT_DEFECT_STATUS}}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4865836"/>
            <a:ext cx="5406764" cy="121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{{AI_ENROLLMENT_DEFECT_INSIGHTS}}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Enrollment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{{AI_ENROLLMENT_BURNDOWN_INSIGHTS}}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4125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EDI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8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Phase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0" name="SeverityTable"/>
          <p:cNvGraphicFramePr>
            <a:graphicFrameLocks noGrp="1"/>
          </p:cNvGraphicFramePr>
          <p:nvPr/>
        </p:nvGraphicFramePr>
        <p:xfrm>
          <a:off x="501650" y="250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{{AI_EDI_DEFECT_STATUS}}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4865836"/>
            <a:ext cx="5406764" cy="121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{{AI_EDI_DEFECT_INSIGHTS}}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EDI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{{AI_EDI_BURNDOWN_INSIGHTS}}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4125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buNone/>
            </a:pPr>
            <a:r>
              <a:rPr lang="en-US" sz="2400" b="1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Test Case Execution vs Planned Summary | </a:t>
            </a:r>
            <a:r>
              <a:rPr lang="en-US" sz="2400" b="1" dirty="0">
                <a:solidFill>
                  <a:srgbClr val="00827E"/>
                </a:solidFill>
                <a:latin typeface="Calibri"/>
              </a:rPr>
              <a:t>SIT Overview</a:t>
            </a:r>
          </a:p>
        </p:txBody>
      </p:sp>
      <p:sp>
        <p:nvSpPr>
          <p:cNvPr id="3" name="AsOf"/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4" name="TestCaseSummary"/>
          <p:cNvGraphicFramePr>
            <a:graphicFrameLocks noGrp="1"/>
          </p:cNvGraphicFramePr>
          <p:nvPr/>
        </p:nvGraphicFramePr>
        <p:xfrm>
          <a:off x="501652" y="1490472"/>
          <a:ext cx="11163826" cy="40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7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8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8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26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55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869">
                  <a:extLst>
                    <a:ext uri="{9D8B030D-6E8A-4147-A177-3AD203B41FA5}">
                      <a16:colId xmlns:a16="http://schemas.microsoft.com/office/drawing/2014/main" val="3307393051"/>
                    </a:ext>
                  </a:extLst>
                </a:gridCol>
                <a:gridCol w="1401510">
                  <a:extLst>
                    <a:ext uri="{9D8B030D-6E8A-4147-A177-3AD203B41FA5}">
                      <a16:colId xmlns:a16="http://schemas.microsoft.com/office/drawing/2014/main" val="105257043"/>
                    </a:ext>
                  </a:extLst>
                </a:gridCol>
                <a:gridCol w="103404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305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0000">
                <a:tc gridSpan="9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6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 Case Planning Summary — By Workstream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62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WS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Test Cases in ADO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SIT End Date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Actual Execution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Actual Execution %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Planned Execution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Planned Execution %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Delta #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76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PDM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{{PDMTCSACTUAL}}</a:t>
                      </a:r>
                      <a:r>
                        <a:rPr lang="en-US" sz="1000" b="1" baseline="30000" dirty="0">
                          <a:solidFill>
                            <a:srgbClr val="313131"/>
                          </a:solidFill>
                        </a:rPr>
                        <a:t>{{PDMBLOCKEDFN}}</a:t>
                      </a:r>
                      <a:endParaRPr 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{{PDMTCSACTUALPCT}}%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{{PDMTCSPLANNEDPCT}}%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{{PDMTCSDELTA}}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{{PDMTCSSTATUS}}</a:t>
                      </a:r>
                    </a:p>
                  </a:txBody>
                  <a:tcPr marL="9525" marR="9525" marT="9525" marB="0" anchor="ctr">
                    <a:solidFill>
                      <a:srgbClr val="BDBDBD"/>
                    </a:solidFill>
                  </a:tcPr>
                </a:tc>
              </a:tr>
              <a:tr h="76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Benefits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{{BENETCSACTUALPCT}}%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{{BENETCSPLANNEDPCT}}%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{{BENETCSDELTA}}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{{BENETCSSTATUS}}</a:t>
                      </a:r>
                    </a:p>
                  </a:txBody>
                  <a:tcPr marL="9525" marR="9525" marT="9525" marB="0" anchor="ctr">
                    <a:solidFill>
                      <a:srgbClr val="BDBDBD"/>
                    </a:solidFill>
                  </a:tcPr>
                </a:tc>
              </a:tr>
              <a:tr h="76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Enrollment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{{ENROTCSACTUALPCT}}%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{{ENROTCSPLANNEDPCT}}%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{{ENROTCSDELTA}}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{{ENROTCSSTATUS}}</a:t>
                      </a:r>
                    </a:p>
                  </a:txBody>
                  <a:tcPr marL="9525" marR="9525" marT="9525" marB="0" anchor="ctr">
                    <a:solidFill>
                      <a:srgbClr val="BDBDBD"/>
                    </a:solidFill>
                  </a:tcPr>
                </a:tc>
              </a:tr>
              <a:tr h="76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EDI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{{EDITCSACTUALPCT}}%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{{EDITCSPLANNEDPCT}}%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{{EDITCSDELTA}}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{{EDITCSSTATUS}}</a:t>
                      </a:r>
                    </a:p>
                  </a:txBody>
                  <a:tcPr marL="9525" marR="9525" marT="9525" marB="0" anchor="ctr">
                    <a:solidFill>
                      <a:srgbClr val="BDBDBD"/>
                    </a:solidFill>
                  </a:tcPr>
                </a:tc>
              </a:tr>
            </a:tbl>
          </a:graphicData>
        </a:graphic>
      </p:graphicFrame>
      <p:sp>
        <p:nvSpPr>
          <p:cNvPr id="5" name="LegendBox">
            <a:extLst>
              <a:ext uri="{FF2B5EF4-FFF2-40B4-BE49-F238E27FC236}">
                <a16:creationId xmlns:a16="http://schemas.microsoft.com/office/drawing/2014/main" id="{F26FE7B8-4501-2CE6-D446-AD2B8456ECA9}"/>
              </a:ext>
            </a:extLst>
          </p:cNvPr>
          <p:cNvSpPr/>
          <p:nvPr/>
        </p:nvSpPr>
        <p:spPr>
          <a:xfrm>
            <a:off x="9400000" y="280000"/>
            <a:ext cx="2290000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Legend:</a:t>
            </a:r>
          </a:p>
        </p:txBody>
      </p:sp>
      <p:sp>
        <p:nvSpPr>
          <p:cNvPr id="6" name="Dot1">
            <a:extLst>
              <a:ext uri="{FF2B5EF4-FFF2-40B4-BE49-F238E27FC236}">
                <a16:creationId xmlns:a16="http://schemas.microsoft.com/office/drawing/2014/main" id="{03A2C5E1-E9F9-EFF5-9912-E63D1FF15CBB}"/>
              </a:ext>
            </a:extLst>
          </p:cNvPr>
          <p:cNvSpPr/>
          <p:nvPr/>
        </p:nvSpPr>
        <p:spPr>
          <a:xfrm>
            <a:off x="9520000" y="500000"/>
            <a:ext cx="120000" cy="12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Dot2">
            <a:extLst>
              <a:ext uri="{FF2B5EF4-FFF2-40B4-BE49-F238E27FC236}">
                <a16:creationId xmlns:a16="http://schemas.microsoft.com/office/drawing/2014/main" id="{0933F1C2-EB80-E5A0-8965-9DD5A2C97C40}"/>
              </a:ext>
            </a:extLst>
          </p:cNvPr>
          <p:cNvSpPr/>
          <p:nvPr/>
        </p:nvSpPr>
        <p:spPr>
          <a:xfrm>
            <a:off x="10650000" y="500000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Dot3">
            <a:extLst>
              <a:ext uri="{FF2B5EF4-FFF2-40B4-BE49-F238E27FC236}">
                <a16:creationId xmlns:a16="http://schemas.microsoft.com/office/drawing/2014/main" id="{B757F134-97E1-0AD5-F710-4BB5E8DC84A8}"/>
              </a:ext>
            </a:extLst>
          </p:cNvPr>
          <p:cNvSpPr/>
          <p:nvPr/>
        </p:nvSpPr>
        <p:spPr>
          <a:xfrm>
            <a:off x="9520000" y="720000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Dot4">
            <a:extLst>
              <a:ext uri="{FF2B5EF4-FFF2-40B4-BE49-F238E27FC236}">
                <a16:creationId xmlns:a16="http://schemas.microsoft.com/office/drawing/2014/main" id="{605F17F2-62DA-778F-1C8A-C286679A9D54}"/>
              </a:ext>
            </a:extLst>
          </p:cNvPr>
          <p:cNvSpPr/>
          <p:nvPr/>
        </p:nvSpPr>
        <p:spPr>
          <a:xfrm>
            <a:off x="10650000" y="72000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Lbl1">
            <a:extLst>
              <a:ext uri="{FF2B5EF4-FFF2-40B4-BE49-F238E27FC236}">
                <a16:creationId xmlns:a16="http://schemas.microsoft.com/office/drawing/2014/main" id="{3E4191A9-8B01-8FE9-8E85-CE74E4922AB8}"/>
              </a:ext>
            </a:extLst>
          </p:cNvPr>
          <p:cNvSpPr txBox="1"/>
          <p:nvPr/>
        </p:nvSpPr>
        <p:spPr>
          <a:xfrm>
            <a:off x="9670000" y="494664"/>
            <a:ext cx="900000" cy="1800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Complete</a:t>
            </a:r>
          </a:p>
        </p:txBody>
      </p:sp>
      <p:sp>
        <p:nvSpPr>
          <p:cNvPr id="11" name="Lbl2">
            <a:extLst>
              <a:ext uri="{FF2B5EF4-FFF2-40B4-BE49-F238E27FC236}">
                <a16:creationId xmlns:a16="http://schemas.microsoft.com/office/drawing/2014/main" id="{7866DE4B-7BCA-DEF8-702A-E327D7551DD6}"/>
              </a:ext>
            </a:extLst>
          </p:cNvPr>
          <p:cNvSpPr txBox="1"/>
          <p:nvPr/>
        </p:nvSpPr>
        <p:spPr>
          <a:xfrm>
            <a:off x="10800000" y="494664"/>
            <a:ext cx="900000" cy="1800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On Track</a:t>
            </a:r>
          </a:p>
        </p:txBody>
      </p:sp>
      <p:sp>
        <p:nvSpPr>
          <p:cNvPr id="12" name="Lbl3">
            <a:extLst>
              <a:ext uri="{FF2B5EF4-FFF2-40B4-BE49-F238E27FC236}">
                <a16:creationId xmlns:a16="http://schemas.microsoft.com/office/drawing/2014/main" id="{AFF80149-C4E6-3D7F-0A67-FC1B5ABF2C2E}"/>
              </a:ext>
            </a:extLst>
          </p:cNvPr>
          <p:cNvSpPr txBox="1"/>
          <p:nvPr/>
        </p:nvSpPr>
        <p:spPr>
          <a:xfrm>
            <a:off x="9670000" y="714664"/>
            <a:ext cx="900000" cy="1800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At Risk</a:t>
            </a:r>
          </a:p>
        </p:txBody>
      </p:sp>
      <p:sp>
        <p:nvSpPr>
          <p:cNvPr id="13" name="Lbl4">
            <a:extLst>
              <a:ext uri="{FF2B5EF4-FFF2-40B4-BE49-F238E27FC236}">
                <a16:creationId xmlns:a16="http://schemas.microsoft.com/office/drawing/2014/main" id="{C326D9CC-2781-2243-1127-C9EE9B569755}"/>
              </a:ext>
            </a:extLst>
          </p:cNvPr>
          <p:cNvSpPr txBox="1"/>
          <p:nvPr/>
        </p:nvSpPr>
        <p:spPr>
          <a:xfrm>
            <a:off x="10800000" y="714664"/>
            <a:ext cx="900000" cy="1800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Off Track</a:t>
            </a:r>
          </a:p>
        </p:txBody>
      </p:sp>
      <p:sp>
        <p:nvSpPr>
          <p:cNvPr id="14" name="TextBox 15">
            <a:extLst>
              <a:ext uri="{FF2B5EF4-FFF2-40B4-BE49-F238E27FC236}">
                <a16:creationId xmlns:a16="http://schemas.microsoft.com/office/drawing/2014/main" id="{78C451CA-B3B4-2864-30B5-4EA25CF24626}"/>
              </a:ext>
            </a:extLst>
          </p:cNvPr>
          <p:cNvSpPr txBox="1"/>
          <p:nvPr/>
        </p:nvSpPr>
        <p:spPr>
          <a:xfrm>
            <a:off x="501652" y="5530472"/>
            <a:ext cx="60974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800" b="1" baseline="30000" dirty="0">
                <a:solidFill>
                  <a:srgbClr val="313131"/>
                </a:solidFill>
              </a:rPr>
              <a:t>{{PDMBLOCKEDFN}}</a:t>
            </a:r>
            <a:r>
              <a:rPr lang="en-US" sz="800" dirty="0"/>
              <a:t>{{AI_PDM_BLOCKED_NOTE}}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83EB86C3-E393-9855-719C-B9D8B9A9E97B}"/>
              </a:ext>
            </a:extLst>
          </p:cNvPr>
          <p:cNvSpPr txBox="1"/>
          <p:nvPr/>
        </p:nvSpPr>
        <p:spPr>
          <a:xfrm>
            <a:off x="501652" y="1042834"/>
            <a:ext cx="471282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latin typeface="+mj-lt"/>
              </a:rPr>
              <a:t>{{TCSOVERALLNOTE}}</a:t>
            </a:r>
            <a:endParaRPr lang="en-US" sz="900" dirty="0">
              <a:solidFill>
                <a:srgbClr val="313131"/>
              </a:solidFill>
              <a:latin typeface="+mj-lt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heme/theme1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2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3B32110-3B49-40E7-8C15-5E4A22FF8A7B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2d04b2e9-88f0-4ee7-b1e2-4de363e485c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3C35E85-8C58-304C-A673-847FAA008EB9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de739b16-9ef6-4e25-bd4a-ee9215286bc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700a5c1-c4a1-4c74-8d91-dfc8831b4c07">
      <Terms xmlns="http://schemas.microsoft.com/office/infopath/2007/PartnerControls"/>
    </lcf76f155ced4ddcb4097134ff3c332f>
    <TaxCatchAll xmlns="5e2fc1fe-2483-4566-8a07-8cb0f24750cf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A69E60AADF42347A22A5B258ECE583A" ma:contentTypeVersion="14" ma:contentTypeDescription="Create a new document." ma:contentTypeScope="" ma:versionID="69c3fb5ff2cd96113169b748a0d88327">
  <xsd:schema xmlns:xsd="http://www.w3.org/2001/XMLSchema" xmlns:xs="http://www.w3.org/2001/XMLSchema" xmlns:p="http://schemas.microsoft.com/office/2006/metadata/properties" xmlns:ns2="3700a5c1-c4a1-4c74-8d91-dfc8831b4c07" xmlns:ns3="5e2fc1fe-2483-4566-8a07-8cb0f24750cf" targetNamespace="http://schemas.microsoft.com/office/2006/metadata/properties" ma:root="true" ma:fieldsID="b2bdbd42fc06d7a21b12a9a8a90d0870" ns2:_="" ns3:_="">
    <xsd:import namespace="3700a5c1-c4a1-4c74-8d91-dfc8831b4c07"/>
    <xsd:import namespace="5e2fc1fe-2483-4566-8a07-8cb0f24750c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3:TaxCatchAll" minOccurs="0"/>
                <xsd:element ref="ns2:MediaServiceOCR" minOccurs="0"/>
                <xsd:element ref="ns2:MediaServiceGenerationTime" minOccurs="0"/>
                <xsd:element ref="ns2:lcf76f155ced4ddcb4097134ff3c332f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00a5c1-c4a1-4c74-8d91-dfc8831b4c0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798d900d-0589-4081-96eb-513de833a50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fc1fe-2483-4566-8a07-8cb0f24750cf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d388ed6f-90e6-412c-a71e-ac9f33a44bf0}" ma:internalName="TaxCatchAll" ma:showField="CatchAllData" ma:web="5e2fc1fe-2483-4566-8a07-8cb0f24750c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07376A1-CC42-438F-85FD-93A015D166A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3CA026D-4666-483B-9EA4-E4BAFDF32B68}">
  <ds:schemaRefs>
    <ds:schemaRef ds:uri="5e2fc1fe-2483-4566-8a07-8cb0f24750cf"/>
    <ds:schemaRef ds:uri="http://purl.org/dc/dcmitype/"/>
    <ds:schemaRef ds:uri="http://schemas.openxmlformats.org/package/2006/metadata/core-properties"/>
    <ds:schemaRef ds:uri="3700a5c1-c4a1-4c74-8d91-dfc8831b4c07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purl.org/dc/terms/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32684CF-211A-4A9D-ADCE-B07A85478F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00a5c1-c4a1-4c74-8d91-dfc8831b4c07"/>
    <ds:schemaRef ds:uri="5e2fc1fe-2483-4566-8a07-8cb0f24750c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2200</Words>
  <Application>Microsoft Macintosh PowerPoint</Application>
  <PresentationFormat>Widescreen</PresentationFormat>
  <Paragraphs>623</Paragraphs>
  <Slides>8</Slides>
  <Notes>8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Aptos</vt:lpstr>
      <vt:lpstr>Arial</vt:lpstr>
      <vt:lpstr>Calibri</vt:lpstr>
      <vt:lpstr>Calibri Light</vt:lpstr>
      <vt:lpstr>Verdana</vt:lpstr>
      <vt:lpstr>Wingdings 2</vt:lpstr>
      <vt:lpstr>1_Deloitte_Brand_16_9</vt:lpstr>
      <vt:lpstr>1_Deloitte_Brand_16_9</vt:lpstr>
      <vt:lpstr>think-cell Slide</vt:lpstr>
      <vt:lpstr>MMO Test Execution &amp; Defect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Khadri, Habib</dc:creator>
  <cp:lastModifiedBy>Gandhi, Samir</cp:lastModifiedBy>
  <cp:revision>11</cp:revision>
  <dcterms:created xsi:type="dcterms:W3CDTF">2026-03-30T19:40:35Z</dcterms:created>
  <dcterms:modified xsi:type="dcterms:W3CDTF">2026-09-29T12:43:08Z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0x010100CA69E60AADF42347A22A5B258ECE583A</vt:lpwstr>
  </property>
  <property fmtid="{D5CDD505-2E9C-101B-9397-08002B2CF9AE}" pid="3" name="MediaServiceImageTags">
    <vt:lpwstr/>
  </property>
</Properties>
</file>