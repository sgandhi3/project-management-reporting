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4"/>
  </p:notesMasterIdLst>
  <p:sldIdLst>
    <p:sldId id="2147483588" r:id="rId6"/>
    <p:sldId id="2147483620" r:id="rId7"/>
    <p:sldId id="2147483702" r:id="rId23"/>
    <p:sldId id="2147483614" r:id="rId8"/>
    <p:sldId id="2147483622" r:id="rId9"/>
    <p:sldId id="2147483621" r:id="rId10"/>
    <p:sldId id="2147483623" r:id="rId11"/>
    <p:sldId id="2147483608" r:id="rId12"/>
    <p:sldId id="2147483700" r:id="rId21"/>
    <p:sldId id="2147483609" r:id="rId13"/>
    <p:sldId id="214748370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2"/>
            <p14:sldId id="2147483621"/>
            <p14:sldId id="2147483623"/>
            <p14:sldId id="2147483608"/>
            <p14:sldId id="2147483700"/>
            <p14:sldId id="2147483609"/>
            <p14:sldId id="21474837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C50F"/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E393D8-7A53-4C9B-9909-442E2ED55D50}" v="1226" dt="2026-09-21T22:23:15.717"/>
    <p1510:client id="{86520559-9C2C-B64B-B429-9977961AE228}" v="187" dt="2026-09-21T22:07:42.560"/>
    <p1510:client id="{D4CCB43C-DAFA-65BB-6425-86B9D91E3F7A}" v="210" vWet="211" dt="2026-09-21T21:09:58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701D-881A-6713-C0AF-E97B8E09E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623C2-61B9-9C51-6DFE-16194B4B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2BB77-2BA5-585E-B515-654E948DC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EA809-9D70-E1F3-EB22-0E18A40E9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171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A5E5-05FD-661E-7484-665E986F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C3D26-BF68-EC22-3B7A-E6BAE39B7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99177-8E04-D839-1521-6AE0ED047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2C8CF-16E9-3B06-9848-BDB39FA39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4815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nrollmentDefect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DIDefect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r>
              <a:rPr lang="en-US" sz="100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263084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1781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276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{{PDMCURSORYDEFOPEN}}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{{PDMSITDEFOPEN}}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71975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a16:creationId xmlns:a16="http://schemas.microsoft.com/office/drawing/2014/main"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a16:creationId xmlns:a16="http://schemas.microsoft.com/office/drawing/2014/main"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a16:creationId xmlns:a16="http://schemas.microsoft.com/office/drawing/2014/main"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  <p:sp>
        <p:nvSpPr>
          <p:cNvPr id="11" name="LegendBox">
            <a:extLst>
              <a:ext uri="{FF2B5EF4-FFF2-40B4-BE49-F238E27FC236}">
                <a16:creationId xmlns:a16="http://schemas.microsoft.com/office/drawing/2014/main" id="{834828F7-8CCF-D014-B2A1-FA7B223ADFB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5FD9283-C35E-CD42-5849-79EEACFB7A44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0" name="LegendBox">
              <a:extLst>
                <a:ext uri="{FF2B5EF4-FFF2-40B4-BE49-F238E27FC236}">
                  <a16:creationId xmlns:a16="http://schemas.microsoft.com/office/drawing/2014/main" id="{9E7F1FB6-D66C-348B-B8C7-138CB4C99A64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1" name="Dot1">
              <a:extLst>
                <a:ext uri="{FF2B5EF4-FFF2-40B4-BE49-F238E27FC236}">
                  <a16:creationId xmlns:a16="http://schemas.microsoft.com/office/drawing/2014/main" id="{5F918CAD-647A-FFEC-BE75-950CECA8A67B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Lbl1">
              <a:extLst>
                <a:ext uri="{FF2B5EF4-FFF2-40B4-BE49-F238E27FC236}">
                  <a16:creationId xmlns:a16="http://schemas.microsoft.com/office/drawing/2014/main" id="{2FB5EDEA-ACD1-6393-8004-24B092E92F2C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30" name="Dot2">
              <a:extLst>
                <a:ext uri="{FF2B5EF4-FFF2-40B4-BE49-F238E27FC236}">
                  <a16:creationId xmlns:a16="http://schemas.microsoft.com/office/drawing/2014/main" id="{69F61DFD-6F87-FF9E-6F99-4EA015841059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BF3C3D1E-6713-D27F-CF4D-1A74255EAD2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EC6270FC-32C7-234E-D56E-5CC7AF1F2701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0" name="Lbl3">
              <a:extLst>
                <a:ext uri="{FF2B5EF4-FFF2-40B4-BE49-F238E27FC236}">
                  <a16:creationId xmlns:a16="http://schemas.microsoft.com/office/drawing/2014/main" id="{87378057-3253-0DFA-1659-084282424C2D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41" name="Dot4">
              <a:extLst>
                <a:ext uri="{FF2B5EF4-FFF2-40B4-BE49-F238E27FC236}">
                  <a16:creationId xmlns:a16="http://schemas.microsoft.com/office/drawing/2014/main" id="{DA47427F-D5AA-6953-81DD-ED682FB72A0A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Lbl4">
              <a:extLst>
                <a:ext uri="{FF2B5EF4-FFF2-40B4-BE49-F238E27FC236}">
                  <a16:creationId xmlns:a16="http://schemas.microsoft.com/office/drawing/2014/main" id="{C12ECC9D-BCDC-8510-CD1A-A5EC3FAC16F2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3" name="Dot3">
            <a:extLst>
              <a:ext uri="{FF2B5EF4-FFF2-40B4-BE49-F238E27FC236}">
                <a16:creationId xmlns:a16="http://schemas.microsoft.com/office/drawing/2014/main" id="{991FA8AC-D41A-89C1-C6EB-FE5914097816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47937"/>
              </p:ext>
            </p:extLst>
          </p:nvPr>
        </p:nvGraphicFramePr>
        <p:xfrm>
          <a:off x="501651" y="1490836"/>
          <a:ext cx="11175482" cy="181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2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3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 dirty="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Cursory</a:t>
                      </a:r>
                      <a:endParaRPr lang="en-US" sz="1000" b="1" baseline="30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{{PDMIT21IPTC}}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7694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{{AI_PDM_CURSORY_STATUS}}</a:t>
            </a:r>
            <a:r>
              <a:rPr lang="en-US" sz="900" b="1" i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spcBef>
                <a:spcPts val="200"/>
              </a:spcBef>
            </a:pPr>
            <a:endParaRPr lang="en-US" sz="900" dirty="0"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WorkstreamSummary">
            <a:extLst>
              <a:ext uri="{FF2B5EF4-FFF2-40B4-BE49-F238E27FC236}">
                <a16:creationId xmlns:a16="http://schemas.microsoft.com/office/drawing/2014/main" id="{CDB1D4FD-F646-A646-F27C-694A21293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791683"/>
              </p:ext>
            </p:extLst>
          </p:nvPr>
        </p:nvGraphicFramePr>
        <p:xfrm>
          <a:off x="495836" y="3457728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PDM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{{PDMSITIPTC}}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{{PDMSITDEFOPEN}}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{{PDMSITIPTC}}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{{PDMCB}}*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Iteration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3175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0836"/>
            <a:ext cx="540676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{{AI_PDM_DEFECT_INSIGHTS}}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PDM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{{AI_PDM_BURNDOWN_INSIGHTS}}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sp>
        <p:nvSpPr>
          <p:cNvPr id="9101" name="AgingCaption"/>
          <p:cNvSpPr txBox="1"/>
          <p:nvPr/>
        </p:nvSpPr>
        <p:spPr>
          <a:xfrm>
            <a:off x="6487008" y="5956791"/>
            <a:ext cx="5123714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100" b="1" dirty="0">
                <a:solidFill>
                  <a:srgbClr val="313131"/>
                </a:solidFill>
              </a:rPr>
              <a:t>Open Defects by Age (Days Since Logged):</a:t>
            </a:r>
          </a:p>
        </p:txBody>
      </p:sp>
      <p:graphicFrame>
        <p:nvGraphicFramePr>
          <p:cNvPr id="9102" name="AgingTable"/>
          <p:cNvGraphicFramePr>
            <a:graphicFrameLocks noGrp="1"/>
          </p:cNvGraphicFramePr>
          <p:nvPr/>
        </p:nvGraphicFramePr>
        <p:xfrm>
          <a:off x="6487008" y="6146791"/>
          <a:ext cx="5123714" cy="46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928"/>
                <a:gridCol w="1280928"/>
                <a:gridCol w="1280928"/>
                <a:gridCol w="1280930"/>
              </a:tblGrid>
              <a:tr h="1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047249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{{BENEPBDEF}}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{{BENE26DEF}}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590205"/>
              </p:ext>
            </p:extLst>
          </p:nvPr>
        </p:nvGraphicFramePr>
        <p:xfrm>
          <a:off x="501648" y="2916387"/>
          <a:ext cx="11163826" cy="271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{{BENESIHMDEFOPEN}}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{{BENEACPDEFOPEN}}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6377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MMEGWP PPO CWRU MAPD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{{BENEMMEGWPBTC}}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7367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Classic HMO NEOH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{{BENENEOHIPTC}}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{{BENENEOHBTC}}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636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86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5633823"/>
            <a:ext cx="859993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br>
              <a:rPr lang="en-US" sz="800">
                <a:solidFill>
                  <a:srgbClr val="313131"/>
                </a:solidFill>
              </a:rPr>
            </a:br>
            <a:r>
              <a:rPr lang="en-US" sz="800">
                <a:solidFill>
                  <a:srgbClr val="313131"/>
                </a:solidFill>
              </a:rPr>
              <a:t>Note: Additional 2026 Benefit plans are still pending test execution and are not yet reflected in these totals; they will be incorporated as testing begins.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098DD-2983-733F-C2AA-43B0BFDA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C883B3B-A4D8-5BEA-F6DA-F2C60E53A113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Benefits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6B90EBB-18F9-BA70-0220-8612AAD86C63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95F6666C-0C28-6B1E-5536-89416C45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75337"/>
              </p:ext>
            </p:extLst>
          </p:nvPr>
        </p:nvGraphicFramePr>
        <p:xfrm>
          <a:off x="501650" y="1490836"/>
          <a:ext cx="5406762" cy="17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Plan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Signature HMO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76508799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Access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29261743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Premium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376771039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Classic HMO NEOH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410738853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MMEGWP PPO CWRU MAPD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86648513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TOTAL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{{ACTIVEBENB}}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{{BENEDEFCLOSEDTOTAL}}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{{BENEDEFRESOLVEDTOTAL}}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1" name="SeverityTable"/>
          <p:cNvGraphicFramePr>
            <a:graphicFrameLocks noGrp="1"/>
          </p:cNvGraphicFramePr>
          <p:nvPr/>
        </p:nvGraphicFramePr>
        <p:xfrm>
          <a:off x="501650" y="34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4EBFBF2D-14C9-E484-A86D-DEB8E53528B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39589F60-41E6-4F82-3D22-47CE7B2B854A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7AD57AAC-B825-2AD7-CE12-069BA732F534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DE741940-02A4-217C-972F-62BDF6110BD6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959B33-EAF6-6ACD-BBAE-90A2AA35CC0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615C179A-3231-CB26-740D-5EAF3798D37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240504B-E8D8-BBF2-C779-1D407E092E4E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E5FF786F-6C18-8733-F745-44B17E81C099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9F4749C-C7E9-5F5F-E8D3-4ED341B19F14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2C5C409D-D4D7-3426-5DD6-A5A88D93D49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6645CCFE-2D4B-4768-A563-CE066C2145E6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63A99F-F10C-F476-BD18-80D172CF3ECF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{{AI_BENEFITS_DEFECT_STATUS}}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0322AFEA-DA5C-D2DD-6DB9-D53378AC1317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F2C5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E3310B2B-DD89-700B-E1AA-326FE202EC82}"/>
              </a:ext>
            </a:extLst>
          </p:cNvPr>
          <p:cNvSpPr txBox="1"/>
          <p:nvPr/>
        </p:nvSpPr>
        <p:spPr>
          <a:xfrm>
            <a:off x="514863" y="5085836"/>
            <a:ext cx="5406764" cy="1672164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lang="en-US" sz="1000">
                <a:solidFill>
                  <a:srgbClr val="333333"/>
                </a:solidFill>
              </a:rPr>
              <a:t>{{AI_BENEFITS_DEFECT_INSIGHTS}}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E3B8AB44-EBBA-05F9-372E-1F6615836CA5}"/>
              </a:ext>
            </a:extLst>
          </p:cNvPr>
          <p:cNvSpPr txBox="1"/>
          <p:nvPr/>
        </p:nvSpPr>
        <p:spPr>
          <a:xfrm>
            <a:off x="6467475" y="416331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Benefits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{{AI_BENEFITS_BURNDOWN_INSIGHTS}}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B213BD-6501-9C1B-2462-A961A2F14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618" y="1407173"/>
            <a:ext cx="4931427" cy="2641636"/>
          </a:xfrm>
          <a:prstGeom prst="rect">
            <a:avLst/>
          </a:prstGeom>
        </p:spPr>
      </p:pic>
      <p:sp>
        <p:nvSpPr>
          <p:cNvPr id="9101" name="AgingCaption"/>
          <p:cNvSpPr txBox="1"/>
          <p:nvPr/>
        </p:nvSpPr>
        <p:spPr>
          <a:xfrm>
            <a:off x="6467475" y="6116981"/>
            <a:ext cx="5123714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100" b="1" dirty="0">
                <a:solidFill>
                  <a:srgbClr val="313131"/>
                </a:solidFill>
              </a:rPr>
              <a:t>Open Defects by Age (Days Since Logged):</a:t>
            </a:r>
          </a:p>
        </p:txBody>
      </p:sp>
      <p:graphicFrame>
        <p:nvGraphicFramePr>
          <p:cNvPr id="9102" name="AgingTable"/>
          <p:cNvGraphicFramePr>
            <a:graphicFrameLocks noGrp="1"/>
          </p:cNvGraphicFramePr>
          <p:nvPr/>
        </p:nvGraphicFramePr>
        <p:xfrm>
          <a:off x="6467475" y="6306981"/>
          <a:ext cx="5123714" cy="46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928"/>
                <a:gridCol w="1280928"/>
                <a:gridCol w="1280928"/>
                <a:gridCol w="1280930"/>
              </a:tblGrid>
              <a:tr h="1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5395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696595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  <p:sp>
        <p:nvSpPr>
          <p:cNvPr id="14" name="Dot2">
            <a:extLst>
              <a:ext uri="{FF2B5EF4-FFF2-40B4-BE49-F238E27FC236}">
                <a16:creationId xmlns:a16="http://schemas.microsoft.com/office/drawing/2014/main" id="{AC6FC462-1D10-858D-0557-F92946F56FA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Enrollment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{{AI_ENROLLMENT_DEFECT_STATUS}}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185836"/>
            <a:ext cx="540676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{{AI_ENROLLMENT_DEFECT_INSIGHTS}}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Enrollment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{{AI_ENROLLMENT_BURNDOWN_INSIGHTS}}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sp>
        <p:nvSpPr>
          <p:cNvPr id="9101" name="AgingCaption"/>
          <p:cNvSpPr txBox="1"/>
          <p:nvPr/>
        </p:nvSpPr>
        <p:spPr>
          <a:xfrm>
            <a:off x="6487008" y="5956791"/>
            <a:ext cx="5123714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100" b="1" dirty="0">
                <a:solidFill>
                  <a:srgbClr val="313131"/>
                </a:solidFill>
              </a:rPr>
              <a:t>Open Defects by Age (Days Since Logged):</a:t>
            </a:r>
          </a:p>
        </p:txBody>
      </p:sp>
      <p:graphicFrame>
        <p:nvGraphicFramePr>
          <p:cNvPr id="9102" name="AgingTable"/>
          <p:cNvGraphicFramePr>
            <a:graphicFrameLocks noGrp="1"/>
          </p:cNvGraphicFramePr>
          <p:nvPr/>
        </p:nvGraphicFramePr>
        <p:xfrm>
          <a:off x="6487008" y="6146791"/>
          <a:ext cx="5123714" cy="46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928"/>
                <a:gridCol w="1280928"/>
                <a:gridCol w="1280928"/>
                <a:gridCol w="1280930"/>
              </a:tblGrid>
              <a:tr h="1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EDI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{{AI_EDI_DEFECT_STATUS}}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185836"/>
            <a:ext cx="540676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{{AI_EDI_DEFECT_INSIGHTS}}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EDI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{{AI_EDI_BURNDOWN_INSIGHTS}}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sp>
        <p:nvSpPr>
          <p:cNvPr id="9101" name="AgingCaption"/>
          <p:cNvSpPr txBox="1"/>
          <p:nvPr/>
        </p:nvSpPr>
        <p:spPr>
          <a:xfrm>
            <a:off x="6487008" y="5956791"/>
            <a:ext cx="5123714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100" b="1" dirty="0">
                <a:solidFill>
                  <a:srgbClr val="313131"/>
                </a:solidFill>
              </a:rPr>
              <a:t>Open Defects by Age (Days Since Logged):</a:t>
            </a:r>
          </a:p>
        </p:txBody>
      </p:sp>
      <p:graphicFrame>
        <p:nvGraphicFramePr>
          <p:cNvPr id="9102" name="AgingTable"/>
          <p:cNvGraphicFramePr>
            <a:graphicFrameLocks noGrp="1"/>
          </p:cNvGraphicFramePr>
          <p:nvPr/>
        </p:nvGraphicFramePr>
        <p:xfrm>
          <a:off x="6487008" y="6146791"/>
          <a:ext cx="5123714" cy="46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928"/>
                <a:gridCol w="1280928"/>
                <a:gridCol w="1280928"/>
                <a:gridCol w="1280930"/>
              </a:tblGrid>
              <a:tr h="1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buNone/>
            </a:pPr>
            <a:r>
              <a:rPr lang="en-US" sz="2400" b="1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Test Case Planning Summary | SIT Overview</a:t>
            </a: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4" name="TestCaseSummary"/>
          <p:cNvGraphicFramePr>
            <a:graphicFrameLocks noGrp="1"/>
          </p:cNvGraphicFramePr>
          <p:nvPr/>
        </p:nvGraphicFramePr>
        <p:xfrm>
          <a:off x="501652" y="1490472"/>
          <a:ext cx="11163826" cy="177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05840"/>
                <a:gridCol w="1234440"/>
                <a:gridCol w="1737360"/>
                <a:gridCol w="1280160"/>
                <a:gridCol w="1097280"/>
                <a:gridCol w="1280160"/>
                <a:gridCol w="3528586"/>
              </a:tblGrid>
              <a:tr h="230000">
                <a:tc gridSpan="7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 Case Planning Summary — By Workstream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WS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Test Cases in ADO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Test case count (Industry Best Practice)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SIT End Date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Comments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PDM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{{PDMTCSBENCH}}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{{PDMTCSCOMMENTS}}</a:t>
                      </a:r>
                    </a:p>
                  </a:txBody>
                  <a:tcPr marL="9525" marR="9525" marT="9525" marB="0" anchor="ctr"/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Benefits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{{BENETCSBENCH}}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{{BENETCSCOMMENTS}}</a:t>
                      </a:r>
                    </a:p>
                  </a:txBody>
                  <a:tcPr marL="9525" marR="9525" marT="9525" marB="0" anchor="ctr"/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Enrollment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{{ENROTCSBENCH}}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{{ENROTCSCOMMENTS}}</a:t>
                      </a:r>
                    </a:p>
                  </a:txBody>
                  <a:tcPr marL="9525" marR="9525" marT="9525" marB="0" anchor="ctr"/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EDI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{{EDITCSBENCH}}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{{EDITCSCOMMENTS}}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sp>
        <p:nvSpPr>
          <p:cNvPr id="5" name="TextBox 1"/>
          <p:cNvSpPr txBox="1"/>
          <p:nvPr/>
        </p:nvSpPr>
        <p:spPr>
          <a:xfrm>
            <a:off x="501652" y="3380472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900" i="1" dirty="0">
                <a:solidFill>
                  <a:srgbClr val="595959"/>
                </a:solidFill>
              </a:rPr>
              <a:t>Industry Best Practice counts are planning estimates (config.js), not a published external standard. Comments are filled in manually.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700a5c1-c4a1-4c74-8d91-dfc8831b4c07">
      <Terms xmlns="http://schemas.microsoft.com/office/infopath/2007/PartnerControls"/>
    </lcf76f155ced4ddcb4097134ff3c332f>
    <TaxCatchAll xmlns="5e2fc1fe-2483-4566-8a07-8cb0f24750cf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A69E60AADF42347A22A5B258ECE583A" ma:contentTypeVersion="14" ma:contentTypeDescription="Create a new document." ma:contentTypeScope="" ma:versionID="69c3fb5ff2cd96113169b748a0d88327">
  <xsd:schema xmlns:xsd="http://www.w3.org/2001/XMLSchema" xmlns:xs="http://www.w3.org/2001/XMLSchema" xmlns:p="http://schemas.microsoft.com/office/2006/metadata/properties" xmlns:ns2="3700a5c1-c4a1-4c74-8d91-dfc8831b4c07" xmlns:ns3="5e2fc1fe-2483-4566-8a07-8cb0f24750cf" targetNamespace="http://schemas.microsoft.com/office/2006/metadata/properties" ma:root="true" ma:fieldsID="b2bdbd42fc06d7a21b12a9a8a90d0870" ns2:_="" ns3:_="">
    <xsd:import namespace="3700a5c1-c4a1-4c74-8d91-dfc8831b4c07"/>
    <xsd:import namespace="5e2fc1fe-2483-4566-8a07-8cb0f24750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3:TaxCatchAll" minOccurs="0"/>
                <xsd:element ref="ns2:MediaServiceOCR" minOccurs="0"/>
                <xsd:element ref="ns2:MediaServiceGenerationTime" minOccurs="0"/>
                <xsd:element ref="ns2:lcf76f155ced4ddcb4097134ff3c332f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00a5c1-c4a1-4c74-8d91-dfc8831b4c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fc1fe-2483-4566-8a07-8cb0f24750cf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d388ed6f-90e6-412c-a71e-ac9f33a44bf0}" ma:internalName="TaxCatchAll" ma:showField="CatchAllData" ma:web="5e2fc1fe-2483-4566-8a07-8cb0f24750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5e2fc1fe-2483-4566-8a07-8cb0f24750cf"/>
    <ds:schemaRef ds:uri="http://purl.org/dc/dcmitype/"/>
    <ds:schemaRef ds:uri="http://schemas.openxmlformats.org/package/2006/metadata/core-properties"/>
    <ds:schemaRef ds:uri="3700a5c1-c4a1-4c74-8d91-dfc8831b4c07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2684CF-211A-4A9D-ADCE-B07A85478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00a5c1-c4a1-4c74-8d91-dfc8831b4c07"/>
    <ds:schemaRef ds:uri="5e2fc1fe-2483-4566-8a07-8cb0f24750c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2200</Words>
  <Application>Microsoft Macintosh PowerPoint</Application>
  <PresentationFormat>Widescreen</PresentationFormat>
  <Paragraphs>623</Paragraphs>
  <Slides>8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11</cp:revision>
  <dcterms:created xsi:type="dcterms:W3CDTF">2026-03-30T19:40:35Z</dcterms:created>
  <dcterms:modified xsi:type="dcterms:W3CDTF">2026-09-29T12:43:08Z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0x010100CA69E60AADF42347A22A5B258ECE583A</vt:lpwstr>
  </property>
  <property fmtid="{D5CDD505-2E9C-101B-9397-08002B2CF9AE}" pid="3" name="MediaServiceImageTags">
    <vt:lpwstr/>
  </property>
</Properties>
</file>