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4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5" r:id="rId26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3" r:id="rId24"/>
    <p:sldId id="2147483701" r:id="rId22"/>
    <p:sldId id="214748370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  <p14:sldId id="2147483705"/>
            <p14:sldId id="2147483702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3"/>
            <p14:sldId id="2147483701"/>
            <p14:sldId id="21474837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145</c:v>
                </c:pt>
                <c:pt idx="1">
                  <c:v>140</c:v>
                </c:pt>
                <c:pt idx="2">
                  <c:v>170</c:v>
                </c:pt>
                <c:pt idx="3">
                  <c:v>200</c:v>
                </c:pt>
                <c:pt idx="4">
                  <c:v>202</c:v>
                </c:pt>
                <c:pt idx="5">
                  <c:v>217</c:v>
                </c:pt>
                <c:pt idx="6">
                  <c:v>290</c:v>
                </c:pt>
                <c:pt idx="7">
                  <c:v>346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59-4C44-84D1-2BCCDD51A6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 backlog</c:v>
                </c:pt>
              </c:strCache>
            </c:strRef>
          </c:tx>
          <c:spPr>
            <a:solidFill>
              <a:srgbClr val="F9D9D6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110</c:v>
                </c:pt>
                <c:pt idx="1">
                  <c:v>152</c:v>
                </c:pt>
                <c:pt idx="2">
                  <c:v>147</c:v>
                </c:pt>
                <c:pt idx="3">
                  <c:v>143</c:v>
                </c:pt>
                <c:pt idx="4">
                  <c:v>140</c:v>
                </c:pt>
                <c:pt idx="5">
                  <c:v>145</c:v>
                </c:pt>
                <c:pt idx="6">
                  <c:v>150</c:v>
                </c:pt>
                <c:pt idx="7">
                  <c:v>121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B59-4C44-84D1-2BCCDD51A6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defects logged</c:v>
                </c:pt>
              </c:strCache>
            </c:strRef>
          </c:tx>
          <c:spPr>
            <a:ln w="25400">
              <a:solidFill>
                <a:srgbClr val="D94B3F"/>
              </a:solidFill>
            </a:ln>
          </c:spPr>
          <c:marker>
            <c:symbol val="circle"/>
            <c:size val="4"/>
            <c:spPr>
              <a:solidFill>
                <a:srgbClr val="D94B3F"/>
              </a:solidFill>
              <a:ln>
                <a:solidFill>
                  <a:srgbClr val="D94B3F"/>
                </a:solidFill>
              </a:ln>
            </c:spPr>
          </c:marker>
          <c:dLbls>
            <c:dLbl>
              <c:idx val="7"/>
              <c:spPr/>
              <c:txPr>
                <a:bodyPr/>
                <a:lstStyle/>
                <a:p>
                  <a:pPr>
                    <a:defRPr sz="900" b="1">
                      <a:solidFill>
                        <a:srgbClr val="D94B3F"/>
                      </a:solidFill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B59-4C44-84D1-2BCCDD51A6A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255</c:v>
                </c:pt>
                <c:pt idx="1">
                  <c:v>292</c:v>
                </c:pt>
                <c:pt idx="2">
                  <c:v>317</c:v>
                </c:pt>
                <c:pt idx="3">
                  <c:v>343</c:v>
                </c:pt>
                <c:pt idx="4">
                  <c:v>342</c:v>
                </c:pt>
                <c:pt idx="5">
                  <c:v>362</c:v>
                </c:pt>
                <c:pt idx="6">
                  <c:v>440</c:v>
                </c:pt>
                <c:pt idx="7">
                  <c:v>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B59-4C44-84D1-2BCCDD51A6A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defects closed/resolved</c:v>
                </c:pt>
              </c:strCache>
            </c:strRef>
          </c:tx>
          <c:spPr>
            <a:ln w="25400">
              <a:solidFill>
                <a:srgbClr val="2E9E4F"/>
              </a:solidFill>
            </a:ln>
          </c:spPr>
          <c:marker>
            <c:symbol val="circle"/>
            <c:size val="4"/>
            <c:spPr>
              <a:solidFill>
                <a:srgbClr val="2E9E4F"/>
              </a:solidFill>
              <a:ln>
                <a:solidFill>
                  <a:srgbClr val="2E9E4F"/>
                </a:solidFill>
              </a:ln>
            </c:spPr>
          </c:marker>
          <c:dLbls>
            <c:dLbl>
              <c:idx val="7"/>
              <c:spPr/>
              <c:txPr>
                <a:bodyPr/>
                <a:lstStyle/>
                <a:p>
                  <a:pPr>
                    <a:defRPr sz="900" b="1">
                      <a:solidFill>
                        <a:srgbClr val="2E9E4F"/>
                      </a:solidFill>
                    </a:defRPr>
                  </a:pPr>
                  <a:endParaRPr lang="en-US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B59-4C44-84D1-2BCCDD51A6A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Sep 17</c:v>
                </c:pt>
                <c:pt idx="1">
                  <c:v>Sep 21</c:v>
                </c:pt>
                <c:pt idx="2">
                  <c:v>Sep 25</c:v>
                </c:pt>
                <c:pt idx="3">
                  <c:v>Sep 29</c:v>
                </c:pt>
                <c:pt idx="4">
                  <c:v>Oct 3</c:v>
                </c:pt>
                <c:pt idx="5">
                  <c:v>Oct 7</c:v>
                </c:pt>
                <c:pt idx="6">
                  <c:v>Oct 11</c:v>
                </c:pt>
                <c:pt idx="7">
                  <c:v>Oct 13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145</c:v>
                </c:pt>
                <c:pt idx="1">
                  <c:v>140</c:v>
                </c:pt>
                <c:pt idx="2">
                  <c:v>170</c:v>
                </c:pt>
                <c:pt idx="3">
                  <c:v>200</c:v>
                </c:pt>
                <c:pt idx="4">
                  <c:v>202</c:v>
                </c:pt>
                <c:pt idx="5">
                  <c:v>217</c:v>
                </c:pt>
                <c:pt idx="6">
                  <c:v>290</c:v>
                </c:pt>
                <c:pt idx="7">
                  <c:v>346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8B59-4C44-84D1-2BCCDD51A6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101159928"/>
        <c:axId val="-2100718248"/>
      </c:line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500"/>
          <c:min val="0"/>
        </c:scaling>
        <c:delete val="0"/>
        <c:axPos val="l"/>
        <c:majorGridlines>
          <c:spPr>
            <a:ln>
              <a:solidFill>
                <a:srgbClr val="E3E8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01159928"/>
        <c:crosses val="autoZero"/>
        <c:crossBetween val="midCat"/>
      </c:valAx>
    </c:plotArea>
    <c:legend>
      <c:legendPos val="t"/>
      <c:legendEntry>
        <c:idx val="0"/>
        <c:delete val="1"/>
      </c:legendEntry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zero"/>
    <c:showDLblsOverMax val="0"/>
  </c:chart>
  <c:txPr>
    <a:bodyPr/>
    <a:lstStyle/>
    <a:p>
      <a:pPr>
        <a:defRPr sz="800"/>
      </a:pPr>
      <a:endParaRPr lang="en-US"/>
    </a:p>
  </c:tx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SourceDefect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</a:rPr>
              <a:t>{{AI_PDM_ITERATION_UPDATE}}</a:t>
            </a:r>
            <a:endParaRPr lang="en-US" sz="85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{{AI_ENROLLMENT_UPDATE}}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{{AI_CLAIMS_UPDATE}}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{{AI_SOURCE_UPDATE}}</a:t>
            </a:r>
            <a:r>
              <a:rPr lang="en-US" sz="85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</a:rPr>
              <a:t>{{AI_PDM_DEFECT_SUMMARY}}</a:t>
            </a:r>
          </a:p>
          <a:p>
            <a:pPr marL="171450" indent="-171450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17176" y="2815458"/>
          <a:ext cx="5163863" cy="29503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Source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{{SRCFTC}}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{{SRCFP}}%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{{SRCB}}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602677600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711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4874534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019016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134923"/>
            <a:ext cx="8599932" cy="44627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5558606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10/15/2026{{PDMSITENDTBD}}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  <a:r>
                        <a:rPr lang="en-US" sz="1000" baseline="30000" dirty="0">
                          <a:latin typeface="+mn-lt"/>
                        </a:rPr>
                        <a:t>{{PDMBLOCKEDFN}}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  <a:r>
                        <a:rPr lang="en-US" sz="1000" b="1" baseline="30000" dirty="0">
                          <a:solidFill>
                            <a:schemeClr val="bg1"/>
                          </a:solidFill>
                        </a:rPr>
                        <a:t>***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10/23/2026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10/23/2026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Execution vs Planned Summary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4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7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26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55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869">
                  <a:extLst>
                    <a:ext uri="{9D8B030D-6E8A-4147-A177-3AD203B41FA5}">
                      <a16:colId xmlns:a16="http://schemas.microsoft.com/office/drawing/2014/main" val="3307393051"/>
                    </a:ext>
                  </a:extLst>
                </a:gridCol>
                <a:gridCol w="1401510">
                  <a:extLst>
                    <a:ext uri="{9D8B030D-6E8A-4147-A177-3AD203B41FA5}">
                      <a16:colId xmlns:a16="http://schemas.microsoft.com/office/drawing/2014/main" val="105257043"/>
                    </a:ext>
                  </a:extLst>
                </a:gridCol>
                <a:gridCol w="10340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305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0000">
                <a:tc gridSpan="9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6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Delta #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  <a:r>
                        <a:rPr lang="en-US" sz="1000" b="1" baseline="30000" dirty="0">
                          <a:solidFill>
                            <a:srgbClr val="313131"/>
                          </a:solidFill>
                        </a:rPr>
                        <a:t>{{PDMBLOCKEDFN}}</a:t>
                      </a:r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Source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</a:tbl>
          </a:graphicData>
        </a:graphic>
      </p:graphicFrame>
      <p:sp>
        <p:nvSpPr>
          <p:cNvPr id="5" name="LegendBox">
            <a:extLst>
              <a:ext uri="{FF2B5EF4-FFF2-40B4-BE49-F238E27FC236}">
                <a16:creationId xmlns:a16="http://schemas.microsoft.com/office/drawing/2014/main" id="{F26FE7B8-4501-2CE6-D446-AD2B8456ECA9}"/>
              </a:ext>
            </a:extLst>
          </p:cNvPr>
          <p:cNvSpPr/>
          <p:nvPr/>
        </p:nvSpPr>
        <p:spPr>
          <a:xfrm>
            <a:off x="9400000" y="280000"/>
            <a:ext cx="2290000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Legend:</a:t>
            </a:r>
          </a:p>
        </p:txBody>
      </p:sp>
      <p:sp>
        <p:nvSpPr>
          <p:cNvPr id="6" name="Dot1">
            <a:extLst>
              <a:ext uri="{FF2B5EF4-FFF2-40B4-BE49-F238E27FC236}">
                <a16:creationId xmlns:a16="http://schemas.microsoft.com/office/drawing/2014/main" id="{03A2C5E1-E9F9-EFF5-9912-E63D1FF15CBB}"/>
              </a:ext>
            </a:extLst>
          </p:cNvPr>
          <p:cNvSpPr/>
          <p:nvPr/>
        </p:nvSpPr>
        <p:spPr>
          <a:xfrm>
            <a:off x="9520000" y="500000"/>
            <a:ext cx="120000" cy="1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0933F1C2-EB80-E5A0-8965-9DD5A2C97C40}"/>
              </a:ext>
            </a:extLst>
          </p:cNvPr>
          <p:cNvSpPr/>
          <p:nvPr/>
        </p:nvSpPr>
        <p:spPr>
          <a:xfrm>
            <a:off x="10650000" y="500000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B757F134-97E1-0AD5-F710-4BB5E8DC84A8}"/>
              </a:ext>
            </a:extLst>
          </p:cNvPr>
          <p:cNvSpPr/>
          <p:nvPr/>
        </p:nvSpPr>
        <p:spPr>
          <a:xfrm>
            <a:off x="9520000" y="720000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Dot4">
            <a:extLst>
              <a:ext uri="{FF2B5EF4-FFF2-40B4-BE49-F238E27FC236}">
                <a16:creationId xmlns:a16="http://schemas.microsoft.com/office/drawing/2014/main" id="{605F17F2-62DA-778F-1C8A-C286679A9D54}"/>
              </a:ext>
            </a:extLst>
          </p:cNvPr>
          <p:cNvSpPr/>
          <p:nvPr/>
        </p:nvSpPr>
        <p:spPr>
          <a:xfrm>
            <a:off x="10650000" y="72000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Lbl1">
            <a:extLst>
              <a:ext uri="{FF2B5EF4-FFF2-40B4-BE49-F238E27FC236}">
                <a16:creationId xmlns:a16="http://schemas.microsoft.com/office/drawing/2014/main" id="{3E4191A9-8B01-8FE9-8E85-CE74E4922AB8}"/>
              </a:ext>
            </a:extLst>
          </p:cNvPr>
          <p:cNvSpPr txBox="1"/>
          <p:nvPr/>
        </p:nvSpPr>
        <p:spPr>
          <a:xfrm>
            <a:off x="967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Complete</a:t>
            </a:r>
          </a:p>
        </p:txBody>
      </p:sp>
      <p:sp>
        <p:nvSpPr>
          <p:cNvPr id="11" name="Lbl2">
            <a:extLst>
              <a:ext uri="{FF2B5EF4-FFF2-40B4-BE49-F238E27FC236}">
                <a16:creationId xmlns:a16="http://schemas.microsoft.com/office/drawing/2014/main" id="{7866DE4B-7BCA-DEF8-702A-E327D7551DD6}"/>
              </a:ext>
            </a:extLst>
          </p:cNvPr>
          <p:cNvSpPr txBox="1"/>
          <p:nvPr/>
        </p:nvSpPr>
        <p:spPr>
          <a:xfrm>
            <a:off x="10800000" y="49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 Track</a:t>
            </a:r>
          </a:p>
        </p:txBody>
      </p:sp>
      <p:sp>
        <p:nvSpPr>
          <p:cNvPr id="12" name="Lbl3">
            <a:extLst>
              <a:ext uri="{FF2B5EF4-FFF2-40B4-BE49-F238E27FC236}">
                <a16:creationId xmlns:a16="http://schemas.microsoft.com/office/drawing/2014/main" id="{AFF80149-C4E6-3D7F-0A67-FC1B5ABF2C2E}"/>
              </a:ext>
            </a:extLst>
          </p:cNvPr>
          <p:cNvSpPr txBox="1"/>
          <p:nvPr/>
        </p:nvSpPr>
        <p:spPr>
          <a:xfrm>
            <a:off x="967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Risk</a:t>
            </a:r>
          </a:p>
        </p:txBody>
      </p:sp>
      <p:sp>
        <p:nvSpPr>
          <p:cNvPr id="13" name="Lbl4">
            <a:extLst>
              <a:ext uri="{FF2B5EF4-FFF2-40B4-BE49-F238E27FC236}">
                <a16:creationId xmlns:a16="http://schemas.microsoft.com/office/drawing/2014/main" id="{C326D9CC-2781-2243-1127-C9EE9B569755}"/>
              </a:ext>
            </a:extLst>
          </p:cNvPr>
          <p:cNvSpPr txBox="1"/>
          <p:nvPr/>
        </p:nvSpPr>
        <p:spPr>
          <a:xfrm>
            <a:off x="10800000" y="714664"/>
            <a:ext cx="900000" cy="180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Off Track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78C451CA-B3B4-2864-30B5-4EA25CF24626}"/>
              </a:ext>
            </a:extLst>
          </p:cNvPr>
          <p:cNvSpPr txBox="1"/>
          <p:nvPr/>
        </p:nvSpPr>
        <p:spPr>
          <a:xfrm>
            <a:off x="501652" y="5530472"/>
            <a:ext cx="60974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800" b="1" baseline="30000" dirty="0">
                <a:solidFill>
                  <a:srgbClr val="313131"/>
                </a:solidFill>
              </a:rPr>
              <a:t>{{PDMBLOCKEDFN}}</a:t>
            </a:r>
            <a:r>
              <a:rPr lang="en-US" sz="800" dirty="0"/>
              <a:t>{{AI_PDM_BLOCKED_NOTE}}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3EB86C3-E393-9855-719C-B9D8B9A9E97B}"/>
              </a:ext>
            </a:extLst>
          </p:cNvPr>
          <p:cNvSpPr txBox="1"/>
          <p:nvPr/>
        </p:nvSpPr>
        <p:spPr>
          <a:xfrm>
            <a:off x="501652" y="1042834"/>
            <a:ext cx="471282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latin typeface="+mj-lt"/>
              </a:rPr>
              <a:t>{{TCSOVERALLNOTE}}</a:t>
            </a:r>
            <a:endParaRPr lang="en-US" sz="900" dirty="0">
              <a:solidFill>
                <a:srgbClr val="31313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Source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11/15/2026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{{SRCNSTC}}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{{SRCB}}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{{SRCBTC}}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{{SRCNSTC}}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{{SRCB}}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{{AI_SOURCE_STATUS}}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/>
              <a:t>ADO Source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{{AI_SOURCE_DEFECT_STATUS}}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{{AI_SOURCE_DEFECT_INSIGHTS}}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Source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{{AI_SOURCE_BURNDOWN_INSIGHTS}}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{{SRCAGE31P}}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0C83-68D3-1C27-A4F3-6DE450164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80BA34A-A549-D56D-8353-3B64D4FBAE34}"/>
              </a:ext>
            </a:extLst>
          </p:cNvPr>
          <p:cNvSpPr/>
          <p:nvPr/>
        </p:nvSpPr>
        <p:spPr>
          <a:xfrm>
            <a:off x="385404" y="210457"/>
            <a:ext cx="10969943" cy="438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>
                <a:solidFill>
                  <a:prstClr val="black"/>
                </a:solidFill>
                <a:latin typeface="+mj-lt"/>
                <a:ea typeface="+mj-ea"/>
                <a:cs typeface="Calibri Light"/>
              </a:rPr>
              <a:t>Defects Dashboard </a:t>
            </a:r>
          </a:p>
        </p:txBody>
      </p:sp>
      <p:sp>
        <p:nvSpPr>
          <p:cNvPr id="4" name="SectionHead">
            <a:extLst>
              <a:ext uri="{FF2B5EF4-FFF2-40B4-BE49-F238E27FC236}">
                <a16:creationId xmlns:a16="http://schemas.microsoft.com/office/drawing/2014/main" id="{BCDF28C5-68B7-81DD-684D-E11FE0F4A7DE}"/>
              </a:ext>
            </a:extLst>
          </p:cNvPr>
          <p:cNvSpPr txBox="1"/>
          <p:nvPr/>
        </p:nvSpPr>
        <p:spPr>
          <a:xfrm>
            <a:off x="419011" y="2373816"/>
            <a:ext cx="6320117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i="1" spc="8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SNAPSHOT OF OFF TRACK / AT RISK DEFECT GROUPS</a:t>
            </a:r>
          </a:p>
        </p:txBody>
      </p:sp>
      <p:sp>
        <p:nvSpPr>
          <p:cNvPr id="7" name="InventoryBox">
            <a:extLst>
              <a:ext uri="{FF2B5EF4-FFF2-40B4-BE49-F238E27FC236}">
                <a16:creationId xmlns:a16="http://schemas.microsoft.com/office/drawing/2014/main" id="{0F70E368-8782-F7F1-6AEE-DD75DAA91A71}"/>
              </a:ext>
            </a:extLst>
          </p:cNvPr>
          <p:cNvSpPr/>
          <p:nvPr/>
        </p:nvSpPr>
        <p:spPr>
          <a:xfrm>
            <a:off x="540931" y="928680"/>
            <a:ext cx="10994416" cy="133000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00A3A3"/>
            </a:solidFill>
            <a:prstDash val="dash"/>
          </a:ln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InventoryLabel">
            <a:extLst>
              <a:ext uri="{FF2B5EF4-FFF2-40B4-BE49-F238E27FC236}">
                <a16:creationId xmlns:a16="http://schemas.microsoft.com/office/drawing/2014/main" id="{F09B30AF-1B9C-8536-F786-427AE963A973}"/>
              </a:ext>
            </a:extLst>
          </p:cNvPr>
          <p:cNvSpPr txBox="1"/>
          <p:nvPr/>
        </p:nvSpPr>
        <p:spPr>
          <a:xfrm>
            <a:off x="720931" y="1030392"/>
            <a:ext cx="7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spc="100">
                <a:solidFill>
                  <a:srgbClr val="007F8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METRICS</a:t>
            </a:r>
            <a:r>
              <a:rPr lang="en-US" sz="110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As of {{Date}}</a:t>
            </a:r>
          </a:p>
        </p:txBody>
      </p:sp>
      <p:sp>
        <p:nvSpPr>
          <p:cNvPr id="9" name="Tile1">
            <a:extLst>
              <a:ext uri="{FF2B5EF4-FFF2-40B4-BE49-F238E27FC236}">
                <a16:creationId xmlns:a16="http://schemas.microsoft.com/office/drawing/2014/main" id="{95A473EB-9DF7-55A0-A956-911B5C945CED}"/>
              </a:ext>
            </a:extLst>
          </p:cNvPr>
          <p:cNvSpPr/>
          <p:nvPr/>
        </p:nvSpPr>
        <p:spPr>
          <a:xfrm>
            <a:off x="720931" y="1270392"/>
            <a:ext cx="1900000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ile1T">
            <a:extLst>
              <a:ext uri="{FF2B5EF4-FFF2-40B4-BE49-F238E27FC236}">
                <a16:creationId xmlns:a16="http://schemas.microsoft.com/office/drawing/2014/main" id="{1E3A78A3-1937-E802-0C5D-270F877DEF0A}"/>
              </a:ext>
            </a:extLst>
          </p:cNvPr>
          <p:cNvSpPr txBox="1"/>
          <p:nvPr/>
        </p:nvSpPr>
        <p:spPr>
          <a:xfrm>
            <a:off x="870931" y="1350392"/>
            <a:ext cx="16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{{DASHTOTAL}}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defects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workstreams</a:t>
            </a:r>
          </a:p>
        </p:txBody>
      </p:sp>
      <p:sp>
        <p:nvSpPr>
          <p:cNvPr id="11" name="Tile2">
            <a:extLst>
              <a:ext uri="{FF2B5EF4-FFF2-40B4-BE49-F238E27FC236}">
                <a16:creationId xmlns:a16="http://schemas.microsoft.com/office/drawing/2014/main" id="{CBEA0B4A-52BB-3C24-78C0-C9D08BA5989F}"/>
              </a:ext>
            </a:extLst>
          </p:cNvPr>
          <p:cNvSpPr/>
          <p:nvPr/>
        </p:nvSpPr>
        <p:spPr>
          <a:xfrm>
            <a:off x="2904535" y="1270392"/>
            <a:ext cx="1900000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ile2T">
            <a:extLst>
              <a:ext uri="{FF2B5EF4-FFF2-40B4-BE49-F238E27FC236}">
                <a16:creationId xmlns:a16="http://schemas.microsoft.com/office/drawing/2014/main" id="{D73D302A-ED40-A56C-7A94-D1AFF22A5F6A}"/>
              </a:ext>
            </a:extLst>
          </p:cNvPr>
          <p:cNvSpPr txBox="1"/>
          <p:nvPr/>
        </p:nvSpPr>
        <p:spPr>
          <a:xfrm>
            <a:off x="3054535" y="1350392"/>
            <a:ext cx="16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16A3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{{DASHCLOSED}}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Closed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{{DASHCLOSEDPCT}}% of total</a:t>
            </a:r>
          </a:p>
        </p:txBody>
      </p:sp>
      <p:sp>
        <p:nvSpPr>
          <p:cNvPr id="13" name="Tile3">
            <a:extLst>
              <a:ext uri="{FF2B5EF4-FFF2-40B4-BE49-F238E27FC236}">
                <a16:creationId xmlns:a16="http://schemas.microsoft.com/office/drawing/2014/main" id="{3CA696FB-15A9-5A88-80EC-9336702CAFEF}"/>
              </a:ext>
            </a:extLst>
          </p:cNvPr>
          <p:cNvSpPr/>
          <p:nvPr/>
        </p:nvSpPr>
        <p:spPr>
          <a:xfrm>
            <a:off x="5088139" y="1270392"/>
            <a:ext cx="1900000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ile3T">
            <a:extLst>
              <a:ext uri="{FF2B5EF4-FFF2-40B4-BE49-F238E27FC236}">
                <a16:creationId xmlns:a16="http://schemas.microsoft.com/office/drawing/2014/main" id="{43E0B4F8-BAE4-8CB6-4024-6F58AA9F2640}"/>
              </a:ext>
            </a:extLst>
          </p:cNvPr>
          <p:cNvSpPr txBox="1"/>
          <p:nvPr/>
        </p:nvSpPr>
        <p:spPr>
          <a:xfrm>
            <a:off x="5238139" y="1350392"/>
            <a:ext cx="16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F26B5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{{DASHOPEN}}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{{DASHOPENPCT}}% of total</a:t>
            </a:r>
          </a:p>
        </p:txBody>
      </p:sp>
      <p:sp>
        <p:nvSpPr>
          <p:cNvPr id="15" name="Tile4">
            <a:extLst>
              <a:ext uri="{FF2B5EF4-FFF2-40B4-BE49-F238E27FC236}">
                <a16:creationId xmlns:a16="http://schemas.microsoft.com/office/drawing/2014/main" id="{A61593D7-A4F3-A315-F093-B3D3C78026F6}"/>
              </a:ext>
            </a:extLst>
          </p:cNvPr>
          <p:cNvSpPr/>
          <p:nvPr/>
        </p:nvSpPr>
        <p:spPr>
          <a:xfrm>
            <a:off x="9455347" y="1270392"/>
            <a:ext cx="1900000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ile4T">
            <a:extLst>
              <a:ext uri="{FF2B5EF4-FFF2-40B4-BE49-F238E27FC236}">
                <a16:creationId xmlns:a16="http://schemas.microsoft.com/office/drawing/2014/main" id="{0BE7F68F-964B-832F-E254-D46768C38D40}"/>
              </a:ext>
            </a:extLst>
          </p:cNvPr>
          <p:cNvSpPr txBox="1"/>
          <p:nvPr/>
        </p:nvSpPr>
        <p:spPr>
          <a:xfrm>
            <a:off x="9605347" y="1350392"/>
            <a:ext cx="16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{{DASHOLD}}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over 14 days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{{DASHOLDPCT}}% of open</a:t>
            </a:r>
          </a:p>
        </p:txBody>
      </p:sp>
      <p:sp>
        <p:nvSpPr>
          <p:cNvPr id="17" name="Tile5">
            <a:extLst>
              <a:ext uri="{FF2B5EF4-FFF2-40B4-BE49-F238E27FC236}">
                <a16:creationId xmlns:a16="http://schemas.microsoft.com/office/drawing/2014/main" id="{8836F534-B0E4-1AFE-4A14-2BC6893D4E12}"/>
              </a:ext>
            </a:extLst>
          </p:cNvPr>
          <p:cNvSpPr/>
          <p:nvPr/>
        </p:nvSpPr>
        <p:spPr>
          <a:xfrm>
            <a:off x="7271743" y="1270392"/>
            <a:ext cx="1900000" cy="860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ile5T">
            <a:extLst>
              <a:ext uri="{FF2B5EF4-FFF2-40B4-BE49-F238E27FC236}">
                <a16:creationId xmlns:a16="http://schemas.microsoft.com/office/drawing/2014/main" id="{07041026-15B1-1E4E-A71E-22817F612931}"/>
              </a:ext>
            </a:extLst>
          </p:cNvPr>
          <p:cNvSpPr txBox="1"/>
          <p:nvPr/>
        </p:nvSpPr>
        <p:spPr>
          <a:xfrm>
            <a:off x="7421743" y="1350392"/>
            <a:ext cx="16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>
                <a:solidFill>
                  <a:srgbClr val="C23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{{DASHCRIT}}</a:t>
            </a:r>
          </a:p>
          <a:p>
            <a:r>
              <a:rPr lang="en-US" sz="1200" b="1">
                <a:solidFill>
                  <a:srgbClr val="0926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</a:t>
            </a:r>
          </a:p>
          <a:p>
            <a:r>
              <a:rPr lang="en-US" sz="1050">
                <a:solidFill>
                  <a:srgbClr val="66708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(Sev 1)</a:t>
            </a:r>
          </a:p>
        </p:txBody>
      </p:sp>
      <p:sp>
        <p:nvSpPr>
          <p:cNvPr id="21" name="ChartHead">
            <a:extLst>
              <a:ext uri="{FF2B5EF4-FFF2-40B4-BE49-F238E27FC236}">
                <a16:creationId xmlns:a16="http://schemas.microsoft.com/office/drawing/2014/main" id="{0B154D7C-814C-8B30-E3FE-D0FAF2B8807F}"/>
              </a:ext>
            </a:extLst>
          </p:cNvPr>
          <p:cNvSpPr txBox="1"/>
          <p:nvPr/>
        </p:nvSpPr>
        <p:spPr>
          <a:xfrm>
            <a:off x="7514335" y="2373816"/>
            <a:ext cx="3154835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spc="8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ALL-WORKSTREAM DEFECT BURNDOWN</a:t>
            </a:r>
          </a:p>
        </p:txBody>
      </p:sp>
      <p:sp>
        <p:nvSpPr>
          <p:cNvPr id="22" name="InsightsBox">
            <a:extLst>
              <a:ext uri="{FF2B5EF4-FFF2-40B4-BE49-F238E27FC236}">
                <a16:creationId xmlns:a16="http://schemas.microsoft.com/office/drawing/2014/main" id="{5AED02EB-54B4-4282-CFCC-2F6337FC4BEE}"/>
              </a:ext>
            </a:extLst>
          </p:cNvPr>
          <p:cNvSpPr/>
          <p:nvPr/>
        </p:nvSpPr>
        <p:spPr>
          <a:xfrm>
            <a:off x="6739128" y="5008537"/>
            <a:ext cx="4828496" cy="920783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  <a:effectLst>
            <a:outerShdw blurRad="17780" dist="6350" dir="2700000" algn="bl" rotWithShape="0">
              <a:srgbClr val="25364B">
                <a:alpha val="10000"/>
              </a:srgbClr>
            </a:outerShdw>
          </a:effectLst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9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InsightsText">
            <a:extLst>
              <a:ext uri="{FF2B5EF4-FFF2-40B4-BE49-F238E27FC236}">
                <a16:creationId xmlns:a16="http://schemas.microsoft.com/office/drawing/2014/main" id="{16108C38-4D12-53AE-B712-6C9B9F8E3EAB}"/>
              </a:ext>
            </a:extLst>
          </p:cNvPr>
          <p:cNvSpPr txBox="1"/>
          <p:nvPr/>
        </p:nvSpPr>
        <p:spPr>
          <a:xfrm>
            <a:off x="6936006" y="5118536"/>
            <a:ext cx="4928399" cy="1220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b="1" spc="80">
                <a:solidFill>
                  <a:srgbClr val="007F8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 ON DEFECT BURNDOWN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050">
                <a:solidFill>
                  <a:srgbClr val="3844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{{AI_DASH_INSIGHTS}}</a:t>
            </a: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EF0F6431-7809-2EBB-A633-8E012FB7BC46}"/>
              </a:ext>
            </a:extLst>
          </p:cNvPr>
          <p:cNvGraphicFramePr>
            <a:graphicFrameLocks noGrp="1"/>
          </p:cNvGraphicFramePr>
          <p:nvPr/>
        </p:nvGraphicFramePr>
        <p:xfrm>
          <a:off x="6629185" y="2948448"/>
          <a:ext cx="4938439" cy="17510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1" name="SeverityHead"/>
          <p:cNvSpPr txBox="1"/>
          <p:nvPr/>
        </p:nvSpPr>
        <p:spPr>
          <a:xfrm>
            <a:off x="419011" y="2640000"/>
            <a:ext cx="545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b="1" dirty="0">
                <a:solidFill>
                  <a:srgbClr val="007F86"/>
                </a:solidFill>
                <a:latin typeface="Calibri"/>
              </a:rPr>
              <a:t>OPEN DEFECTS BY SEVERITY (ALL WORKSTREAMS)</a:t>
            </a:r>
          </a:p>
        </p:txBody>
      </p:sp>
      <p:sp>
        <p:nvSpPr>
          <p:cNvPr id="44" name="SeverityTiles"/>
          <p:cNvSpPr/>
          <p:nvPr/>
        </p:nvSpPr>
        <p:spPr>
          <a:xfrm>
            <a:off x="463611" y="2850000"/>
            <a:ext cx="5406762" cy="1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2" name="CriticalHead"/>
          <p:cNvSpPr txBox="1"/>
          <p:nvPr/>
        </p:nvSpPr>
        <p:spPr>
          <a:xfrm>
            <a:off x="419011" y="4040000"/>
            <a:ext cx="545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000" b="1" dirty="0">
                <a:solidFill>
                  <a:srgbClr val="007F86"/>
                </a:solidFill>
                <a:latin typeface="Calibri"/>
              </a:rPr>
              <a:t>OPEN CRITICAL (SEV 1) DEFECTS</a:t>
            </a:r>
          </a:p>
        </p:txBody>
      </p:sp>
      <p:graphicFrame>
        <p:nvGraphicFramePr>
          <p:cNvPr id="40" name="CriticalDefectsTable"/>
          <p:cNvGraphicFramePr>
            <a:graphicFrameLocks noGrp="1"/>
          </p:cNvGraphicFramePr>
          <p:nvPr/>
        </p:nvGraphicFramePr>
        <p:xfrm>
          <a:off x="463611" y="4260000"/>
          <a:ext cx="5406762" cy="1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0000"/>
                <a:gridCol w="740000"/>
                <a:gridCol w="1100000"/>
                <a:gridCol w="640000"/>
                <a:gridCol w="640000"/>
                <a:gridCol w="660000"/>
                <a:gridCol w="1146762"/>
              </a:tblGrid>
              <a:tr h="24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WS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Critical Defect ID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Title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Owner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Open Date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Target Date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+mn-lt"/>
                        </a:rPr>
                        <a:t>Comments (Updates &amp; Next Steps)</a:t>
                      </a:r>
                    </a:p>
                  </a:txBody>
                  <a:tcPr marL="45720" marR="45720" marT="22860" marB="22860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313131"/>
                          </a:solidFill>
                          <a:latin typeface="+mn-lt"/>
                        </a:rPr>
                        <a:t>{{CRITWS}}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{{CRITID}}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{{CRITTITLE}}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{{CRITOWNER}}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{{CRITOPEN}}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{{CRITTARGET}}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313131"/>
                          </a:solidFill>
                          <a:latin typeface="+mn-lt"/>
                        </a:rPr>
                        <a:t>{{CRITCOMMENT}}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70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199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