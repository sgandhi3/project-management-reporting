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  <p:sldMasterId id="2147483757" r:id="rId5"/>
  </p:sldMasterIdLst>
  <p:notesMasterIdLst>
    <p:notesMasterId r:id="rId13"/>
  </p:notesMasterIdLst>
  <p:sldIdLst>
    <p:sldId id="2147483588" r:id="rId6"/>
    <p:sldId id="2147483620" r:id="rId7"/>
    <p:sldId id="2147483614" r:id="rId8"/>
    <p:sldId id="2147483621" r:id="rId9"/>
    <p:sldId id="2147483608" r:id="rId10"/>
    <p:sldId id="2147483609" r:id="rId11"/>
    <p:sldId id="21474836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0C2B47-29F0-5145-A610-1B393F7C5C22}">
          <p14:sldIdLst>
            <p14:sldId id="2147483588"/>
            <p14:sldId id="2147483620"/>
          </p14:sldIdLst>
        </p14:section>
        <p14:section name="Work Stream Report" id="{7F7058A9-543B-4063-913C-9EBD99D479DF}">
          <p14:sldIdLst>
            <p14:sldId id="2147483614"/>
            <p14:sldId id="2147483621"/>
            <p14:sldId id="2147483608"/>
            <p14:sldId id="2147483609"/>
            <p14:sldId id="21474836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92DB77-016D-2894-7618-15E9AB52A849}" name="Sharma, Utkarsh" initials="US" userId="S::utkasharma@deloitte.com::0b75815b-62e9-4a90-8530-df5f1a468d5b" providerId="AD"/>
  <p188:author id="{394961A2-CD47-D227-8F1E-7B111DEE8F7B}" name="Khadri, Habib" initials="HK" userId="S::hkhadri@deloitte.com::fb9fabdf-5b74-4106-9d79-d7bad83cee2b" providerId="AD"/>
  <p188:author id="{542719E4-734E-9509-4F5E-E8B595E54DC2}" name="Curtis, Rhonda" initials="" userId="S::rhcurtis@deloitte.com::490ac867-96aa-4c70-800f-015ffadabd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5E8"/>
    <a:srgbClr val="E7EFE3"/>
    <a:srgbClr val="2ECC71"/>
    <a:srgbClr val="E8E9ED"/>
    <a:srgbClr val="E67E22"/>
    <a:srgbClr val="9A564F"/>
    <a:srgbClr val="2C9B9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ACC89-694D-6647-91BA-F3E287B706A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93E35-2244-C342-BE62-0B069E5D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4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1FBDF-07B1-4D9C-9CED-52EAE94FBB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665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6821-AA4F-1632-A121-1B2282F3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13123-D703-BB38-B549-70F641DBC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73765-B20C-A64A-6819-F89FD11FF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&gt; Executed &gt; In Progress&gt; Pass &gt; Fail &gt; Defect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D6922-2533-238B-2C6C-0881AEEA7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93E35-2244-C342-BE62-0B069E5D84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74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C035-7C5D-031D-1AAB-03BC50FB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75086-7CEC-B170-7108-462612279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6064E-22E4-4A4B-41AB-BD5F8557D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65F1-60D1-BC0A-819B-66E9B2950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967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D3D9-6466-2F55-F196-D6B6CE16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0BAC9-1680-BC8E-E919-068170F78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5C91D-D13B-C4E4-424F-A01ED57FC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04C4F-3D4D-7E9D-5C2C-B6BE11EA3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08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accent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50D39-3CD2-434D-B748-17EED0F3A2F1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29F2EAE-0B0B-4311-B8C7-B92308FD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D66D6FD-671C-4971-84E7-3F95D681A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A0D0BAEB-42C5-4909-8FAE-D062C5097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42559A-2DAB-4A59-908E-A9F300335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3319EAFB-82E3-4AA5-8E76-BCBFD4851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1B86A800-7B43-42DC-8F55-2BE218DA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DE78-318C-43DC-8425-6815074F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9FF502-04DE-4886-8EC5-F59E2DDA7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AFD2C9A9-58B2-40D7-900D-9935E569C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BFCAACE-51E1-460B-B814-DB6E1935A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D988E-AB9B-4338-8B0B-A9D2FBBD35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00D145D-F249-4360-A851-84590354DE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DA91093B-1D7D-4E9C-80DD-053FD0C92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D75F7421-C68D-4202-A0E2-B866717DDE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DE98E27-9E3D-4174-9895-EE41667C63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A400316F-9B75-46A7-B1DF-72DD3623FD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80392710-6741-4A2A-B74E-E7E47B6F6C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E5628F7-91B4-40CC-93AA-15FE7FE83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05DD4AC-A5BB-439E-AD61-E7E5A2A00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B332C818-B977-4B0B-BF7A-3565E9B5BE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1AFB913-ABEF-4721-A184-6CE57CC2AA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81067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22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165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6E5346-2FAE-41B8-872E-F4C0489B6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6E5346-2FAE-41B8-872E-F4C0489B6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6D88CB5-8A32-4E28-88D8-2EB8AFCF3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622800"/>
            <a:ext cx="112014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5D5-02D2-4800-869F-1667101F09CF}"/>
              </a:ext>
            </a:extLst>
          </p:cNvPr>
          <p:cNvSpPr txBox="1"/>
          <p:nvPr userDrawn="1"/>
        </p:nvSpPr>
        <p:spPr>
          <a:xfrm>
            <a:off x="495300" y="64008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750" kern="1200" smtClean="0">
                <a:solidFill>
                  <a:schemeClr val="bg2">
                    <a:lumMod val="9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kern="1200">
              <a:solidFill>
                <a:schemeClr val="bg2">
                  <a:lumMod val="9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3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tags" Target="../tags/tag4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4184034811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270" imgH="270" progId="TCLayout.ActiveDocument.1">
                  <p:embed/>
                </p:oleObj>
              </mc:Choice>
              <mc:Fallback>
                <p:oleObj name="think-cell Slide" r:id="rId3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20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22" orient="horz" pos="640">
          <p15:clr>
            <a:srgbClr val="F26B43"/>
          </p15:clr>
        </p15:guide>
        <p15:guide id="65" orient="horz" pos="2160">
          <p15:clr>
            <a:srgbClr val="F26B43"/>
          </p15:clr>
        </p15:guide>
        <p15:guide id="66" orient="horz" pos="3968">
          <p15:clr>
            <a:srgbClr val="F26B43"/>
          </p15:clr>
        </p15:guide>
        <p15:guide id="67" pos="312">
          <p15:clr>
            <a:srgbClr val="F26B43"/>
          </p15:clr>
        </p15:guide>
        <p15:guide id="68" pos="7368">
          <p15:clr>
            <a:srgbClr val="F26B43"/>
          </p15:clr>
        </p15:guide>
        <p15:guide id="70" orient="horz" pos="4081">
          <p15:clr>
            <a:srgbClr val="F26B43"/>
          </p15:clr>
        </p15:guide>
        <p15:guide id="77" pos="3783">
          <p15:clr>
            <a:srgbClr val="F26B43"/>
          </p15:clr>
        </p15:guide>
        <p15:guide id="78" pos="3896">
          <p15:clr>
            <a:srgbClr val="F26B43"/>
          </p15:clr>
        </p15:guide>
        <p15:guide id="79" pos="3840">
          <p15:clr>
            <a:srgbClr val="F26B43"/>
          </p15:clr>
        </p15:guide>
        <p15:guide id="81" orient="horz" pos="1049">
          <p15:clr>
            <a:srgbClr val="F26B43"/>
          </p15:clr>
        </p15:guide>
        <p15:guide id="82" orient="horz" pos="641">
          <p15:clr>
            <a:srgbClr val="F26B43"/>
          </p15:clr>
        </p15:guide>
        <p15:guide id="83" orient="horz" pos="39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270" imgH="270" progId="TCLayout.ActiveDocument.1">
                  <p:embed/>
                </p:oleObj>
              </mc:Choice>
              <mc:Fallback>
                <p:oleObj name="think-cell Slide" r:id="rId3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4b928880-8a55-4bc3-974b-6773ba0778d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5cbc0be2-c0c0-4e56-a45f-61ecdb73f5e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4267bae2-9fad-44f1-b82a-5d1e7518f04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dev.azure.com/medmutual/HRP/_queries/query/?tempQueryId=5cbc0be2-c0c0-4e56-a45f-61ecdb73f5e3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medmutual/HRP/_queries/query/?tempQueryId=0c3e2021-21ff-4446-bc3a-12d708dbbd22" TargetMode="Externa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745B-8D83-C40B-3E9E-4C016ED9E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2935976"/>
            <a:ext cx="11201400" cy="92333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/>
              <a:t>MMO Test Execution &amp; Defect Report</a:t>
            </a:r>
            <a:endParaRPr lang="en-US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376F38-9832-1E0D-1CF1-540781298B51}"/>
              </a:ext>
            </a:extLst>
          </p:cNvPr>
          <p:cNvSpPr txBox="1">
            <a:spLocks/>
          </p:cNvSpPr>
          <p:nvPr/>
        </p:nvSpPr>
        <p:spPr bwMode="gray">
          <a:xfrm>
            <a:off x="495300" y="3782643"/>
            <a:ext cx="11201400" cy="9233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>
                <a:solidFill>
                  <a:prstClr val="black"/>
                </a:solidFill>
                <a:latin typeface="Calibri"/>
              </a:rPr>
              <a:t>{{Date}}</a:t>
            </a: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96727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3050-B538-8D58-A4E4-0E7C3FD9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arrHeader">
            <a:extLst>
              <a:ext uri="{FF2B5EF4-FFF2-40B4-BE49-F238E27FC236}">
                <a16:creationId xmlns:a16="http://schemas.microsoft.com/office/drawing/2014/main" id="{DDA3501E-37FA-BBD5-7F1A-700EA3501B1B}"/>
              </a:ext>
            </a:extLst>
          </p:cNvPr>
          <p:cNvSpPr txBox="1"/>
          <p:nvPr/>
        </p:nvSpPr>
        <p:spPr>
          <a:xfrm>
            <a:off x="376931" y="2440118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Status</a:t>
            </a:r>
          </a:p>
        </p:txBody>
      </p:sp>
      <p:sp>
        <p:nvSpPr>
          <p:cNvPr id="61" name="NarrLeft">
            <a:extLst>
              <a:ext uri="{FF2B5EF4-FFF2-40B4-BE49-F238E27FC236}">
                <a16:creationId xmlns:a16="http://schemas.microsoft.com/office/drawing/2014/main" id="{015F27E5-6300-FD86-61EC-A29EB191B909}"/>
              </a:ext>
            </a:extLst>
          </p:cNvPr>
          <p:cNvSpPr txBox="1"/>
          <p:nvPr/>
        </p:nvSpPr>
        <p:spPr>
          <a:xfrm>
            <a:off x="368223" y="2716857"/>
            <a:ext cx="5406764" cy="3228686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Executive Summary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{{AI_OVERALL_STATUS}}</a:t>
            </a: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{{AI_PDM_ITERATION_UPDATE}}</a:t>
            </a: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{{AI_PDM_DEFECT_SUMMARY}}</a:t>
            </a:r>
          </a:p>
          <a:p>
            <a:pPr marL="171450" indent="-171450">
              <a:lnSpc>
                <a:spcPct val="114999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{{AI_BENEFITS_UPDATE}}</a:t>
            </a:r>
            <a:endParaRPr lang="en-US" sz="10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Defect Triage:</a:t>
            </a:r>
            <a:endParaRPr lang="en-US" sz="1050" b="1" dirty="0">
              <a:solidFill>
                <a:srgbClr val="0076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{{TB}} open defects remain in “New” and “Active” state. All critical and high-priority defects have been triaged, ownership has been assigned, and remediation efforts are actively underway.​</a:t>
            </a: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6FC7E3E-3C8D-5720-3B00-B4B11D35F996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SIT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Execution Status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Report |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Executive Summary</a:t>
            </a:r>
          </a:p>
        </p:txBody>
      </p:sp>
      <p:sp>
        <p:nvSpPr>
          <p:cNvPr id="14" name="AsOf">
            <a:extLst>
              <a:ext uri="{FF2B5EF4-FFF2-40B4-BE49-F238E27FC236}">
                <a16:creationId xmlns:a16="http://schemas.microsoft.com/office/drawing/2014/main" id="{3BADCF61-8843-CACB-D4A9-361363446042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21E322-FD16-698F-4E8E-A2C22B6AD423}"/>
              </a:ext>
            </a:extLst>
          </p:cNvPr>
          <p:cNvSpPr txBox="1"/>
          <p:nvPr/>
        </p:nvSpPr>
        <p:spPr>
          <a:xfrm>
            <a:off x="366668" y="6024736"/>
            <a:ext cx="616040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dirty="0">
                <a:solidFill>
                  <a:srgbClr val="313131"/>
                </a:solidFill>
              </a:rPr>
              <a:t>*Test case planning and ADO upload is in progress; cases will be added to ADO in alignment with test execution window.</a:t>
            </a:r>
            <a:endParaRPr lang="en-US" sz="800" dirty="0"/>
          </a:p>
        </p:txBody>
      </p:sp>
      <p:sp>
        <p:nvSpPr>
          <p:cNvPr id="27" name="NarrLeft">
            <a:extLst>
              <a:ext uri="{FF2B5EF4-FFF2-40B4-BE49-F238E27FC236}">
                <a16:creationId xmlns:a16="http://schemas.microsoft.com/office/drawing/2014/main" id="{4A25FA09-209E-0831-0B89-5B8FBD195A77}"/>
              </a:ext>
            </a:extLst>
          </p:cNvPr>
          <p:cNvSpPr txBox="1"/>
          <p:nvPr/>
        </p:nvSpPr>
        <p:spPr>
          <a:xfrm>
            <a:off x="6396209" y="2716857"/>
            <a:ext cx="5405798" cy="3223773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8" name="NarrHeader">
            <a:extLst>
              <a:ext uri="{FF2B5EF4-FFF2-40B4-BE49-F238E27FC236}">
                <a16:creationId xmlns:a16="http://schemas.microsoft.com/office/drawing/2014/main" id="{3DF8CFDF-5033-6E84-FC61-C280BEDF2E37}"/>
              </a:ext>
            </a:extLst>
          </p:cNvPr>
          <p:cNvSpPr txBox="1"/>
          <p:nvPr/>
        </p:nvSpPr>
        <p:spPr>
          <a:xfrm>
            <a:off x="6397891" y="2414275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Test Case and Defect Breakdown</a:t>
            </a:r>
          </a:p>
        </p:txBody>
      </p:sp>
      <p:graphicFrame>
        <p:nvGraphicFramePr>
          <p:cNvPr id="52" name="WorkstreamSummary">
            <a:extLst>
              <a:ext uri="{FF2B5EF4-FFF2-40B4-BE49-F238E27FC236}">
                <a16:creationId xmlns:a16="http://schemas.microsoft.com/office/drawing/2014/main" id="{EE2634A9-121F-87F6-65CC-9E3D03E98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882729"/>
              </p:ext>
            </p:extLst>
          </p:nvPr>
        </p:nvGraphicFramePr>
        <p:xfrm>
          <a:off x="6527074" y="2852056"/>
          <a:ext cx="5163863" cy="29523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8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56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557600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460627">
                  <a:extLst>
                    <a:ext uri="{9D8B030D-6E8A-4147-A177-3AD203B41FA5}">
                      <a16:colId xmlns:a16="http://schemas.microsoft.com/office/drawing/2014/main" val="3289360789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4185109620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47280996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881928816"/>
                    </a:ext>
                  </a:extLst>
                </a:gridCol>
                <a:gridCol w="4025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2267">
                <a:tc gridSpan="10"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</a:rPr>
                        <a:t>Review Summary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7432" marR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34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Workstreams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Planned*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Executed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Pass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Fail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Open Defects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PDM - Cursory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{{PDMCTTC}}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{{PDMCB}}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3191323699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PDM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{{PDMSITTC}}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{{PDMSITB}}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Calibri"/>
                        </a:rPr>
                        <a:t>Priority Benefits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{{BENEPBTTC}}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{{BENEPBETC}}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{{BENEPBEP}}%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{{BENEPBPTC}}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{{BENEPBPP}}%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{{BENEPBFTC}}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{{BENEPBFP}}%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{{BENEPBIPTC}}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{{BENEPBB}}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Enrollment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{{ENROETC}}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{{ENROFP}}%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{{ENROIPTC}}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{{ENROB}}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>
                          <a:latin typeface="Calibri"/>
                        </a:rPr>
                        <a:t>EDI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{{EDITTC}}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{{EDIPTC}}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{{EDIFP}}%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{{EDIB}}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297792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{{TTC}}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{{ETC}}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{{EP}}%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{{PTC}}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{{PP}}%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{{FTC}}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{{FP}}%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{{IPTC}}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latin typeface="+mn-lt"/>
                        </a:rPr>
                        <a:t>{{TB}}</a:t>
                      </a:r>
                      <a:endParaRPr lang="en-US" dirty="0"/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DD5247D8-EE15-583F-1E17-18EF7684A807}"/>
              </a:ext>
            </a:extLst>
          </p:cNvPr>
          <p:cNvGrpSpPr/>
          <p:nvPr/>
        </p:nvGrpSpPr>
        <p:grpSpPr>
          <a:xfrm>
            <a:off x="8045292" y="283041"/>
            <a:ext cx="2300000" cy="660000"/>
            <a:chOff x="9400000" y="280000"/>
            <a:chExt cx="2300000" cy="660000"/>
          </a:xfrm>
        </p:grpSpPr>
        <p:sp>
          <p:nvSpPr>
            <p:cNvPr id="8" name="LegendBox">
              <a:extLst>
                <a:ext uri="{FF2B5EF4-FFF2-40B4-BE49-F238E27FC236}">
                  <a16:creationId xmlns:a16="http://schemas.microsoft.com/office/drawing/2014/main" id="{B4539D3A-2BE2-F29C-A96A-00E89122A7C1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9" name="Dot1">
              <a:extLst>
                <a:ext uri="{FF2B5EF4-FFF2-40B4-BE49-F238E27FC236}">
                  <a16:creationId xmlns:a16="http://schemas.microsoft.com/office/drawing/2014/main" id="{257DA064-E04F-F1C6-8A0F-E67E4EA94656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Lbl1">
              <a:extLst>
                <a:ext uri="{FF2B5EF4-FFF2-40B4-BE49-F238E27FC236}">
                  <a16:creationId xmlns:a16="http://schemas.microsoft.com/office/drawing/2014/main" id="{94206FA5-1536-2194-E54A-1EA014420C7F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16" name="Dot2">
              <a:extLst>
                <a:ext uri="{FF2B5EF4-FFF2-40B4-BE49-F238E27FC236}">
                  <a16:creationId xmlns:a16="http://schemas.microsoft.com/office/drawing/2014/main" id="{D8712F04-008C-1248-6121-29A6C2C93D25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Lbl2">
              <a:extLst>
                <a:ext uri="{FF2B5EF4-FFF2-40B4-BE49-F238E27FC236}">
                  <a16:creationId xmlns:a16="http://schemas.microsoft.com/office/drawing/2014/main" id="{99FA1695-FBAF-6DC3-1994-BAC109AC5D6C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18" name="Dot3">
              <a:extLst>
                <a:ext uri="{FF2B5EF4-FFF2-40B4-BE49-F238E27FC236}">
                  <a16:creationId xmlns:a16="http://schemas.microsoft.com/office/drawing/2014/main" id="{C78FF07D-B7A2-C01C-AC0E-CFC43A33CCC3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Lbl3">
              <a:extLst>
                <a:ext uri="{FF2B5EF4-FFF2-40B4-BE49-F238E27FC236}">
                  <a16:creationId xmlns:a16="http://schemas.microsoft.com/office/drawing/2014/main" id="{7048DBB9-55A0-F030-E30E-01B074EEB7FA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23" name="Dot4">
              <a:extLst>
                <a:ext uri="{FF2B5EF4-FFF2-40B4-BE49-F238E27FC236}">
                  <a16:creationId xmlns:a16="http://schemas.microsoft.com/office/drawing/2014/main" id="{0D7DD788-6524-80BE-6E2D-988B15671E6F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Lbl4">
              <a:extLst>
                <a:ext uri="{FF2B5EF4-FFF2-40B4-BE49-F238E27FC236}">
                  <a16:creationId xmlns:a16="http://schemas.microsoft.com/office/drawing/2014/main" id="{DB461B95-6841-48B2-A891-3B75537FF72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6" name="LegendBox">
            <a:extLst>
              <a:ext uri="{FF2B5EF4-FFF2-40B4-BE49-F238E27FC236}">
                <a16:creationId xmlns:a16="http://schemas.microsoft.com/office/drawing/2014/main" id="{3615FFD2-1195-3037-430F-B1A753438A60}"/>
              </a:ext>
            </a:extLst>
          </p:cNvPr>
          <p:cNvSpPr/>
          <p:nvPr/>
        </p:nvSpPr>
        <p:spPr>
          <a:xfrm>
            <a:off x="10415958" y="278522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Status:</a:t>
            </a:r>
          </a:p>
        </p:txBody>
      </p:sp>
      <p:sp>
        <p:nvSpPr>
          <p:cNvPr id="7" name="Dot2">
            <a:extLst>
              <a:ext uri="{FF2B5EF4-FFF2-40B4-BE49-F238E27FC236}">
                <a16:creationId xmlns:a16="http://schemas.microsoft.com/office/drawing/2014/main" id="{30ADE87E-DFB6-A558-D834-8E7B1066A173}"/>
              </a:ext>
            </a:extLst>
          </p:cNvPr>
          <p:cNvSpPr/>
          <p:nvPr/>
        </p:nvSpPr>
        <p:spPr>
          <a:xfrm>
            <a:off x="11055514" y="601805"/>
            <a:ext cx="120000" cy="1200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96CAB9-1357-C066-3A53-B0C34DEC314A}"/>
              </a:ext>
            </a:extLst>
          </p:cNvPr>
          <p:cNvSpPr txBox="1"/>
          <p:nvPr/>
        </p:nvSpPr>
        <p:spPr>
          <a:xfrm>
            <a:off x="376244" y="6146737"/>
            <a:ext cx="5435354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In Progress </a:t>
            </a:r>
            <a:r>
              <a:rPr lang="en-US" sz="800" dirty="0">
                <a:solidFill>
                  <a:srgbClr val="313131"/>
                </a:solidFill>
              </a:rPr>
              <a:t>– The test case is currently in-progress awaiting to clear pending dependencies 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  <p:sp>
        <p:nvSpPr>
          <p:cNvPr id="26" name="StatBox1">
            <a:extLst>
              <a:ext uri="{FF2B5EF4-FFF2-40B4-BE49-F238E27FC236}">
                <a16:creationId xmlns:a16="http://schemas.microsoft.com/office/drawing/2014/main" id="{99D07C76-B78A-0AE6-9F5B-2EBA09200CF4}"/>
              </a:ext>
            </a:extLst>
          </p:cNvPr>
          <p:cNvSpPr>
            <a:spLocks noGrp="1" noChangeAspect="1"/>
          </p:cNvSpPr>
          <p:nvPr/>
        </p:nvSpPr>
        <p:spPr>
          <a:xfrm>
            <a:off x="350597" y="1461008"/>
            <a:ext cx="1723995" cy="891136"/>
          </a:xfrm>
          <a:prstGeom prst="rect">
            <a:avLst/>
          </a:prstGeom>
          <a:solidFill>
            <a:srgbClr val="F0FAFA"/>
          </a:solidFill>
          <a:ln w="19050">
            <a:solidFill>
              <a:srgbClr val="0076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Stat1Num">
            <a:extLst>
              <a:ext uri="{FF2B5EF4-FFF2-40B4-BE49-F238E27FC236}">
                <a16:creationId xmlns:a16="http://schemas.microsoft.com/office/drawing/2014/main" id="{23AD6140-4D03-1877-22EA-E129D493E908}"/>
              </a:ext>
            </a:extLst>
          </p:cNvPr>
          <p:cNvSpPr txBox="1">
            <a:spLocks noChangeAspect="1"/>
          </p:cNvSpPr>
          <p:nvPr/>
        </p:nvSpPr>
        <p:spPr>
          <a:xfrm>
            <a:off x="347542" y="1568438"/>
            <a:ext cx="1735119" cy="510955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007680"/>
                </a:solidFill>
              </a:rPr>
              <a:t>{{TTC}}*</a:t>
            </a:r>
            <a:endParaRPr lang="en-US" sz="4800" b="1" baseline="30000" dirty="0">
              <a:solidFill>
                <a:srgbClr val="007680"/>
              </a:solidFill>
            </a:endParaRPr>
          </a:p>
        </p:txBody>
      </p:sp>
      <p:sp>
        <p:nvSpPr>
          <p:cNvPr id="33" name="Stat1Lbl">
            <a:extLst>
              <a:ext uri="{FF2B5EF4-FFF2-40B4-BE49-F238E27FC236}">
                <a16:creationId xmlns:a16="http://schemas.microsoft.com/office/drawing/2014/main" id="{6A6015CF-3978-00B4-DDA9-6B3ED3FB61D3}"/>
              </a:ext>
            </a:extLst>
          </p:cNvPr>
          <p:cNvSpPr txBox="1">
            <a:spLocks noChangeAspect="1"/>
          </p:cNvSpPr>
          <p:nvPr/>
        </p:nvSpPr>
        <p:spPr>
          <a:xfrm>
            <a:off x="350597" y="2120091"/>
            <a:ext cx="1723997" cy="233528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Total Test Cases</a:t>
            </a:r>
          </a:p>
        </p:txBody>
      </p:sp>
      <p:sp>
        <p:nvSpPr>
          <p:cNvPr id="34" name="StatBox2">
            <a:extLst>
              <a:ext uri="{FF2B5EF4-FFF2-40B4-BE49-F238E27FC236}">
                <a16:creationId xmlns:a16="http://schemas.microsoft.com/office/drawing/2014/main" id="{ADCE0457-7EF0-A291-CAF7-184C3CD6CE93}"/>
              </a:ext>
            </a:extLst>
          </p:cNvPr>
          <p:cNvSpPr>
            <a:spLocks noGrp="1"/>
          </p:cNvSpPr>
          <p:nvPr/>
        </p:nvSpPr>
        <p:spPr>
          <a:xfrm>
            <a:off x="4203523" y="1459534"/>
            <a:ext cx="1728216" cy="886968"/>
          </a:xfrm>
          <a:prstGeom prst="rect">
            <a:avLst/>
          </a:prstGeom>
          <a:solidFill>
            <a:srgbClr val="F0FAF2"/>
          </a:solidFill>
          <a:ln w="19050">
            <a:solidFill>
              <a:srgbClr val="00AA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tat2Num">
            <a:extLst>
              <a:ext uri="{FF2B5EF4-FFF2-40B4-BE49-F238E27FC236}">
                <a16:creationId xmlns:a16="http://schemas.microsoft.com/office/drawing/2014/main" id="{140DF3D2-B158-FCC3-3217-402F4E05B2D0}"/>
              </a:ext>
            </a:extLst>
          </p:cNvPr>
          <p:cNvSpPr txBox="1"/>
          <p:nvPr/>
        </p:nvSpPr>
        <p:spPr>
          <a:xfrm>
            <a:off x="4203523" y="1559531"/>
            <a:ext cx="1735120" cy="511801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00AA55"/>
                </a:solidFill>
                <a:ea typeface="Calibri"/>
                <a:cs typeface="Calibri"/>
              </a:rPr>
              <a:t>{{PTC}}</a:t>
            </a:r>
          </a:p>
        </p:txBody>
      </p:sp>
      <p:sp>
        <p:nvSpPr>
          <p:cNvPr id="36" name="Stat2Lbl">
            <a:extLst>
              <a:ext uri="{FF2B5EF4-FFF2-40B4-BE49-F238E27FC236}">
                <a16:creationId xmlns:a16="http://schemas.microsoft.com/office/drawing/2014/main" id="{D60C9933-0CA7-4B03-D1F8-F76BF8812620}"/>
              </a:ext>
            </a:extLst>
          </p:cNvPr>
          <p:cNvSpPr txBox="1"/>
          <p:nvPr/>
        </p:nvSpPr>
        <p:spPr>
          <a:xfrm>
            <a:off x="4202715" y="2109225"/>
            <a:ext cx="1730273" cy="255901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Passed ({{PP}}%)</a:t>
            </a:r>
          </a:p>
        </p:txBody>
      </p:sp>
      <p:sp>
        <p:nvSpPr>
          <p:cNvPr id="37" name="StatBox3">
            <a:extLst>
              <a:ext uri="{FF2B5EF4-FFF2-40B4-BE49-F238E27FC236}">
                <a16:creationId xmlns:a16="http://schemas.microsoft.com/office/drawing/2014/main" id="{7E6BF14B-91CB-E9B6-FD42-553A467DEC7F}"/>
              </a:ext>
            </a:extLst>
          </p:cNvPr>
          <p:cNvSpPr>
            <a:spLocks noGrp="1"/>
          </p:cNvSpPr>
          <p:nvPr/>
        </p:nvSpPr>
        <p:spPr>
          <a:xfrm>
            <a:off x="6143661" y="1459534"/>
            <a:ext cx="1728216" cy="886968"/>
          </a:xfrm>
          <a:prstGeom prst="rect">
            <a:avLst/>
          </a:prstGeom>
          <a:solidFill>
            <a:srgbClr val="FFF2F2"/>
          </a:solidFill>
          <a:ln w="19050">
            <a:solidFill>
              <a:srgbClr val="CC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Stat3Num">
            <a:extLst>
              <a:ext uri="{FF2B5EF4-FFF2-40B4-BE49-F238E27FC236}">
                <a16:creationId xmlns:a16="http://schemas.microsoft.com/office/drawing/2014/main" id="{C460BBE5-6FF9-1801-3054-B7925A291984}"/>
              </a:ext>
            </a:extLst>
          </p:cNvPr>
          <p:cNvSpPr txBox="1"/>
          <p:nvPr/>
        </p:nvSpPr>
        <p:spPr>
          <a:xfrm>
            <a:off x="6148521" y="1551039"/>
            <a:ext cx="1730260" cy="511801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CC3333"/>
                </a:solidFill>
                <a:ea typeface="Calibri"/>
                <a:cs typeface="Calibri"/>
              </a:rPr>
              <a:t>{{FTC}}</a:t>
            </a:r>
          </a:p>
        </p:txBody>
      </p:sp>
      <p:sp>
        <p:nvSpPr>
          <p:cNvPr id="39" name="Stat3Lbl">
            <a:extLst>
              <a:ext uri="{FF2B5EF4-FFF2-40B4-BE49-F238E27FC236}">
                <a16:creationId xmlns:a16="http://schemas.microsoft.com/office/drawing/2014/main" id="{83033A1F-7611-EB65-BFE3-BF9920E39A94}"/>
              </a:ext>
            </a:extLst>
          </p:cNvPr>
          <p:cNvSpPr txBox="1"/>
          <p:nvPr/>
        </p:nvSpPr>
        <p:spPr>
          <a:xfrm>
            <a:off x="6151576" y="2122785"/>
            <a:ext cx="1730260" cy="246777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Failed ({{FP}}%)</a:t>
            </a:r>
          </a:p>
        </p:txBody>
      </p:sp>
      <p:sp>
        <p:nvSpPr>
          <p:cNvPr id="43" name="StatBox4">
            <a:extLst>
              <a:ext uri="{FF2B5EF4-FFF2-40B4-BE49-F238E27FC236}">
                <a16:creationId xmlns:a16="http://schemas.microsoft.com/office/drawing/2014/main" id="{89B73705-04BD-B75C-57CF-9ECDC19137A6}"/>
              </a:ext>
            </a:extLst>
          </p:cNvPr>
          <p:cNvSpPr>
            <a:spLocks noGrp="1"/>
          </p:cNvSpPr>
          <p:nvPr/>
        </p:nvSpPr>
        <p:spPr>
          <a:xfrm>
            <a:off x="10026991" y="1466651"/>
            <a:ext cx="1728216" cy="886968"/>
          </a:xfrm>
          <a:prstGeom prst="rect">
            <a:avLst/>
          </a:prstGeom>
          <a:solidFill>
            <a:srgbClr val="FFF8F0"/>
          </a:solidFill>
          <a:ln w="19050">
            <a:solidFill>
              <a:srgbClr val="E07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Stat4Num">
            <a:extLst>
              <a:ext uri="{FF2B5EF4-FFF2-40B4-BE49-F238E27FC236}">
                <a16:creationId xmlns:a16="http://schemas.microsoft.com/office/drawing/2014/main" id="{EDF03EF3-9B1E-4916-6594-E140C2B54504}"/>
              </a:ext>
            </a:extLst>
          </p:cNvPr>
          <p:cNvSpPr txBox="1"/>
          <p:nvPr/>
        </p:nvSpPr>
        <p:spPr>
          <a:xfrm>
            <a:off x="10023937" y="1556722"/>
            <a:ext cx="1717429" cy="509929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E07000"/>
                </a:solidFill>
                <a:ea typeface="Calibri"/>
                <a:cs typeface="Calibri"/>
              </a:rPr>
              <a:t>{{TB}}</a:t>
            </a:r>
          </a:p>
        </p:txBody>
      </p:sp>
      <p:sp>
        <p:nvSpPr>
          <p:cNvPr id="45" name="Stat4Lbl">
            <a:extLst>
              <a:ext uri="{FF2B5EF4-FFF2-40B4-BE49-F238E27FC236}">
                <a16:creationId xmlns:a16="http://schemas.microsoft.com/office/drawing/2014/main" id="{A236E7EF-8E9C-6470-792F-D6C0DFD6951E}"/>
              </a:ext>
            </a:extLst>
          </p:cNvPr>
          <p:cNvSpPr txBox="1"/>
          <p:nvPr/>
        </p:nvSpPr>
        <p:spPr>
          <a:xfrm>
            <a:off x="10037630" y="2118575"/>
            <a:ext cx="1717429" cy="24587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Open Defects</a:t>
            </a:r>
          </a:p>
        </p:txBody>
      </p:sp>
      <p:sp>
        <p:nvSpPr>
          <p:cNvPr id="46" name="StatBox3">
            <a:extLst>
              <a:ext uri="{FF2B5EF4-FFF2-40B4-BE49-F238E27FC236}">
                <a16:creationId xmlns:a16="http://schemas.microsoft.com/office/drawing/2014/main" id="{80E9E55F-0CEC-90AF-EC57-7C6FB1593F69}"/>
              </a:ext>
            </a:extLst>
          </p:cNvPr>
          <p:cNvSpPr>
            <a:spLocks noGrp="1"/>
          </p:cNvSpPr>
          <p:nvPr/>
        </p:nvSpPr>
        <p:spPr>
          <a:xfrm>
            <a:off x="2276656" y="1459534"/>
            <a:ext cx="1728216" cy="886968"/>
          </a:xfrm>
          <a:prstGeom prst="rect">
            <a:avLst/>
          </a:prstGeom>
          <a:solidFill>
            <a:srgbClr val="E8E9ED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Stat3Num">
            <a:extLst>
              <a:ext uri="{FF2B5EF4-FFF2-40B4-BE49-F238E27FC236}">
                <a16:creationId xmlns:a16="http://schemas.microsoft.com/office/drawing/2014/main" id="{6D6873E7-420A-807B-C4AC-5CA86A4CDA28}"/>
              </a:ext>
            </a:extLst>
          </p:cNvPr>
          <p:cNvSpPr txBox="1"/>
          <p:nvPr/>
        </p:nvSpPr>
        <p:spPr>
          <a:xfrm>
            <a:off x="2274412" y="1552017"/>
            <a:ext cx="1728511" cy="511637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ea typeface="Calibri"/>
                <a:cs typeface="Calibri"/>
              </a:rPr>
              <a:t>{{ETC}}</a:t>
            </a:r>
            <a:endParaRPr lang="en-US" sz="4800" b="1">
              <a:ln>
                <a:solidFill>
                  <a:srgbClr val="53565A"/>
                </a:solidFill>
              </a:ln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48" name="Stat3Lbl">
            <a:extLst>
              <a:ext uri="{FF2B5EF4-FFF2-40B4-BE49-F238E27FC236}">
                <a16:creationId xmlns:a16="http://schemas.microsoft.com/office/drawing/2014/main" id="{227A0A4C-EDFB-7539-91F0-950357C2ACE2}"/>
              </a:ext>
            </a:extLst>
          </p:cNvPr>
          <p:cNvSpPr txBox="1"/>
          <p:nvPr/>
        </p:nvSpPr>
        <p:spPr>
          <a:xfrm>
            <a:off x="2265560" y="2117157"/>
            <a:ext cx="1728512" cy="227193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Executed</a:t>
            </a:r>
          </a:p>
        </p:txBody>
      </p:sp>
      <p:sp>
        <p:nvSpPr>
          <p:cNvPr id="49" name="StatBox4">
            <a:extLst>
              <a:ext uri="{FF2B5EF4-FFF2-40B4-BE49-F238E27FC236}">
                <a16:creationId xmlns:a16="http://schemas.microsoft.com/office/drawing/2014/main" id="{D3BC3390-ECDB-17DF-E2EA-778AF4F865DE}"/>
              </a:ext>
            </a:extLst>
          </p:cNvPr>
          <p:cNvSpPr>
            <a:spLocks noGrp="1"/>
          </p:cNvSpPr>
          <p:nvPr/>
        </p:nvSpPr>
        <p:spPr>
          <a:xfrm>
            <a:off x="8076895" y="1457382"/>
            <a:ext cx="1728216" cy="886968"/>
          </a:xfrm>
          <a:prstGeom prst="rect">
            <a:avLst/>
          </a:prstGeom>
          <a:solidFill>
            <a:srgbClr val="D8FFFD">
              <a:alpha val="87843"/>
            </a:srgbClr>
          </a:solidFill>
          <a:ln w="19050">
            <a:solidFill>
              <a:srgbClr val="6FC2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Stat4Num">
            <a:extLst>
              <a:ext uri="{FF2B5EF4-FFF2-40B4-BE49-F238E27FC236}">
                <a16:creationId xmlns:a16="http://schemas.microsoft.com/office/drawing/2014/main" id="{F2F8CA9C-06FB-7F56-B430-CBB275468108}"/>
              </a:ext>
            </a:extLst>
          </p:cNvPr>
          <p:cNvSpPr txBox="1"/>
          <p:nvPr/>
        </p:nvSpPr>
        <p:spPr>
          <a:xfrm>
            <a:off x="8073841" y="1547453"/>
            <a:ext cx="1717429" cy="509929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6FC2B4"/>
                </a:solidFill>
                <a:ea typeface="Calibri"/>
                <a:cs typeface="Calibri"/>
              </a:rPr>
              <a:t>{{IPTC}}</a:t>
            </a:r>
          </a:p>
        </p:txBody>
      </p:sp>
      <p:sp>
        <p:nvSpPr>
          <p:cNvPr id="51" name="Stat4Lbl">
            <a:extLst>
              <a:ext uri="{FF2B5EF4-FFF2-40B4-BE49-F238E27FC236}">
                <a16:creationId xmlns:a16="http://schemas.microsoft.com/office/drawing/2014/main" id="{3385AB6F-5E80-30BE-218A-1FC78F12CFC7}"/>
              </a:ext>
            </a:extLst>
          </p:cNvPr>
          <p:cNvSpPr txBox="1"/>
          <p:nvPr/>
        </p:nvSpPr>
        <p:spPr>
          <a:xfrm>
            <a:off x="8087534" y="2109306"/>
            <a:ext cx="1717429" cy="24587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In Progress</a:t>
            </a:r>
          </a:p>
        </p:txBody>
      </p:sp>
    </p:spTree>
    <p:extLst>
      <p:ext uri="{BB962C8B-B14F-4D97-AF65-F5344CB8AC3E}">
        <p14:creationId xmlns:p14="http://schemas.microsoft.com/office/powerpoint/2010/main" val="170266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PDM Testing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Cursory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8ED0D279-FC56-84FA-9E01-C433CF90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091729"/>
              </p:ext>
            </p:extLst>
          </p:nvPr>
        </p:nvGraphicFramePr>
        <p:xfrm>
          <a:off x="501651" y="1490836"/>
          <a:ext cx="1117548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320813991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464094568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1682406896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75189816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57898767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21841244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81">
                <a:tc gridSpan="13"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  <a:r>
                        <a:rPr lang="en-US" sz="1000" kern="1200" baseline="300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endParaRPr lang="en-US" sz="1000" baseline="30000"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Cursory</a:t>
                      </a:r>
                      <a:endParaRPr lang="en-US" sz="1000" b="1" baseline="30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{{PDMIT2B}}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{{PDMIT21B}}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229393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{{PDMIT3B}}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951971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618782B0-D982-744F-A272-59964160D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6671"/>
              </p:ext>
            </p:extLst>
          </p:nvPr>
        </p:nvGraphicFramePr>
        <p:xfrm>
          <a:off x="495836" y="3200475"/>
          <a:ext cx="11175486" cy="2809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213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1052213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1052213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770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297">
                  <a:extLst>
                    <a:ext uri="{9D8B030D-6E8A-4147-A177-3AD203B41FA5}">
                      <a16:colId xmlns:a16="http://schemas.microsoft.com/office/drawing/2014/main" val="977609164"/>
                    </a:ext>
                  </a:extLst>
                </a:gridCol>
                <a:gridCol w="935297">
                  <a:extLst>
                    <a:ext uri="{9D8B030D-6E8A-4147-A177-3AD203B41FA5}">
                      <a16:colId xmlns:a16="http://schemas.microsoft.com/office/drawing/2014/main" val="1511650616"/>
                    </a:ext>
                  </a:extLst>
                </a:gridCol>
                <a:gridCol w="935297">
                  <a:extLst>
                    <a:ext uri="{9D8B030D-6E8A-4147-A177-3AD203B41FA5}">
                      <a16:colId xmlns:a16="http://schemas.microsoft.com/office/drawing/2014/main" val="1059188370"/>
                    </a:ext>
                  </a:extLst>
                </a:gridCol>
                <a:gridCol w="935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2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8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1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Cursory Review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Data Sources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noProof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Target Completion Date</a:t>
                      </a:r>
                      <a:r>
                        <a:rPr lang="en-US" sz="1000" kern="1200" baseline="300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***</a:t>
                      </a:r>
                      <a:endParaRPr lang="en-US" sz="1000" kern="1200" baseline="300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  <a:endParaRPr lang="en-US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  <a:endParaRPr lang="en-US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CPIMS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n-lt"/>
                          <a:ea typeface="+mn-ea"/>
                          <a:cs typeface="Calibri"/>
                        </a:rPr>
                        <a:t>9/4/2026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{{PDMIT3CPTTC}}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{{PDMIT3CPETC}}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{{PDMIT3CPPTC}}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{{PDMIT3CPFTC}}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{{PDMIT3CPIPTC}}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{{PDMIT3CPBTC}}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{{PDMIT3CPNSTC}}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{{PDMIT3CPB}}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Ancillary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9/4/2026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{{PDMIT3ANTTC}}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{{PDMIT3ANETC}}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{{PDMIT3ANPTC}}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{{PDMIT3ANFTC}}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{{PDMIT3ANIPTC}}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{{PDMIT3ANBTC}}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{{PDMIT3ANNSTC}}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{{PDMIT3ANB}}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9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latin typeface="+mn-lt"/>
                        </a:rPr>
                        <a:t>Rosters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9/4/2026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{{PDMIT3ROTTC}}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{{PDMIT3ROETC}}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{{PDMIT3ROPTC}}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{{PDMIT3ROFTC}}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{{PDMIT3ROIPTC}}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{{PDMIT3ROBTC}}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{{PDMIT3RONSTC}}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{{PDMIT3ROB}}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3399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latin typeface="+mn-lt"/>
                        </a:rPr>
                        <a:t>Provider Network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9/4/2026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{{PDMIT3PNTTC}}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{{PDMIT3PNETC}}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{{PDMIT3PNPTC}}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n-lt"/>
                        </a:rPr>
                        <a:t>{{PDMIT3PNFTC}}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{{PDMIT3PNIPTC}}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{{PDMIT3PNBTC}}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{{PDMIT3PNNSTC}}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{{PDMIT3PNB}}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08757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{{PDMIT3TTC}}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{{PDMIT3ETC}}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{{PDMIT3PTC}}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{{PDMIT3FTC}}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{{PDMIT3IPTC}}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{{PDMIT3BTC}}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{{PDMIT3NSTC}}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{{PDMIT3B}}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F250EFB-F4DA-42AB-09C3-043BD78F3A71}"/>
              </a:ext>
            </a:extLst>
          </p:cNvPr>
          <p:cNvSpPr txBox="1"/>
          <p:nvPr/>
        </p:nvSpPr>
        <p:spPr>
          <a:xfrm>
            <a:off x="495836" y="5729113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>
                <a:solidFill>
                  <a:srgbClr val="313131"/>
                </a:solidFill>
              </a:rPr>
              <a:t>*</a:t>
            </a:r>
            <a:r>
              <a:rPr lang="en-US" sz="800">
                <a:solidFill>
                  <a:srgbClr val="313131"/>
                </a:solidFill>
              </a:rPr>
              <a:t>Cursory Review validates that the data in PDM is matching with the source; no further validation on data quality is done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D7915-ECA8-77EF-3291-5F8531DAA9F8}"/>
              </a:ext>
            </a:extLst>
          </p:cNvPr>
          <p:cNvSpPr txBox="1"/>
          <p:nvPr/>
        </p:nvSpPr>
        <p:spPr>
          <a:xfrm>
            <a:off x="495836" y="5873595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>
                <a:solidFill>
                  <a:schemeClr val="dk1"/>
                </a:solidFill>
              </a:rPr>
              <a:t>**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DA35A4-73BD-EB68-B47D-E57C6E793B0D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A6A031FF-C4FB-39FF-D70D-D74E7BFD4813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03C492A8-D2FC-4F01-1A0E-96739CAEC9C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A132B09D-CD33-753F-2E30-86FE319D5D49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6A82D32-465F-4C6A-4E16-BF6FAD9DBC54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2226B45D-97CD-5CD0-11EE-399C1D7D3AA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31D63CB6-A618-EAC0-5952-B0D3C09A3B94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23987B76-0DD5-5676-61FE-2003C25B7A83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B1E4F265-6E5B-FD5C-6AF6-20BACE8DABB7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00ECB676-F3A6-DABF-8112-376FC2BAFC7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9479868-6844-26B2-E461-5CFEE8A40FE8}"/>
              </a:ext>
            </a:extLst>
          </p:cNvPr>
          <p:cNvSpPr txBox="1"/>
          <p:nvPr/>
        </p:nvSpPr>
        <p:spPr>
          <a:xfrm>
            <a:off x="495836" y="5989502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>
                <a:solidFill>
                  <a:srgbClr val="313131"/>
                </a:solidFill>
              </a:rPr>
              <a:t>***</a:t>
            </a:r>
            <a:r>
              <a:rPr lang="en-US" sz="800">
                <a:solidFill>
                  <a:srgbClr val="313131"/>
                </a:solidFill>
              </a:rPr>
              <a:t>Defects included from previous iterations</a:t>
            </a:r>
          </a:p>
        </p:txBody>
      </p:sp>
      <p:sp>
        <p:nvSpPr>
          <p:cNvPr id="13" name="LegendBox">
            <a:extLst>
              <a:ext uri="{FF2B5EF4-FFF2-40B4-BE49-F238E27FC236}">
                <a16:creationId xmlns:a16="http://schemas.microsoft.com/office/drawing/2014/main" id="{E5AAE186-9015-AF07-72EA-58EBD400AF07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F49F0-D0F3-1C86-C12F-93692B176DD7}"/>
              </a:ext>
            </a:extLst>
          </p:cNvPr>
          <p:cNvSpPr txBox="1"/>
          <p:nvPr/>
        </p:nvSpPr>
        <p:spPr>
          <a:xfrm>
            <a:off x="495836" y="6112613"/>
            <a:ext cx="60548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313131"/>
                </a:solidFill>
              </a:rPr>
              <a:t>Executed</a:t>
            </a:r>
            <a:r>
              <a:rPr lang="en-US" sz="80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>
                <a:solidFill>
                  <a:srgbClr val="313131"/>
                </a:solidFill>
              </a:rPr>
              <a:t>Passed</a:t>
            </a:r>
            <a:r>
              <a:rPr lang="en-US" sz="80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>
                <a:solidFill>
                  <a:srgbClr val="313131"/>
                </a:solidFill>
              </a:rPr>
              <a:t>Failed</a:t>
            </a:r>
            <a:r>
              <a:rPr lang="en-US" sz="80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D7E3419-BCA6-6695-18E2-932097DC8689}"/>
              </a:ext>
            </a:extLst>
          </p:cNvPr>
          <p:cNvSpPr txBox="1"/>
          <p:nvPr/>
        </p:nvSpPr>
        <p:spPr>
          <a:xfrm>
            <a:off x="514863" y="982262"/>
            <a:ext cx="11101069" cy="4667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900" dirty="0">
                <a:solidFill>
                  <a:srgbClr val="313131"/>
                </a:solidFill>
              </a:rPr>
              <a:t>{{AI_PDM_CURSORY_STATUS}}</a:t>
            </a: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94E49F4F-74EB-46D0-1475-3A6BD2792461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77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Benefits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C5AF1582-CDC9-F592-4EB1-797D4002AF9D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8ED0D279-FC56-84FA-9E01-C433CF90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13103"/>
              </p:ext>
            </p:extLst>
          </p:nvPr>
        </p:nvGraphicFramePr>
        <p:xfrm>
          <a:off x="501651" y="1490836"/>
          <a:ext cx="11163821" cy="13298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35078129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275631766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397728983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979944116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11293845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276562566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SIT – Priority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{{BENEPBPP}}%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{{BENEPBFP}}%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{{BENEPBIPTC}}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{{BENEPBBTC}}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{{BENEPBNSTC}}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{{BENEPBB}}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SIT – 2026 Benefits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{{BENE26PP}}%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{{BENE26FP}}%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{{BENE26IPTC}}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{{BENE26BTC}}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{{BENE26NSTC}}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{{BENE26B}}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075110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618782B0-D982-744F-A272-59964160D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104257"/>
              </p:ext>
            </p:extLst>
          </p:nvPr>
        </p:nvGraphicFramePr>
        <p:xfrm>
          <a:off x="501648" y="2916387"/>
          <a:ext cx="11163826" cy="2261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3720477358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Priority Benefits 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Benefit Type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Signature HMO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10/15/2026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{{BENESIHMBTC}}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Access PPO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{{BENEACPBTC}}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Premium PPO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10/15/2026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{{BENEPRPBTC}}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{{ACTIVEBENB}}</a:t>
                      </a:r>
                      <a:endParaRPr lang="en-US" dirty="0"/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12DA35A4-73BD-EB68-B47D-E57C6E793B0D}"/>
              </a:ext>
            </a:extLst>
          </p:cNvPr>
          <p:cNvGrpSpPr/>
          <p:nvPr/>
        </p:nvGrpSpPr>
        <p:grpSpPr>
          <a:xfrm>
            <a:off x="7821411" y="215093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A6A031FF-C4FB-39FF-D70D-D74E7BFD4813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03C492A8-D2FC-4F01-1A0E-96739CAEC9C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A132B09D-CD33-753F-2E30-86FE319D5D49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6A82D32-465F-4C6A-4E16-BF6FAD9DBC54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2226B45D-97CD-5CD0-11EE-399C1D7D3AA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31D63CB6-A618-EAC0-5952-B0D3C09A3B94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23987B76-0DD5-5676-61FE-2003C25B7A83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B1E4F265-6E5B-FD5C-6AF6-20BACE8DABB7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00ECB676-F3A6-DABF-8112-376FC2BAFC7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5" name="TextBox 9">
            <a:extLst>
              <a:ext uri="{FF2B5EF4-FFF2-40B4-BE49-F238E27FC236}">
                <a16:creationId xmlns:a16="http://schemas.microsoft.com/office/drawing/2014/main" id="{79EC38D1-5F6B-40F1-80E8-5EFE366432DC}"/>
              </a:ext>
            </a:extLst>
          </p:cNvPr>
          <p:cNvSpPr txBox="1"/>
          <p:nvPr/>
        </p:nvSpPr>
        <p:spPr>
          <a:xfrm>
            <a:off x="501648" y="5682001"/>
            <a:ext cx="365164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Benefit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3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650D5-95BE-2E4E-7E8D-8EC1E9AAACA0}"/>
              </a:ext>
            </a:extLst>
          </p:cNvPr>
          <p:cNvSpPr txBox="1"/>
          <p:nvPr/>
        </p:nvSpPr>
        <p:spPr>
          <a:xfrm>
            <a:off x="500191" y="5189983"/>
            <a:ext cx="5967376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  <a:endParaRPr lang="en-US" sz="800" dirty="0">
              <a:solidFill>
                <a:srgbClr val="313131"/>
              </a:solidFill>
              <a:ea typeface="Calibri"/>
              <a:cs typeface="Calibri"/>
            </a:endParaRP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r>
              <a:rPr lang="en-US" sz="800" b="1" dirty="0">
                <a:solidFill>
                  <a:srgbClr val="313131"/>
                </a:solidFill>
                <a:ea typeface="Calibri"/>
                <a:cs typeface="Calibri"/>
              </a:rPr>
              <a:t>In Progress </a:t>
            </a:r>
            <a:r>
              <a:rPr lang="en-US" sz="800" dirty="0">
                <a:solidFill>
                  <a:srgbClr val="313131"/>
                </a:solidFill>
                <a:ea typeface="Calibri"/>
                <a:cs typeface="Calibri"/>
              </a:rPr>
              <a:t>– The test case is currently in-progress awaiting to clear pending dependencies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2D58E4-CCA9-B0A1-08F2-55502C6553A0}"/>
              </a:ext>
            </a:extLst>
          </p:cNvPr>
          <p:cNvSpPr txBox="1"/>
          <p:nvPr/>
        </p:nvSpPr>
        <p:spPr>
          <a:xfrm>
            <a:off x="500191" y="4953823"/>
            <a:ext cx="8599932" cy="3231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>
                <a:solidFill>
                  <a:srgbClr val="313131"/>
                </a:solidFill>
              </a:rPr>
              <a:t>*Test case planning and ADO upload is in progress; cases will be added to ADO in alignment with test execution window.</a:t>
            </a:r>
          </a:p>
          <a:p>
            <a:pPr>
              <a:spcBef>
                <a:spcPts val="600"/>
              </a:spcBef>
            </a:pPr>
            <a:endParaRPr lang="en-US" sz="80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D7E3419-BCA6-6695-18E2-932097DC8689}"/>
              </a:ext>
            </a:extLst>
          </p:cNvPr>
          <p:cNvSpPr txBox="1"/>
          <p:nvPr/>
        </p:nvSpPr>
        <p:spPr>
          <a:xfrm>
            <a:off x="500191" y="1223873"/>
            <a:ext cx="11101069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{{AI_BENEFITS_STATUS}}</a:t>
            </a:r>
            <a:endParaRPr lang="en-US" sz="9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8" name="Dot3">
            <a:extLst>
              <a:ext uri="{FF2B5EF4-FFF2-40B4-BE49-F238E27FC236}">
                <a16:creationId xmlns:a16="http://schemas.microsoft.com/office/drawing/2014/main" id="{5A59C70E-6484-A352-D9FE-E84F2CCE9E9A}"/>
              </a:ext>
            </a:extLst>
          </p:cNvPr>
          <p:cNvSpPr/>
          <p:nvPr/>
        </p:nvSpPr>
        <p:spPr>
          <a:xfrm>
            <a:off x="10832657" y="541882"/>
            <a:ext cx="120000" cy="1200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865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AC78-999A-1386-44C5-67394F496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FBF2166-CA40-EB00-72DE-CF6EA25DAA35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Enrollment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F449DDE4-BC67-6C8D-F62D-A0916D0EDDD1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545BBFD5-1ABF-69CC-96A3-1A1936AC9179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64166A4B-D9F2-9206-1457-A1E309F97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108606"/>
              </p:ext>
            </p:extLst>
          </p:nvPr>
        </p:nvGraphicFramePr>
        <p:xfrm>
          <a:off x="501651" y="1490836"/>
          <a:ext cx="11163819" cy="9336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656281088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94945854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653656663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462436254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59838324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BCED5835-B2AF-263C-1A80-3C8AB59F1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101653"/>
              </p:ext>
            </p:extLst>
          </p:nvPr>
        </p:nvGraphicFramePr>
        <p:xfrm>
          <a:off x="501647" y="2916387"/>
          <a:ext cx="11163817" cy="146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3383328722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705187464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{{ENROFTC}}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{{ENROBTC}}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{{ENROB}}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D424936E-24B6-9485-550E-0EE8FF958362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C1772053-EBD9-79FF-F0F2-1EAAD6375D08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4C57C884-EFD4-858F-5364-D2358DC4357D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B5675901-A831-5015-A06B-3C31969F35A2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8DE6BA46-175B-9316-8124-F6DDE2B572AF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933E470F-746A-CC53-6817-CB5720AAC83A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C9130CF9-03AF-A5DE-D5C2-839A796B59EA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60514A09-3F19-7644-40B1-46558B48819B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22AFF10A-F3BA-C145-05B4-031858875B7C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EF495954-9023-464B-011A-A23D8751FD70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38" name="Dot3">
            <a:extLst>
              <a:ext uri="{FF2B5EF4-FFF2-40B4-BE49-F238E27FC236}">
                <a16:creationId xmlns:a16="http://schemas.microsoft.com/office/drawing/2014/main" id="{8316FEAF-3D52-9497-D723-F0E05AA7C1A4}"/>
              </a:ext>
            </a:extLst>
          </p:cNvPr>
          <p:cNvSpPr/>
          <p:nvPr/>
        </p:nvSpPr>
        <p:spPr>
          <a:xfrm>
            <a:off x="10831633" y="521056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5F584BFC-9B3C-E0F5-7B63-DC34D149E6F7}"/>
              </a:ext>
            </a:extLst>
          </p:cNvPr>
          <p:cNvSpPr txBox="1"/>
          <p:nvPr/>
        </p:nvSpPr>
        <p:spPr>
          <a:xfrm>
            <a:off x="501648" y="5178143"/>
            <a:ext cx="3891130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Enrollment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3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01A35-DCF0-2023-F2FF-C6791388F407}"/>
              </a:ext>
            </a:extLst>
          </p:cNvPr>
          <p:cNvSpPr txBox="1"/>
          <p:nvPr/>
        </p:nvSpPr>
        <p:spPr>
          <a:xfrm>
            <a:off x="501648" y="4329137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/>
              <a:t>* 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25C0F-EF18-1295-A114-9AAD64CE57BD}"/>
              </a:ext>
            </a:extLst>
          </p:cNvPr>
          <p:cNvSpPr txBox="1"/>
          <p:nvPr/>
        </p:nvSpPr>
        <p:spPr>
          <a:xfrm>
            <a:off x="501648" y="4674667"/>
            <a:ext cx="541438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313131"/>
                </a:solidFill>
              </a:rPr>
              <a:t>Executed</a:t>
            </a:r>
            <a:r>
              <a:rPr lang="en-US" sz="80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>
                <a:solidFill>
                  <a:srgbClr val="313131"/>
                </a:solidFill>
              </a:rPr>
              <a:t>Passed</a:t>
            </a:r>
            <a:r>
              <a:rPr lang="en-US" sz="800">
                <a:solidFill>
                  <a:srgbClr val="313131"/>
                </a:solidFill>
              </a:rPr>
              <a:t> — The test case was executed, and all steps/assertions met the expected results successfully.</a:t>
            </a:r>
          </a:p>
          <a:p>
            <a:r>
              <a:rPr lang="en-US" sz="800" b="1">
                <a:solidFill>
                  <a:srgbClr val="313131"/>
                </a:solidFill>
              </a:rPr>
              <a:t>Failed</a:t>
            </a:r>
            <a:r>
              <a:rPr lang="en-US" sz="80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B58D0882-3254-620F-9493-A68E3708F23E}"/>
              </a:ext>
            </a:extLst>
          </p:cNvPr>
          <p:cNvSpPr txBox="1"/>
          <p:nvPr/>
        </p:nvSpPr>
        <p:spPr>
          <a:xfrm>
            <a:off x="501647" y="1243501"/>
            <a:ext cx="11449411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{{AI_ENROLLMENT_STATUS}}</a:t>
            </a:r>
          </a:p>
        </p:txBody>
      </p:sp>
    </p:spTree>
    <p:extLst>
      <p:ext uri="{BB962C8B-B14F-4D97-AF65-F5344CB8AC3E}">
        <p14:creationId xmlns:p14="http://schemas.microsoft.com/office/powerpoint/2010/main" val="425492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4771-151B-081A-9B85-2F0261D4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B4B7E0-2E5B-1FDB-A265-19FDCA68A88D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EDI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D5D988BE-F30D-7255-F745-B0CA49C3B4F5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FC7AA5C5-5FE6-1E42-0C66-2E21EB7EF8E4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6E24F1FE-5E35-ECCA-F64E-F2BC45E2C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1486"/>
              </p:ext>
            </p:extLst>
          </p:nvPr>
        </p:nvGraphicFramePr>
        <p:xfrm>
          <a:off x="501651" y="1490836"/>
          <a:ext cx="11163819" cy="830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066859929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017906410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536469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82149871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16132481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13DA4AA9-7308-ADC1-016A-B57315180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98199"/>
              </p:ext>
            </p:extLst>
          </p:nvPr>
        </p:nvGraphicFramePr>
        <p:xfrm>
          <a:off x="501648" y="2916387"/>
          <a:ext cx="11163826" cy="135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24266214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EDI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{{EDIBTC}}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{{EDIB}}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A7FDDEF-DC45-BFF3-A9F3-76297216B631}"/>
              </a:ext>
            </a:extLst>
          </p:cNvPr>
          <p:cNvSpPr txBox="1"/>
          <p:nvPr/>
        </p:nvSpPr>
        <p:spPr>
          <a:xfrm>
            <a:off x="501648" y="4329137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/>
              <a:t>* 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6DC893-5DE3-2E94-8CB5-C1B89D788038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8FD67AAE-FDDD-9D28-DA90-E7412F17A762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9DCF5507-1574-5760-CEE0-E683DFB82F5D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418D569B-5F61-2C55-25D6-5A7878C53FD0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D48D5FC-C778-128D-2EC9-30BB075C9E30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8C8176A6-7976-2BA6-0256-2A9E0D469F7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0366259E-11AE-6A45-5A54-1C9958F58DBF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D322DE72-97CD-2BE2-6870-D0C107BC77A7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65AFCE8E-65ED-E03C-8549-FA6CF1B2A858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D09FDA01-FC88-7BF3-4513-B24FF4B3F3E4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38" name="Dot3">
            <a:extLst>
              <a:ext uri="{FF2B5EF4-FFF2-40B4-BE49-F238E27FC236}">
                <a16:creationId xmlns:a16="http://schemas.microsoft.com/office/drawing/2014/main" id="{52DEF43C-80DA-6546-B8D7-B13EEBD3310C}"/>
              </a:ext>
            </a:extLst>
          </p:cNvPr>
          <p:cNvSpPr/>
          <p:nvPr/>
        </p:nvSpPr>
        <p:spPr>
          <a:xfrm>
            <a:off x="10831633" y="521056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E1266-0B69-7EC7-1BF0-F38241F01A00}"/>
              </a:ext>
            </a:extLst>
          </p:cNvPr>
          <p:cNvSpPr txBox="1"/>
          <p:nvPr/>
        </p:nvSpPr>
        <p:spPr>
          <a:xfrm>
            <a:off x="501648" y="4674667"/>
            <a:ext cx="5414382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313131"/>
                </a:solidFill>
              </a:rPr>
              <a:t>Executed</a:t>
            </a:r>
            <a:r>
              <a:rPr lang="en-US" sz="80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>
                <a:solidFill>
                  <a:srgbClr val="313131"/>
                </a:solidFill>
              </a:rPr>
              <a:t>Passed</a:t>
            </a:r>
            <a:r>
              <a:rPr lang="en-US" sz="800">
                <a:solidFill>
                  <a:srgbClr val="313131"/>
                </a:solidFill>
              </a:rPr>
              <a:t> — The test case was executed, and all steps/assertions met the expected results successfully.</a:t>
            </a:r>
          </a:p>
          <a:p>
            <a:r>
              <a:rPr lang="en-US" sz="800" b="1">
                <a:solidFill>
                  <a:srgbClr val="313131"/>
                </a:solidFill>
              </a:rPr>
              <a:t>Failed</a:t>
            </a:r>
            <a:r>
              <a:rPr lang="en-US" sz="80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pPr>
              <a:spcBef>
                <a:spcPts val="600"/>
              </a:spcBef>
              <a:buSzPct val="100000"/>
            </a:pPr>
            <a:endParaRPr lang="en-US" sz="800">
              <a:solidFill>
                <a:srgbClr val="313131"/>
              </a:solidFill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B01301D2-1CA4-1DB8-1E32-B898DE3D8286}"/>
              </a:ext>
            </a:extLst>
          </p:cNvPr>
          <p:cNvSpPr txBox="1"/>
          <p:nvPr/>
        </p:nvSpPr>
        <p:spPr>
          <a:xfrm>
            <a:off x="516162" y="1234181"/>
            <a:ext cx="11101069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{{AI_EDI_STATUS}}</a:t>
            </a:r>
            <a:endParaRPr lang="en-US" sz="9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039AB3-2265-47ED-E1B2-F87473DAA5B6}"/>
              </a:ext>
            </a:extLst>
          </p:cNvPr>
          <p:cNvSpPr txBox="1"/>
          <p:nvPr/>
        </p:nvSpPr>
        <p:spPr>
          <a:xfrm>
            <a:off x="501648" y="5178143"/>
            <a:ext cx="3410934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EDI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9662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PDM Defect Status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Critical Defects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827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sOf"/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As-of: {{Date}}</a:t>
            </a:r>
          </a:p>
        </p:txBody>
      </p:sp>
      <p:graphicFrame>
        <p:nvGraphicFramePr>
          <p:cNvPr id="7" name="DefectCoun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9565"/>
              </p:ext>
            </p:extLst>
          </p:nvPr>
        </p:nvGraphicFramePr>
        <p:xfrm>
          <a:off x="7449587" y="522980"/>
          <a:ext cx="3990352" cy="731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7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Defect Count by Severity</a:t>
                      </a:r>
                    </a:p>
                  </a:txBody>
                  <a:tcPr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{{PDMBCRIT}}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{{PDMBHIGH}}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{{PDMBMED}}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{{PDMBLOW}}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EDA7643-9D9D-3357-52FC-AC69A242D579}"/>
              </a:ext>
            </a:extLst>
          </p:cNvPr>
          <p:cNvSpPr txBox="1"/>
          <p:nvPr/>
        </p:nvSpPr>
        <p:spPr>
          <a:xfrm>
            <a:off x="501651" y="4119366"/>
            <a:ext cx="3508717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2"/>
              </a:rPr>
              <a:t>ADO PDM Defects</a:t>
            </a:r>
            <a:endParaRPr lang="en-US" sz="1200">
              <a:solidFill>
                <a:srgbClr val="313131"/>
              </a:solidFill>
              <a:ea typeface="Calibri"/>
              <a:cs typeface="Calibri"/>
            </a:endParaRPr>
          </a:p>
        </p:txBody>
      </p:sp>
      <p:graphicFrame>
        <p:nvGraphicFramePr>
          <p:cNvPr id="9" name="DefectTable">
            <a:extLst>
              <a:ext uri="{FF2B5EF4-FFF2-40B4-BE49-F238E27FC236}">
                <a16:creationId xmlns:a16="http://schemas.microsoft.com/office/drawing/2014/main" id="{D56248BB-FD2A-1838-362F-6A82388CD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756704"/>
              </p:ext>
            </p:extLst>
          </p:nvPr>
        </p:nvGraphicFramePr>
        <p:xfrm>
          <a:off x="501651" y="1469185"/>
          <a:ext cx="10941214" cy="25278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0748">
                  <a:extLst>
                    <a:ext uri="{9D8B030D-6E8A-4147-A177-3AD203B41FA5}">
                      <a16:colId xmlns:a16="http://schemas.microsoft.com/office/drawing/2014/main" val="1655439103"/>
                    </a:ext>
                  </a:extLst>
                </a:gridCol>
                <a:gridCol w="1640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4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Defect Category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 of ADO Defects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Defect Details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Defect Owner</a:t>
                      </a:r>
                      <a:endParaRPr lang="en-US" sz="1000" b="1" baseline="30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287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Data Quality </a:t>
                      </a: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 (High)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lang="en-US" sz="1000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000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{{AI_PDM_DQ_DEFECT_DETAIL_1}}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000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{{AI_PDM_DQ_DEFECT_DETAIL_2}}</a:t>
                      </a:r>
                    </a:p>
                    <a:p>
                      <a:pPr marL="0" marR="0" lvl="0">
                        <a:buNone/>
                      </a:pPr>
                      <a:endParaRPr lang="en-US" sz="1000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MMO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3702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Data Mapping</a:t>
                      </a:r>
                      <a:endParaRPr lang="en-US" b="1" dirty="0"/>
                    </a:p>
                  </a:txBody>
                  <a:tcPr marL="9524" marR="9524" marT="9524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 (Medium)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lang="en-US" sz="1000" kern="1200" noProof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000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{{AI_PDM_DM_DEFECT_DETAIL}}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kern="1200" noProof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HE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741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9570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heme/theme1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2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3B32110-3B49-40E7-8C15-5E4A22FF8A7B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2d04b2e9-88f0-4ee7-b1e2-4de363e485c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3C35E85-8C58-304C-A673-847FAA008EB9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de739b16-9ef6-4e25-bd4a-ee9215286bc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fd36fe-389a-4f3a-9976-bee25438cfd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4BBC40EB3D414C83651E0F4794DDEF" ma:contentTypeVersion="11" ma:contentTypeDescription="Create a new document." ma:contentTypeScope="" ma:versionID="ac432b7c7a0758597f364c76a27f3563">
  <xsd:schema xmlns:xsd="http://www.w3.org/2001/XMLSchema" xmlns:xs="http://www.w3.org/2001/XMLSchema" xmlns:p="http://schemas.microsoft.com/office/2006/metadata/properties" xmlns:ns2="81fd36fe-389a-4f3a-9976-bee25438cfd0" targetNamespace="http://schemas.microsoft.com/office/2006/metadata/properties" ma:root="true" ma:fieldsID="e71be0df1837d809186b3abb1c1da983" ns2:_="">
    <xsd:import namespace="81fd36fe-389a-4f3a-9976-bee25438cf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d36fe-389a-4f3a-9976-bee25438cf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62f2d21-8215-4cea-bd96-116fead384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CA026D-4666-483B-9EA4-E4BAFDF32B68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81fd36fe-389a-4f3a-9976-bee25438cfd0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25DAFB6-DF8B-4F0D-BE89-1561B3B7E417}">
  <ds:schemaRefs>
    <ds:schemaRef ds:uri="81fd36fe-389a-4f3a-9976-bee25438cf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07376A1-CC42-438F-85FD-93A015D166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1921</Words>
  <Application>Microsoft Macintosh PowerPoint</Application>
  <PresentationFormat>Widescreen</PresentationFormat>
  <Paragraphs>521</Paragraphs>
  <Slides>7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Verdana</vt:lpstr>
      <vt:lpstr>Wingdings 2</vt:lpstr>
      <vt:lpstr>1_Deloitte_Brand_16_9</vt:lpstr>
      <vt:lpstr>1_Deloitte_Brand_16_9</vt:lpstr>
      <vt:lpstr>think-cell Slide</vt:lpstr>
      <vt:lpstr>MMO Test Execution &amp; Defect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Khadri, Habib</dc:creator>
  <cp:lastModifiedBy>Gandhi, Samir</cp:lastModifiedBy>
  <cp:revision>5</cp:revision>
  <dcterms:created xsi:type="dcterms:W3CDTF">2026-03-30T19:40:35Z</dcterms:created>
  <dcterms:modified xsi:type="dcterms:W3CDTF">2026-08-28T18:45:42Z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0x0101008F4BBC40EB3D414C83651E0F4794DDEF</vt:lpwstr>
  </property>
  <property fmtid="{D5CDD505-2E9C-101B-9397-08002B2CF9AE}" pid="3" name="MediaServiceImageTags">
    <vt:lpwstr/>
  </property>
</Properties>
</file>