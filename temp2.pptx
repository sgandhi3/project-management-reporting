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15" r:id="rId9"/>
    <p:sldId id="2147483621" r:id="rId10"/>
    <p:sldId id="2147483608" r:id="rId11"/>
    <p:sldId id="214748360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15"/>
            <p14:sldId id="2147483621"/>
            <p14:sldId id="2147483608"/>
            <p14:sldId id="21474836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C0B49-5046-94DB-513A-C56A0C0506DF}" v="402" dt="2026-08-24T20:50:29.917"/>
    <p1510:client id="{9646695F-199A-5F4B-92D2-AF420CD02529}" v="186" dt="2026-08-24T15:37:11.727"/>
    <p1510:client id="{AC485FBD-E80A-DE18-16CE-00B722266578}" v="25" dt="2026-08-24T15:39:22.553"/>
    <p1510:client id="{CF78E818-AFD5-43B1-9EC2-DDEE3730B37E}" v="493" dt="2026-08-24T22:30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ns4="http://schemas.openxmlformats.org/markup-compatibility/2006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ns2:creationId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ns3:creationId val="262967274"/>
      </p:ext>
    </p:extLst>
  </p:cSld>
  <p:clrMapOvr>
    <a:masterClrMapping/>
  </p:clrMapOvr>
  <ns4:AlternateContent>
    <ns4:Choice Requires="p14">
      <p:transition ns3:dur="250">
        <p:fade/>
      </p:transition>
    </ns4:Choice>
    <ns4:Fallback>
      <p:transition>
        <p:fade/>
      </p:transition>
    </ns4:Fallback>
  </ns4:AlternateContent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ns2:creationId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ns2:creationId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Overall, SIT execution status is behind plan. Benefits, Enrollment, and EDI(Enrollment) SIT has begun and continues to make slow progress. ​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PDM Iteration 2.1 execution concluded on 8/7 and Iteration 3 testing kickstarted on 8/10, as planned.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Majority of the PDM defects are configuration and data defects. </a:t>
            </a:r>
            <a:r>
              <a:rPr lang="en-US" sz="1000" b="1" dirty="0">
                <a:solidFill>
                  <a:srgbClr val="333333"/>
                </a:solidFill>
              </a:rPr>
              <a:t>Out of 36 PDM ADO defects 23 are fixed till date</a:t>
            </a:r>
            <a:r>
              <a:rPr lang="en-US" sz="1000" dirty="0">
                <a:solidFill>
                  <a:srgbClr val="333333"/>
                </a:solidFill>
              </a:rPr>
              <a:t>. The remaining are expected to be resolved by 9/4 (Iteration 3 completion date). 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First round of testing for priority benefits has completed with all test cases executed (74% pass rate). Team is working on retesting defects and failed test cases. Team plans to take up Classic HMO NEOH and other plans as next.</a:t>
            </a:r>
            <a:endParaRPr lang="en-US" sz="1000" dirty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ns2:creationId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ns2:creationId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ns2:creationId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ns2:creationId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ns2:creationId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ns2:creationId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ns2:colId val="20000"/>
                    </a:ext>
                  </a:extLst>
                </a:gridCol>
                <a:gridCol w="533356">
                  <a:extLst>
                    <a:ext uri="{9D8B030D-6E8A-4147-A177-3AD203B41FA5}">
                      <ns2:colId val="3657914926"/>
                    </a:ext>
                  </a:extLst>
                </a:gridCol>
                <a:gridCol w="557600">
                  <a:extLst>
                    <a:ext uri="{9D8B030D-6E8A-4147-A177-3AD203B41FA5}">
                      <ns2:colId val="3775692062"/>
                    </a:ext>
                  </a:extLst>
                </a:gridCol>
                <a:gridCol w="460627">
                  <a:extLst>
                    <a:ext uri="{9D8B030D-6E8A-4147-A177-3AD203B41FA5}">
                      <ns2:colId val="3289360789"/>
                    </a:ext>
                  </a:extLst>
                </a:gridCol>
                <a:gridCol w="412139">
                  <a:extLst>
                    <a:ext uri="{9D8B030D-6E8A-4147-A177-3AD203B41FA5}">
                      <ns2:colId val="2650012367"/>
                    </a:ext>
                  </a:extLst>
                </a:gridCol>
                <a:gridCol w="412139">
                  <a:extLst>
                    <a:ext uri="{9D8B030D-6E8A-4147-A177-3AD203B41FA5}">
                      <ns2:colId val="4185109620"/>
                    </a:ext>
                  </a:extLst>
                </a:gridCol>
                <a:gridCol w="412139">
                  <a:extLst>
                    <a:ext uri="{9D8B030D-6E8A-4147-A177-3AD203B41FA5}">
                      <ns2:colId val="20003"/>
                    </a:ext>
                  </a:extLst>
                </a:gridCol>
                <a:gridCol w="412139">
                  <a:extLst>
                    <a:ext uri="{9D8B030D-6E8A-4147-A177-3AD203B41FA5}">
                      <ns2:colId val="2472809960"/>
                    </a:ext>
                  </a:extLst>
                </a:gridCol>
                <a:gridCol w="542925">
                  <a:extLst>
                    <a:ext uri="{9D8B030D-6E8A-4147-A177-3AD203B41FA5}">
                      <ns2:colId val="881928816"/>
                    </a:ext>
                  </a:extLst>
                </a:gridCol>
                <a:gridCol w="402571">
                  <a:extLst>
                    <a:ext uri="{9D8B030D-6E8A-4147-A177-3AD203B41FA5}">
                      <ns2:colId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ns2:rowId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ns2:rowId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ns2:rowId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Priority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{{BENEPBETC}}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{{BENEPBIPTC}}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{{BENEPBB}}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ns2:rowId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ns2:rowId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ns2:rowId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ns2:creationId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ns2:creationId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ns2:creationId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ns2:creationId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ns2:creationId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ns2:creationId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ns2:creationId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ns2:creationId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ns2:creationId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ns2:creationId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ns2:creationId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ns2:creationId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ns2:creationId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ns2:creationId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ns2:creationId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ns2:creationId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ns2:creationId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ns2:creationId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ns2:creationId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ns2:creationId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ns2:creationId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ns2:creationId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ns2:creationId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ns2:creationId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ns2:creationId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ns2:creationId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ns2:creationId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ns2:creationId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ns2:creationId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ns2:creationId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ns2:creationId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ns3:creationId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ns2:creationId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ns2:creationId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ns2:creationId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ns2:creationId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935091729"/>
              </p:ext>
            </p:extLst>
          </p:nvPr>
        </p:nvGraphicFramePr>
        <p:xfrm>
          <a:off x="501651" y="1490836"/>
          <a:ext cx="11175482" cy="15206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ns2:colId val="20000"/>
                    </a:ext>
                  </a:extLst>
                </a:gridCol>
                <a:gridCol w="784244">
                  <a:extLst>
                    <a:ext uri="{9D8B030D-6E8A-4147-A177-3AD203B41FA5}">
                      <ns2:colId val="20001"/>
                    </a:ext>
                  </a:extLst>
                </a:gridCol>
                <a:gridCol w="784244">
                  <a:extLst>
                    <a:ext uri="{9D8B030D-6E8A-4147-A177-3AD203B41FA5}">
                      <ns2:colId val="20002"/>
                    </a:ext>
                  </a:extLst>
                </a:gridCol>
                <a:gridCol w="784244">
                  <a:extLst>
                    <a:ext uri="{9D8B030D-6E8A-4147-A177-3AD203B41FA5}">
                      <ns2:colId val="20004"/>
                    </a:ext>
                  </a:extLst>
                </a:gridCol>
                <a:gridCol w="882275">
                  <a:extLst>
                    <a:ext uri="{9D8B030D-6E8A-4147-A177-3AD203B41FA5}">
                      <ns2:colId val="2431512303"/>
                    </a:ext>
                  </a:extLst>
                </a:gridCol>
                <a:gridCol w="882275">
                  <a:extLst>
                    <a:ext uri="{9D8B030D-6E8A-4147-A177-3AD203B41FA5}">
                      <ns2:colId val="2320813991"/>
                    </a:ext>
                  </a:extLst>
                </a:gridCol>
                <a:gridCol w="882275">
                  <a:extLst>
                    <a:ext uri="{9D8B030D-6E8A-4147-A177-3AD203B41FA5}">
                      <ns2:colId val="3464094568"/>
                    </a:ext>
                  </a:extLst>
                </a:gridCol>
                <a:gridCol w="882275">
                  <a:extLst>
                    <a:ext uri="{9D8B030D-6E8A-4147-A177-3AD203B41FA5}">
                      <ns2:colId val="1682406896"/>
                    </a:ext>
                  </a:extLst>
                </a:gridCol>
                <a:gridCol w="882275">
                  <a:extLst>
                    <a:ext uri="{9D8B030D-6E8A-4147-A177-3AD203B41FA5}">
                      <ns2:colId val="3751898163"/>
                    </a:ext>
                  </a:extLst>
                </a:gridCol>
                <a:gridCol w="882275">
                  <a:extLst>
                    <a:ext uri="{9D8B030D-6E8A-4147-A177-3AD203B41FA5}">
                      <ns2:colId val="20006"/>
                    </a:ext>
                  </a:extLst>
                </a:gridCol>
                <a:gridCol w="882275">
                  <a:extLst>
                    <a:ext uri="{9D8B030D-6E8A-4147-A177-3AD203B41FA5}">
                      <ns2:colId val="3578987673"/>
                    </a:ext>
                  </a:extLst>
                </a:gridCol>
                <a:gridCol w="882275">
                  <a:extLst>
                    <a:ext uri="{9D8B030D-6E8A-4147-A177-3AD203B41FA5}">
                      <ns2:colId val="2218412443"/>
                    </a:ext>
                  </a:extLst>
                </a:gridCol>
                <a:gridCol w="882275">
                  <a:extLst>
                    <a:ext uri="{9D8B030D-6E8A-4147-A177-3AD203B41FA5}">
                      <ns2:colId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ns2:creationId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4766671"/>
              </p:ext>
            </p:extLst>
          </p:nvPr>
        </p:nvGraphicFramePr>
        <p:xfrm>
          <a:off x="495836" y="3200475"/>
          <a:ext cx="11175486" cy="25286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ns2:colId val="20000"/>
                    </a:ext>
                  </a:extLst>
                </a:gridCol>
                <a:gridCol w="1052213">
                  <a:extLst>
                    <a:ext uri="{9D8B030D-6E8A-4147-A177-3AD203B41FA5}">
                      <ns2:colId val="3657914926"/>
                    </a:ext>
                  </a:extLst>
                </a:gridCol>
                <a:gridCol w="1052213">
                  <a:extLst>
                    <a:ext uri="{9D8B030D-6E8A-4147-A177-3AD203B41FA5}">
                      <ns2:colId val="3775692062"/>
                    </a:ext>
                  </a:extLst>
                </a:gridCol>
                <a:gridCol w="1052213">
                  <a:extLst>
                    <a:ext uri="{9D8B030D-6E8A-4147-A177-3AD203B41FA5}">
                      <ns2:colId val="2650012367"/>
                    </a:ext>
                  </a:extLst>
                </a:gridCol>
                <a:gridCol w="770287">
                  <a:extLst>
                    <a:ext uri="{9D8B030D-6E8A-4147-A177-3AD203B41FA5}">
                      <ns2:colId val="20003"/>
                    </a:ext>
                  </a:extLst>
                </a:gridCol>
                <a:gridCol w="935297">
                  <a:extLst>
                    <a:ext uri="{9D8B030D-6E8A-4147-A177-3AD203B41FA5}">
                      <ns2:colId val="977609164"/>
                    </a:ext>
                  </a:extLst>
                </a:gridCol>
                <a:gridCol w="935297">
                  <a:extLst>
                    <a:ext uri="{9D8B030D-6E8A-4147-A177-3AD203B41FA5}">
                      <ns2:colId val="1511650616"/>
                    </a:ext>
                  </a:extLst>
                </a:gridCol>
                <a:gridCol w="935297">
                  <a:extLst>
                    <a:ext uri="{9D8B030D-6E8A-4147-A177-3AD203B41FA5}">
                      <ns2:colId val="1059188370"/>
                    </a:ext>
                  </a:extLst>
                </a:gridCol>
                <a:gridCol w="935297">
                  <a:extLst>
                    <a:ext uri="{9D8B030D-6E8A-4147-A177-3AD203B41FA5}">
                      <ns2:colId val="20005"/>
                    </a:ext>
                  </a:extLst>
                </a:gridCol>
                <a:gridCol w="935297">
                  <a:extLst>
                    <a:ext uri="{9D8B030D-6E8A-4147-A177-3AD203B41FA5}">
                      <ns2:colId val="20006"/>
                    </a:ext>
                  </a:extLst>
                </a:gridCol>
                <a:gridCol w="818387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ns2:creationId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ns2:creationId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ns2:creationId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ns2:creationId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ns2:creationId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ns2:creationId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ns2:creationId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ns2:creationId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ns2:creationId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ns2:creationId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ns2:creationId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ns2:creationId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ns2:creationId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ns2:creationId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ns2:creationId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ns2:creationId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>
                <a:solidFill>
                  <a:srgbClr val="313131"/>
                </a:solidFill>
              </a:rPr>
              <a:t>Overall PDM Cursory Review testing is in Off-Track status due to delay in starting of iteration #3. There are {{PDMCB}} outstanding defects that are being worked upon by HE/MMO teams. 9 defects are owned by HE and are related to configuration and data mapping. 4 defects are owned by MMO and are related to data quality.  </a:t>
            </a:r>
          </a:p>
          <a:p>
            <a:pPr>
              <a:spcBef>
                <a:spcPts val="200"/>
              </a:spcBef>
            </a:pPr>
            <a:endParaRPr lang="en-US" sz="90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ns2:creationId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ns3:creationId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powerpoint/2010/main" xmlns:ns3="http://schemas.microsoft.com/office/drawing/2014/main" xmlns:ns4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ns2:modId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ns3:colId val="20000"/>
                    </a:ext>
                  </a:extLst>
                </a:gridCol>
                <a:gridCol w="997588">
                  <a:extLst>
                    <a:ext uri="{9D8B030D-6E8A-4147-A177-3AD203B41FA5}">
                      <ns3:colId val="20001"/>
                    </a:ext>
                  </a:extLst>
                </a:gridCol>
                <a:gridCol w="997588">
                  <a:extLst>
                    <a:ext uri="{9D8B030D-6E8A-4147-A177-3AD203B41FA5}">
                      <ns3:colId val="20002"/>
                    </a:ext>
                  </a:extLst>
                </a:gridCol>
                <a:gridCol w="997588">
                  <a:extLst>
                    <a:ext uri="{9D8B030D-6E8A-4147-A177-3AD203B41FA5}">
                      <ns3:colId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3:rowId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ns3:rowId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ns3:creationId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ns4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ns3:creationId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2:modId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ns3:colId val="1655439103"/>
                    </a:ext>
                  </a:extLst>
                </a:gridCol>
                <a:gridCol w="1640748">
                  <a:extLst>
                    <a:ext uri="{9D8B030D-6E8A-4147-A177-3AD203B41FA5}">
                      <ns3:colId val="20001"/>
                    </a:ext>
                  </a:extLst>
                </a:gridCol>
                <a:gridCol w="5813876">
                  <a:extLst>
                    <a:ext uri="{9D8B030D-6E8A-4147-A177-3AD203B41FA5}">
                      <ns3:colId val="20002"/>
                    </a:ext>
                  </a:extLst>
                </a:gridCol>
                <a:gridCol w="1845842">
                  <a:extLst>
                    <a:ext uri="{9D8B030D-6E8A-4147-A177-3AD203B41FA5}">
                      <ns3:colId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2,054 invalid CPIMS orgs are directly cascading into Tax ID failures,  resolving orgs likely closes both simultaneously, but needs to be validated individually.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3,056 rejected org locations, 7,825 practitioner roles missing specialty require explicit validation before PDM SIT exits.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ns3:rowId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All 9 defects are tied to Rosters and related to data. The 9 ADO defects map to 3 HE JIRA Tickets.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ns3:rowId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ns2:creationId val="3920957069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ns4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ns2:creationId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ns2:creationId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ns2:creationId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ns2:creationId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ns2:creationId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ns2:colId val="20000"/>
                    </a:ext>
                  </a:extLst>
                </a:gridCol>
                <a:gridCol w="930318">
                  <a:extLst>
                    <a:ext uri="{9D8B030D-6E8A-4147-A177-3AD203B41FA5}">
                      <ns2:colId val="20002"/>
                    </a:ext>
                  </a:extLst>
                </a:gridCol>
                <a:gridCol w="930318">
                  <a:extLst>
                    <a:ext uri="{9D8B030D-6E8A-4147-A177-3AD203B41FA5}">
                      <ns2:colId val="20004"/>
                    </a:ext>
                  </a:extLst>
                </a:gridCol>
                <a:gridCol w="1046609">
                  <a:extLst>
                    <a:ext uri="{9D8B030D-6E8A-4147-A177-3AD203B41FA5}">
                      <ns2:colId val="1350781296"/>
                    </a:ext>
                  </a:extLst>
                </a:gridCol>
                <a:gridCol w="1046609">
                  <a:extLst>
                    <a:ext uri="{9D8B030D-6E8A-4147-A177-3AD203B41FA5}">
                      <ns2:colId val="20005"/>
                    </a:ext>
                  </a:extLst>
                </a:gridCol>
                <a:gridCol w="1046609">
                  <a:extLst>
                    <a:ext uri="{9D8B030D-6E8A-4147-A177-3AD203B41FA5}">
                      <ns2:colId val="20006"/>
                    </a:ext>
                  </a:extLst>
                </a:gridCol>
                <a:gridCol w="1046609">
                  <a:extLst>
                    <a:ext uri="{9D8B030D-6E8A-4147-A177-3AD203B41FA5}">
                      <ns2:colId val="20007"/>
                    </a:ext>
                  </a:extLst>
                </a:gridCol>
                <a:gridCol w="814028">
                  <a:extLst>
                    <a:ext uri="{9D8B030D-6E8A-4147-A177-3AD203B41FA5}">
                      <ns2:colId val="1275631766"/>
                    </a:ext>
                  </a:extLst>
                </a:gridCol>
                <a:gridCol w="814028">
                  <a:extLst>
                    <a:ext uri="{9D8B030D-6E8A-4147-A177-3AD203B41FA5}">
                      <ns2:colId val="3397728983"/>
                    </a:ext>
                  </a:extLst>
                </a:gridCol>
                <a:gridCol w="814028">
                  <a:extLst>
                    <a:ext uri="{9D8B030D-6E8A-4147-A177-3AD203B41FA5}">
                      <ns2:colId val="3979944116"/>
                    </a:ext>
                  </a:extLst>
                </a:gridCol>
                <a:gridCol w="814028">
                  <a:extLst>
                    <a:ext uri="{9D8B030D-6E8A-4147-A177-3AD203B41FA5}">
                      <ns2:colId val="1112938457"/>
                    </a:ext>
                  </a:extLst>
                </a:gridCol>
                <a:gridCol w="814028">
                  <a:extLst>
                    <a:ext uri="{9D8B030D-6E8A-4147-A177-3AD203B41FA5}">
                      <ns2:colId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ns2:rowId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ns2:creationId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4016104257"/>
              </p:ext>
            </p:extLst>
          </p:nvPr>
        </p:nvGraphicFramePr>
        <p:xfrm>
          <a:off x="501648" y="2916387"/>
          <a:ext cx="11163826" cy="203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ns2:colId val="20000"/>
                    </a:ext>
                  </a:extLst>
                </a:gridCol>
                <a:gridCol w="1168308">
                  <a:extLst>
                    <a:ext uri="{9D8B030D-6E8A-4147-A177-3AD203B41FA5}">
                      <ns2:colId val="2650012367"/>
                    </a:ext>
                  </a:extLst>
                </a:gridCol>
                <a:gridCol w="1168308">
                  <a:extLst>
                    <a:ext uri="{9D8B030D-6E8A-4147-A177-3AD203B41FA5}">
                      <ns2:colId val="20001"/>
                    </a:ext>
                  </a:extLst>
                </a:gridCol>
                <a:gridCol w="1038494">
                  <a:extLst>
                    <a:ext uri="{9D8B030D-6E8A-4147-A177-3AD203B41FA5}">
                      <ns2:colId val="20003"/>
                    </a:ext>
                  </a:extLst>
                </a:gridCol>
                <a:gridCol w="1038494">
                  <a:extLst>
                    <a:ext uri="{9D8B030D-6E8A-4147-A177-3AD203B41FA5}">
                      <ns2:colId val="3720477358"/>
                    </a:ext>
                  </a:extLst>
                </a:gridCol>
                <a:gridCol w="1038494">
                  <a:extLst>
                    <a:ext uri="{9D8B030D-6E8A-4147-A177-3AD203B41FA5}">
                      <ns2:colId val="20005"/>
                    </a:ext>
                  </a:extLst>
                </a:gridCol>
                <a:gridCol w="1038494">
                  <a:extLst>
                    <a:ext uri="{9D8B030D-6E8A-4147-A177-3AD203B41FA5}">
                      <ns2:colId val="20006"/>
                    </a:ext>
                  </a:extLst>
                </a:gridCol>
                <a:gridCol w="908684">
                  <a:extLst>
                    <a:ext uri="{9D8B030D-6E8A-4147-A177-3AD203B41FA5}">
                      <ns2:colId val="20007"/>
                    </a:ext>
                  </a:extLst>
                </a:gridCol>
                <a:gridCol w="908684">
                  <a:extLst>
                    <a:ext uri="{9D8B030D-6E8A-4147-A177-3AD203B41FA5}">
                      <ns2:colId val="3191463391"/>
                    </a:ext>
                  </a:extLst>
                </a:gridCol>
                <a:gridCol w="908684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ns2:creationId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ns2:creationId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ns2:creationId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ns2:creationId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ns2:creationId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ns2:creationId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ns2:creationId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ns2:creationId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ns2:creationId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ns2:creationId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ns2:creationId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ns4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ns4:id="rId3"/>
            </a:endParaRPr>
          </a:p>
        </p:txBody>
      </p:sp>
      <p:sp>
        <p:nvSpPr>
          <p:cNvPr id="16" name="TextBox 15">
            <a:extLst>
              <a:ext uri="{FF2B5EF4-FFF2-40B4-BE49-F238E27FC236}">
                <ns2:creationId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ns2:creationId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ns2:creationId id="{0D7E3419-BCA6-6695-18E2-932097DC8689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>
                <a:solidFill>
                  <a:srgbClr val="313131"/>
                </a:solidFill>
                <a:ea typeface="Calibri"/>
                <a:cs typeface="Calibri"/>
              </a:rPr>
              <a:t>Overall Benefits SIT testing is At-Risk. First round of priority benefits testing completed on 08/21/2026. Retest of defects and failed test cases is underway with {{BENEPBB}} defects as of {{Date}}. All 24 defects are related to benefit provision configuration issues and lie with MMO.</a:t>
            </a:r>
            <a:endParaRPr lang="en-US" sz="90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ns2:creationId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ns3:creationId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ns4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ns2:creationId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ns2:creationId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ns2:creationId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ns2:creationId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ns2:creationId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ns2:colId val="20000"/>
                    </a:ext>
                  </a:extLst>
                </a:gridCol>
                <a:gridCol w="930317">
                  <a:extLst>
                    <a:ext uri="{9D8B030D-6E8A-4147-A177-3AD203B41FA5}">
                      <ns2:colId val="20002"/>
                    </a:ext>
                  </a:extLst>
                </a:gridCol>
                <a:gridCol w="930317">
                  <a:extLst>
                    <a:ext uri="{9D8B030D-6E8A-4147-A177-3AD203B41FA5}">
                      <ns2:colId val="20004"/>
                    </a:ext>
                  </a:extLst>
                </a:gridCol>
                <a:gridCol w="1046609">
                  <a:extLst>
                    <a:ext uri="{9D8B030D-6E8A-4147-A177-3AD203B41FA5}">
                      <ns2:colId val="1656281088"/>
                    </a:ext>
                  </a:extLst>
                </a:gridCol>
                <a:gridCol w="1046609">
                  <a:extLst>
                    <a:ext uri="{9D8B030D-6E8A-4147-A177-3AD203B41FA5}">
                      <ns2:colId val="20005"/>
                    </a:ext>
                  </a:extLst>
                </a:gridCol>
                <a:gridCol w="1046609">
                  <a:extLst>
                    <a:ext uri="{9D8B030D-6E8A-4147-A177-3AD203B41FA5}">
                      <ns2:colId val="20006"/>
                    </a:ext>
                  </a:extLst>
                </a:gridCol>
                <a:gridCol w="1046609">
                  <a:extLst>
                    <a:ext uri="{9D8B030D-6E8A-4147-A177-3AD203B41FA5}">
                      <ns2:colId val="20007"/>
                    </a:ext>
                  </a:extLst>
                </a:gridCol>
                <a:gridCol w="814028">
                  <a:extLst>
                    <a:ext uri="{9D8B030D-6E8A-4147-A177-3AD203B41FA5}">
                      <ns2:colId val="3949458547"/>
                    </a:ext>
                  </a:extLst>
                </a:gridCol>
                <a:gridCol w="814028">
                  <a:extLst>
                    <a:ext uri="{9D8B030D-6E8A-4147-A177-3AD203B41FA5}">
                      <ns2:colId val="3653656663"/>
                    </a:ext>
                  </a:extLst>
                </a:gridCol>
                <a:gridCol w="814028">
                  <a:extLst>
                    <a:ext uri="{9D8B030D-6E8A-4147-A177-3AD203B41FA5}">
                      <ns2:colId val="2462436254"/>
                    </a:ext>
                  </a:extLst>
                </a:gridCol>
                <a:gridCol w="814028">
                  <a:extLst>
                    <a:ext uri="{9D8B030D-6E8A-4147-A177-3AD203B41FA5}">
                      <ns2:colId val="3598383242"/>
                    </a:ext>
                  </a:extLst>
                </a:gridCol>
                <a:gridCol w="814028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ns2:creationId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ns2:colId val="20000"/>
                    </a:ext>
                  </a:extLst>
                </a:gridCol>
                <a:gridCol w="1168307">
                  <a:extLst>
                    <a:ext uri="{9D8B030D-6E8A-4147-A177-3AD203B41FA5}">
                      <ns2:colId val="2650012367"/>
                    </a:ext>
                  </a:extLst>
                </a:gridCol>
                <a:gridCol w="1168307">
                  <a:extLst>
                    <a:ext uri="{9D8B030D-6E8A-4147-A177-3AD203B41FA5}">
                      <ns2:colId val="20001"/>
                    </a:ext>
                  </a:extLst>
                </a:gridCol>
                <a:gridCol w="1038493">
                  <a:extLst>
                    <a:ext uri="{9D8B030D-6E8A-4147-A177-3AD203B41FA5}">
                      <ns2:colId val="20003"/>
                    </a:ext>
                  </a:extLst>
                </a:gridCol>
                <a:gridCol w="1038493">
                  <a:extLst>
                    <a:ext uri="{9D8B030D-6E8A-4147-A177-3AD203B41FA5}">
                      <ns2:colId val="20005"/>
                    </a:ext>
                  </a:extLst>
                </a:gridCol>
                <a:gridCol w="1038493">
                  <a:extLst>
                    <a:ext uri="{9D8B030D-6E8A-4147-A177-3AD203B41FA5}">
                      <ns2:colId val="3383328722"/>
                    </a:ext>
                  </a:extLst>
                </a:gridCol>
                <a:gridCol w="1038493">
                  <a:extLst>
                    <a:ext uri="{9D8B030D-6E8A-4147-A177-3AD203B41FA5}">
                      <ns2:colId val="20006"/>
                    </a:ext>
                  </a:extLst>
                </a:gridCol>
                <a:gridCol w="908683">
                  <a:extLst>
                    <a:ext uri="{9D8B030D-6E8A-4147-A177-3AD203B41FA5}">
                      <ns2:colId val="3191463391"/>
                    </a:ext>
                  </a:extLst>
                </a:gridCol>
                <a:gridCol w="908683">
                  <a:extLst>
                    <a:ext uri="{9D8B030D-6E8A-4147-A177-3AD203B41FA5}">
                      <ns2:colId val="3705187464"/>
                    </a:ext>
                  </a:extLst>
                </a:gridCol>
                <a:gridCol w="908683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ns2:creationId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ns2:creationId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ns2:creationId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ns2:creationId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ns2:creationId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ns2:creationId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ns2:creationId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ns2:creationId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ns2:creationId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ns2:creationId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ns2:creationId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ns2:creationId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ns4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ns4:id="rId3"/>
            </a:endParaRPr>
          </a:p>
        </p:txBody>
      </p:sp>
      <p:sp>
        <p:nvSpPr>
          <p:cNvPr id="10" name="TextBox 9">
            <a:extLst>
              <a:ext uri="{FF2B5EF4-FFF2-40B4-BE49-F238E27FC236}">
                <ns2:creationId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ns2:creationId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ns2:creationId id="{B58D0882-3254-620F-9493-A68E3708F23E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Overall Enrollment SIT testing is on track. Execution is underway with {{ENROB}} defects as of {{Date}}. 2 defects are </a:t>
            </a:r>
            <a:r>
              <a:rPr lang="en-US" sz="900" b="1" dirty="0">
                <a:solidFill>
                  <a:srgbClr val="313131"/>
                </a:solidFill>
                <a:ea typeface="Calibri"/>
                <a:cs typeface="Calibri"/>
              </a:rPr>
              <a:t>system integration</a:t>
            </a: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 issues and 1 defect is a </a:t>
            </a:r>
            <a:r>
              <a:rPr lang="en-US" sz="900" b="1" dirty="0">
                <a:solidFill>
                  <a:srgbClr val="313131"/>
                </a:solidFill>
                <a:ea typeface="Calibri"/>
                <a:cs typeface="Calibri"/>
              </a:rPr>
              <a:t>data </a:t>
            </a: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issue, all are either with Edifecs or HE.</a:t>
            </a:r>
          </a:p>
        </p:txBody>
      </p:sp>
    </p:spTree>
    <p:extLst>
      <p:ext uri="{BB962C8B-B14F-4D97-AF65-F5344CB8AC3E}">
        <ns3:creationId val="4254924069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ns4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ns2:creationId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ns2:creationId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ns2:creationId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ns2:creationId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ns2:creationId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ns2:colId val="20000"/>
                    </a:ext>
                  </a:extLst>
                </a:gridCol>
                <a:gridCol w="930317">
                  <a:extLst>
                    <a:ext uri="{9D8B030D-6E8A-4147-A177-3AD203B41FA5}">
                      <ns2:colId val="20002"/>
                    </a:ext>
                  </a:extLst>
                </a:gridCol>
                <a:gridCol w="930317">
                  <a:extLst>
                    <a:ext uri="{9D8B030D-6E8A-4147-A177-3AD203B41FA5}">
                      <ns2:colId val="20004"/>
                    </a:ext>
                  </a:extLst>
                </a:gridCol>
                <a:gridCol w="1046609">
                  <a:extLst>
                    <a:ext uri="{9D8B030D-6E8A-4147-A177-3AD203B41FA5}">
                      <ns2:colId val="1066859929"/>
                    </a:ext>
                  </a:extLst>
                </a:gridCol>
                <a:gridCol w="1046609">
                  <a:extLst>
                    <a:ext uri="{9D8B030D-6E8A-4147-A177-3AD203B41FA5}">
                      <ns2:colId val="20005"/>
                    </a:ext>
                  </a:extLst>
                </a:gridCol>
                <a:gridCol w="1046609">
                  <a:extLst>
                    <a:ext uri="{9D8B030D-6E8A-4147-A177-3AD203B41FA5}">
                      <ns2:colId val="20006"/>
                    </a:ext>
                  </a:extLst>
                </a:gridCol>
                <a:gridCol w="1046609">
                  <a:extLst>
                    <a:ext uri="{9D8B030D-6E8A-4147-A177-3AD203B41FA5}">
                      <ns2:colId val="20007"/>
                    </a:ext>
                  </a:extLst>
                </a:gridCol>
                <a:gridCol w="814028">
                  <a:extLst>
                    <a:ext uri="{9D8B030D-6E8A-4147-A177-3AD203B41FA5}">
                      <ns2:colId val="1017906410"/>
                    </a:ext>
                  </a:extLst>
                </a:gridCol>
                <a:gridCol w="814028">
                  <a:extLst>
                    <a:ext uri="{9D8B030D-6E8A-4147-A177-3AD203B41FA5}">
                      <ns2:colId val="5364692"/>
                    </a:ext>
                  </a:extLst>
                </a:gridCol>
                <a:gridCol w="814028">
                  <a:extLst>
                    <a:ext uri="{9D8B030D-6E8A-4147-A177-3AD203B41FA5}">
                      <ns2:colId val="3821498717"/>
                    </a:ext>
                  </a:extLst>
                </a:gridCol>
                <a:gridCol w="814028">
                  <a:extLst>
                    <a:ext uri="{9D8B030D-6E8A-4147-A177-3AD203B41FA5}">
                      <ns2:colId val="1161324812"/>
                    </a:ext>
                  </a:extLst>
                </a:gridCol>
                <a:gridCol w="814028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ns2:creationId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ns2:colId val="20000"/>
                    </a:ext>
                  </a:extLst>
                </a:gridCol>
                <a:gridCol w="1168308">
                  <a:extLst>
                    <a:ext uri="{9D8B030D-6E8A-4147-A177-3AD203B41FA5}">
                      <ns2:colId val="2650012367"/>
                    </a:ext>
                  </a:extLst>
                </a:gridCol>
                <a:gridCol w="1168308">
                  <a:extLst>
                    <a:ext uri="{9D8B030D-6E8A-4147-A177-3AD203B41FA5}">
                      <ns2:colId val="20001"/>
                    </a:ext>
                  </a:extLst>
                </a:gridCol>
                <a:gridCol w="1038494">
                  <a:extLst>
                    <a:ext uri="{9D8B030D-6E8A-4147-A177-3AD203B41FA5}">
                      <ns2:colId val="20003"/>
                    </a:ext>
                  </a:extLst>
                </a:gridCol>
                <a:gridCol w="1038494">
                  <a:extLst>
                    <a:ext uri="{9D8B030D-6E8A-4147-A177-3AD203B41FA5}">
                      <ns2:colId val="2242662145"/>
                    </a:ext>
                  </a:extLst>
                </a:gridCol>
                <a:gridCol w="1038494">
                  <a:extLst>
                    <a:ext uri="{9D8B030D-6E8A-4147-A177-3AD203B41FA5}">
                      <ns2:colId val="20005"/>
                    </a:ext>
                  </a:extLst>
                </a:gridCol>
                <a:gridCol w="1038494">
                  <a:extLst>
                    <a:ext uri="{9D8B030D-6E8A-4147-A177-3AD203B41FA5}">
                      <ns2:colId val="20006"/>
                    </a:ext>
                  </a:extLst>
                </a:gridCol>
                <a:gridCol w="908684">
                  <a:extLst>
                    <a:ext uri="{9D8B030D-6E8A-4147-A177-3AD203B41FA5}">
                      <ns2:colId val="20007"/>
                    </a:ext>
                  </a:extLst>
                </a:gridCol>
                <a:gridCol w="908684">
                  <a:extLst>
                    <a:ext uri="{9D8B030D-6E8A-4147-A177-3AD203B41FA5}">
                      <ns2:colId val="3191463391"/>
                    </a:ext>
                  </a:extLst>
                </a:gridCol>
                <a:gridCol w="908684">
                  <a:extLst>
                    <a:ext uri="{9D8B030D-6E8A-4147-A177-3AD203B41FA5}">
                      <ns2:colId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ns2:rowId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ns2:rowId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ns2:rowId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ns2:creationId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ns2:creationId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ns2:creationId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ns2:creationId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ns2:creationId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ns2:creationId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ns2:creationId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ns2:creationId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ns2:creationId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ns2:creationId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ns2:creationId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ns2:creationId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ns2:creationId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ns2:creationId id="{B01301D2-1CA4-1DB8-1E32-B898DE3D8286}"/>
              </a:ext>
            </a:extLst>
          </p:cNvPr>
          <p:cNvSpPr txBox="1"/>
          <p:nvPr/>
        </p:nvSpPr>
        <p:spPr>
          <a:xfrm>
            <a:off x="516162" y="1234181"/>
            <a:ext cx="11101069" cy="3539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>
                <a:solidFill>
                  <a:srgbClr val="313131"/>
                </a:solidFill>
                <a:ea typeface="Calibri"/>
                <a:cs typeface="Calibri"/>
              </a:rPr>
              <a:t>Overall EDI SIT testing is  on track. Execution is underway with {{EDIB}} defects as of {{Date}}. All 4 defects are integration issues, all are either with Edifecs or HE.</a:t>
            </a:r>
            <a:endParaRPr lang="en-US" sz="90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9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ns2:creationId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ns4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ns4:id="rId4"/>
            </a:endParaRPr>
          </a:p>
        </p:txBody>
      </p:sp>
    </p:spTree>
    <p:extLst>
      <p:ext uri="{BB962C8B-B14F-4D97-AF65-F5344CB8AC3E}">
        <ns3:creationId val="96623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1740</Words>
  <Application>Microsoft Office PowerPoint</Application>
  <PresentationFormat>Widescreen</PresentationFormat>
  <Paragraphs>521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1_Deloitte_Brand_16_9</vt:lpstr>
      <vt:lpstr>1_Deloitte_Brand_16_9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Sharma, Utkarsh</cp:lastModifiedBy>
  <cp:revision>2</cp:revision>
  <dcterms:created xsi:type="dcterms:W3CDTF">2026-03-30T19:40:35Z</dcterms:created>
  <dcterms:modified xsi:type="dcterms:W3CDTF">2026-08-28T14:39:58Z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