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3"/>
  </p:notesMasterIdLst>
  <p:sldIdLst>
    <p:sldId id="2147483588" r:id="rId6"/>
    <p:sldId id="2147483620" r:id="rId7"/>
    <p:sldId id="2147483614" r:id="rId8"/>
    <p:sldId id="2147483621" r:id="rId9"/>
    <p:sldId id="2147483608" r:id="rId10"/>
    <p:sldId id="2147483609" r:id="rId11"/>
    <p:sldId id="21474836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1"/>
            <p14:sldId id="2147483608"/>
            <p14:sldId id="2147483609"/>
            <p14:sldId id="21474836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medmutual/HRP/_queries/query/?tempQueryId=0c3e2021-21ff-4446-bc3a-12d708dbbd22" TargetMode="Externa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4999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endParaRPr lang="en-US" sz="1000" dirty="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{{TB}} open defects remain in “New” and “Active” state. All critical and high-priority defects have been triaged, ownership has been assigned, and remediation efforts are actively underway.​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882729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{{PDMSITB}}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Cursory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091729"/>
              </p:ext>
            </p:extLst>
          </p:nvPr>
        </p:nvGraphicFramePr>
        <p:xfrm>
          <a:off x="501651" y="1490836"/>
          <a:ext cx="1117548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Cursory</a:t>
                      </a:r>
                      <a:endParaRPr lang="en-US" sz="1000" b="1" baseline="30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6671"/>
              </p:ext>
            </p:extLst>
          </p:nvPr>
        </p:nvGraphicFramePr>
        <p:xfrm>
          <a:off x="495836" y="3200475"/>
          <a:ext cx="11175486" cy="2809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5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770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977609164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511650616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059188370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183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Cursory Review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Data Sources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noProof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Target Completion Date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  <a:endParaRPr lang="en-US" sz="1000" kern="1200" baseline="300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CPIMS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+mn-ea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Ancillary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Rosters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{{PDMIT3ROPTC}}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Provider Network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{{PDMIT3PNPTC}}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308757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4667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{{AI_PDM_CURSORY_STATUS}}</a:t>
            </a: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13103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104257"/>
              </p:ext>
            </p:extLst>
          </p:nvPr>
        </p:nvGraphicFramePr>
        <p:xfrm>
          <a:off x="501648" y="2916387"/>
          <a:ext cx="11163826" cy="226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1223873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46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1234181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Defect Status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Critical Defects</a:t>
            </a:r>
            <a:endParaRPr kumimoji="0" lang="en-US" sz="2400" b="1" i="0" u="none" strike="noStrike" kern="1200" cap="none" spc="0" normalizeH="0" baseline="0" noProof="0">
              <a:ln>
                <a:noFill/>
              </a:ln>
              <a:solidFill>
                <a:srgbClr val="00827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sng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As-of: {{Date}}</a:t>
            </a:r>
          </a:p>
        </p:txBody>
      </p:sp>
      <p:graphicFrame>
        <p:nvGraphicFramePr>
          <p:cNvPr id="7" name="DefectCoun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9565"/>
              </p:ext>
            </p:extLst>
          </p:nvPr>
        </p:nvGraphicFramePr>
        <p:xfrm>
          <a:off x="7449587" y="522980"/>
          <a:ext cx="3990352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0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Defect Count by Severity</a:t>
                      </a:r>
                    </a:p>
                  </a:txBody>
                  <a:tcPr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{{PDMBCRIT}}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{{PDMBHIGH}}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{{PDMBMED}}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{{PDMBLOW}}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EDA7643-9D9D-3357-52FC-AC69A242D579}"/>
              </a:ext>
            </a:extLst>
          </p:cNvPr>
          <p:cNvSpPr txBox="1"/>
          <p:nvPr/>
        </p:nvSpPr>
        <p:spPr>
          <a:xfrm>
            <a:off x="501651" y="4119366"/>
            <a:ext cx="3508717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2"/>
              </a:rPr>
              <a:t>ADO PDM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graphicFrame>
        <p:nvGraphicFramePr>
          <p:cNvPr id="9" name="DefectTable">
            <a:extLst>
              <a:ext uri="{FF2B5EF4-FFF2-40B4-BE49-F238E27FC236}">
                <a16:creationId xmlns:a16="http://schemas.microsoft.com/office/drawing/2014/main" id="{D56248BB-FD2A-1838-362F-6A82388CD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756704"/>
              </p:ext>
            </p:extLst>
          </p:nvPr>
        </p:nvGraphicFramePr>
        <p:xfrm>
          <a:off x="501651" y="1469185"/>
          <a:ext cx="10941214" cy="25278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0748">
                  <a:extLst>
                    <a:ext uri="{9D8B030D-6E8A-4147-A177-3AD203B41FA5}">
                      <a16:colId xmlns:a16="http://schemas.microsoft.com/office/drawing/2014/main" val="1655439103"/>
                    </a:ext>
                  </a:extLst>
                </a:gridCol>
                <a:gridCol w="1640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58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34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Category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 of ADO Defects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Details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Owner</a:t>
                      </a:r>
                      <a:endParaRPr lang="en-US" sz="1000" b="1" baseline="30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287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Quality </a:t>
                      </a: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 (High)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{{AI_PDM_DQ_DEFECT_DETAIL_1}}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{{AI_PDM_DQ_DEFECT_DETAIL_2}}</a:t>
                      </a:r>
                    </a:p>
                    <a:p>
                      <a:pPr marL="0" marR="0" lvl="0">
                        <a:buNone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MMO</a:t>
                      </a: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3702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Mapping</a:t>
                      </a:r>
                      <a:endParaRPr lang="en-US" b="1" dirty="0"/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 (Medium)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{{AI_PDM_DM_DEFECT_DETAIL}}</a:t>
                      </a: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HE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41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09570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1921</Words>
  <Application>Microsoft Macintosh PowerPoint</Application>
  <PresentationFormat>Widescreen</PresentationFormat>
  <Paragraphs>521</Paragraphs>
  <Slides>7</Slides>
  <Notes>6</Notes>
  <HiddenSlides>1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5</cp:revision>
  <dcterms:created xsi:type="dcterms:W3CDTF">2026-03-30T19:40:35Z</dcterms:created>
  <dcterms:modified xsi:type="dcterms:W3CDTF">2026-08-28T18:45:42Z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