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2.xml" ContentType="application/vnd.openxmlformats-officedocument.them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7" r:id="rId4"/>
  </p:sldMasterIdLst>
  <p:notesMasterIdLst>
    <p:notesMasterId r:id="rId10"/>
  </p:notesMasterIdLst>
  <p:sldIdLst>
    <p:sldId id="2147483627" r:id="rId5"/>
    <p:sldId id="2147483623" r:id="rId6"/>
    <p:sldId id="2147483624" r:id="rId7"/>
    <p:sldId id="2147483625" r:id="rId8"/>
    <p:sldId id="2147483626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50C2B47-29F0-5145-A610-1B393F7C5C22}">
          <p14:sldIdLst>
            <p14:sldId id="2147483627"/>
            <p14:sldId id="2147483623"/>
          </p14:sldIdLst>
        </p14:section>
        <p14:section name="Work Stream Report" id="{7F7058A9-543B-4063-913C-9EBD99D479DF}">
          <p14:sldIdLst>
            <p14:sldId id="2147483624"/>
            <p14:sldId id="2147483625"/>
            <p14:sldId id="214748362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592DB77-016D-2894-7618-15E9AB52A849}" name="Sharma, Utkarsh" initials="US" userId="S::utkasharma@deloitte.com::0b75815b-62e9-4a90-8530-df5f1a468d5b" providerId="AD"/>
  <p188:author id="{394961A2-CD47-D227-8F1E-7B111DEE8F7B}" name="Khadri, Habib" initials="HK" userId="S::hkhadri@deloitte.com::fb9fabdf-5b74-4106-9d79-d7bad83cee2b" providerId="AD"/>
  <p188:author id="{542719E4-734E-9509-4F5E-E8B595E54DC2}" name="Curtis, Rhonda" initials="" userId="S::rhcurtis@deloitte.com::490ac867-96aa-4c70-800f-015ffadabd6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C9B9A"/>
    <a:srgbClr val="87BD25"/>
    <a:srgbClr val="EDF5E8"/>
    <a:srgbClr val="E7EFE3"/>
    <a:srgbClr val="2ECC71"/>
    <a:srgbClr val="E8E9ED"/>
    <a:srgbClr val="E67E22"/>
    <a:srgbClr val="9A564F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B3C0B49-5046-94DB-513A-C56A0C0506DF}" v="402" dt="2026-08-24T20:50:29.917"/>
    <p1510:client id="{9646695F-199A-5F4B-92D2-AF420CD02529}" v="186" dt="2026-08-24T15:37:11.727"/>
    <p1510:client id="{AC485FBD-E80A-DE18-16CE-00B722266578}" v="25" dt="2026-08-24T15:39:22.553"/>
    <p1510:client id="{CF78E818-AFD5-43B1-9EC2-DDEE3730B37E}" v="493" dt="2026-08-24T22:30:14.60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202"/>
    <p:restoredTop sz="94658"/>
  </p:normalViewPr>
  <p:slideViewPr>
    <p:cSldViewPr snapToGrid="0">
      <p:cViewPr>
        <p:scale>
          <a:sx n="157" d="100"/>
          <a:sy n="157" d="100"/>
        </p:scale>
        <p:origin x="144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CACC89-694D-6647-91BA-F3E287B706AB}" type="datetimeFigureOut">
              <a:rPr lang="en-US" smtClean="0"/>
              <a:t>8/31/26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493E35-2244-C342-BE62-0B069E5D8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546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Title Slide - Black Page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EF77F0F-DE6A-48C9-92BD-013174DD64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5D7BA0-7E63-4F55-8707-FB998AF96C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234793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C1D43B-9933-4650-9DD5-73494BECAE5A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accent3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5EEA3F2-C909-4275-956A-5518D341D424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619F8D2D-E0FF-4267-BB4C-23E0F19AA0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0BDA8F6-D1EC-4590-8515-7F2E0D9EE1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8E570DBD-3EC7-4EE8-886A-A6498BEC3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B1656288-29CD-4B95-A46B-7B8DA7860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C3894AF9-2B03-4231-9AEA-EC49F5E19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F1C43784-6F73-4D9F-8497-B40FDBB854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E031C0BD-B701-4255-B53D-1A0FB80663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1F07466D-8C2C-4286-9984-919330135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F2700776-9B5A-4A2C-BA8E-E8C5B03A09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1D768AB6-AEBA-4689-BCE3-70447F634D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2541757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18232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rgbClr val="007680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8736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3285941"/>
            <a:ext cx="10036811" cy="159240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</a:t>
            </a:r>
            <a:br>
              <a:rPr lang="en-US" noProof="0"/>
            </a:br>
            <a:r>
              <a:rPr lang="en-US" noProof="0"/>
              <a:t>title style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AC1F984-0896-08AD-D32A-C5F31039A6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5839" y="2405525"/>
            <a:ext cx="3228975" cy="966787"/>
          </a:xfrm>
        </p:spPr>
        <p:txBody>
          <a:bodyPr>
            <a:noAutofit/>
          </a:bodyPr>
          <a:lstStyle>
            <a:lvl1pPr>
              <a:defRPr sz="5400">
                <a:solidFill>
                  <a:schemeClr val="accent1"/>
                </a:solidFill>
              </a:defRPr>
            </a:lvl1pPr>
            <a:lvl2pPr>
              <a:defRPr sz="5400">
                <a:solidFill>
                  <a:schemeClr val="accent1"/>
                </a:solidFill>
              </a:defRPr>
            </a:lvl2pPr>
            <a:lvl3pPr>
              <a:defRPr sz="5400">
                <a:solidFill>
                  <a:schemeClr val="accent1"/>
                </a:solidFill>
              </a:defRPr>
            </a:lvl3pPr>
            <a:lvl4pPr>
              <a:defRPr sz="5400">
                <a:solidFill>
                  <a:schemeClr val="accent1"/>
                </a:solidFill>
              </a:defRPr>
            </a:lvl4pPr>
            <a:lvl5pPr>
              <a:defRPr sz="5400">
                <a:solidFill>
                  <a:schemeClr val="accent1"/>
                </a:solidFill>
              </a:defRPr>
            </a:lvl5pPr>
          </a:lstStyle>
          <a:p>
            <a:pPr lvl="0"/>
            <a:r>
              <a:rPr lang="fr-FR" err="1"/>
              <a:t>Number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0285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doigt, ongle, personne, main  Description générée automatiquement">
            <a:extLst>
              <a:ext uri="{FF2B5EF4-FFF2-40B4-BE49-F238E27FC236}">
                <a16:creationId xmlns:a16="http://schemas.microsoft.com/office/drawing/2014/main" id="{3E62A6BF-F7FA-FC83-4BEA-3AEAFC30C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5AAA3FE-D07E-E033-2D8B-CFBA960FB7B5}"/>
              </a:ext>
            </a:extLst>
          </p:cNvPr>
          <p:cNvSpPr/>
          <p:nvPr userDrawn="1"/>
        </p:nvSpPr>
        <p:spPr bwMode="gray">
          <a:xfrm>
            <a:off x="0" y="0"/>
            <a:ext cx="9149443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CA" sz="1600" b="1">
              <a:solidFill>
                <a:schemeClr val="bg1"/>
              </a:solidFill>
            </a:endParaRP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A33EB3C6-CB3C-0EEA-A868-3EFD06E90ED5}"/>
              </a:ext>
            </a:extLst>
          </p:cNvPr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l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Copyright © 2025 Deloitte Development LLC. All rights reserved.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27ED69-0320-C221-6122-02DEFC7FD5AC}"/>
              </a:ext>
            </a:extLst>
          </p:cNvPr>
          <p:cNvSpPr txBox="1"/>
          <p:nvPr userDrawn="1"/>
        </p:nvSpPr>
        <p:spPr>
          <a:xfrm>
            <a:off x="11382377" y="6477001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4A7243CC-CCA8-1D96-AF79-B9FC0D7E1FFE}"/>
              </a:ext>
            </a:extLst>
          </p:cNvPr>
          <p:cNvSpPr txBox="1"/>
          <p:nvPr userDrawn="1"/>
        </p:nvSpPr>
        <p:spPr>
          <a:xfrm>
            <a:off x="6836833" y="6477000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1112504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00388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673558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Key statem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01651" y="1665288"/>
            <a:ext cx="9277349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3600"/>
              </a:spcBef>
              <a:buFontTx/>
              <a:buNone/>
              <a:defRPr sz="3600">
                <a:solidFill>
                  <a:schemeClr val="tx1"/>
                </a:solidFill>
              </a:defRPr>
            </a:lvl1pPr>
            <a:lvl2pPr marL="457200" indent="-457200">
              <a:defRPr sz="3000">
                <a:solidFill>
                  <a:schemeClr val="bg2"/>
                </a:solidFill>
              </a:defRPr>
            </a:lvl2pPr>
            <a:lvl3pPr>
              <a:defRPr sz="3000">
                <a:solidFill>
                  <a:schemeClr val="bg2"/>
                </a:solidFill>
              </a:defRPr>
            </a:lvl3pPr>
            <a:lvl4pPr>
              <a:defRPr sz="3000">
                <a:solidFill>
                  <a:schemeClr val="bg2"/>
                </a:solidFill>
              </a:defRPr>
            </a:lvl4pPr>
            <a:lvl5pPr>
              <a:defRPr sz="30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1126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 &amp;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1652" y="2052000"/>
            <a:ext cx="11188699" cy="406901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2" y="1674087"/>
            <a:ext cx="11188699" cy="3571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1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215754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1AA219-3285-40E3-9146-7A9E17B0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85749708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927734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6729413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6729413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6729413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6729413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  <a:lvl6pPr>
              <a:tabLst>
                <a:tab pos="6729413" algn="r"/>
              </a:tabLst>
              <a:defRPr/>
            </a:lvl6pPr>
            <a:lvl7pPr>
              <a:tabLst>
                <a:tab pos="6729413" algn="r"/>
              </a:tabLst>
              <a:defRPr/>
            </a:lvl7pPr>
            <a:lvl8pPr>
              <a:tabLst>
                <a:tab pos="6729413" algn="r"/>
              </a:tabLst>
              <a:defRPr/>
            </a:lvl8pPr>
            <a:lvl9pPr>
              <a:tabLst>
                <a:tab pos="6729413" algn="r"/>
              </a:tabLst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6660C-D97A-4199-9DB7-D8D50E37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8942251"/>
      </p:ext>
    </p:extLst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et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862256" y="405929"/>
            <a:ext cx="2804160" cy="1027760"/>
          </a:xfrm>
        </p:spPr>
        <p:txBody>
          <a:bodyPr>
            <a:noAutofit/>
          </a:bodyPr>
          <a:lstStyle>
            <a:lvl1pPr>
              <a:spcBef>
                <a:spcPts val="185"/>
              </a:spcBef>
              <a:defRPr sz="923">
                <a:solidFill>
                  <a:schemeClr val="tx1"/>
                </a:solidFill>
              </a:defRPr>
            </a:lvl1pPr>
            <a:lvl2pPr>
              <a:defRPr sz="969">
                <a:solidFill>
                  <a:schemeClr val="tx2"/>
                </a:solidFill>
              </a:defRPr>
            </a:lvl2pPr>
            <a:lvl3pPr>
              <a:defRPr sz="969">
                <a:solidFill>
                  <a:schemeClr val="tx2"/>
                </a:solidFill>
              </a:defRPr>
            </a:lvl3pPr>
            <a:lvl4pPr>
              <a:defRPr sz="923">
                <a:solidFill>
                  <a:schemeClr val="tx2"/>
                </a:solidFill>
              </a:defRPr>
            </a:lvl4pPr>
            <a:lvl5pPr>
              <a:defRPr sz="923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95300" y="1665288"/>
            <a:ext cx="2796541" cy="4716462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554"/>
              </a:spcAft>
              <a:defRPr sz="1000"/>
            </a:lvl1pPr>
            <a:lvl2pPr>
              <a:spcBef>
                <a:spcPts val="277"/>
              </a:spcBef>
              <a:defRPr/>
            </a:lvl2pPr>
            <a:lvl3pPr>
              <a:spcBef>
                <a:spcPts val="277"/>
              </a:spcBef>
              <a:defRPr/>
            </a:lvl3pPr>
            <a:lvl4pPr>
              <a:spcBef>
                <a:spcPts val="277"/>
              </a:spcBef>
              <a:defRPr/>
            </a:lvl4pPr>
            <a:lvl5pPr>
              <a:spcBef>
                <a:spcPts val="277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3780369" y="1665287"/>
            <a:ext cx="7916331" cy="4716461"/>
          </a:xfrm>
        </p:spPr>
        <p:txBody>
          <a:bodyPr>
            <a:noAutofit/>
          </a:bodyPr>
          <a:lstStyle>
            <a:lvl1pPr marL="0" indent="0" algn="l">
              <a:spcBef>
                <a:spcPts val="1662"/>
              </a:spcBef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A2DCA97-92B7-4E52-BE6A-904A9D22F2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9960701" y="626487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9" name="Oval 5">
              <a:extLst>
                <a:ext uri="{FF2B5EF4-FFF2-40B4-BE49-F238E27FC236}">
                  <a16:creationId xmlns:a16="http://schemas.microsoft.com/office/drawing/2014/main" id="{02A83B32-097D-4E01-B3A8-77C4838595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30E27498-E91D-41E0-A196-9E2FB8692F4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1" name="Rectangle 7">
              <a:extLst>
                <a:ext uri="{FF2B5EF4-FFF2-40B4-BE49-F238E27FC236}">
                  <a16:creationId xmlns:a16="http://schemas.microsoft.com/office/drawing/2014/main" id="{524DBE99-D543-47AC-A2B6-25395BDB7D69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209C606A-12E7-40E3-A6B8-DEE79173C9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3" name="Rectangle 9">
              <a:extLst>
                <a:ext uri="{FF2B5EF4-FFF2-40B4-BE49-F238E27FC236}">
                  <a16:creationId xmlns:a16="http://schemas.microsoft.com/office/drawing/2014/main" id="{73ED221B-16E3-4EBE-8EBC-9F66E803CB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10">
              <a:extLst>
                <a:ext uri="{FF2B5EF4-FFF2-40B4-BE49-F238E27FC236}">
                  <a16:creationId xmlns:a16="http://schemas.microsoft.com/office/drawing/2014/main" id="{0D697A95-88D2-47F0-B4DF-915E2EDEDB5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960B0F46-3D82-4FFC-B9BB-9D5BF8DA27B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DBC1DB9C-3617-4E82-B521-DF02390A43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265776A6-2E98-464E-8730-90C3148BA8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44252080-8419-4833-996E-5F1D7B09FF4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368970"/>
      </p:ext>
    </p:extLst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5450351" y="1665288"/>
            <a:ext cx="6240000" cy="4716463"/>
          </a:xfrm>
        </p:spPr>
        <p:txBody>
          <a:bodyPr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445642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32EF4-0628-41B2-82A6-C4B3B130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8421277"/>
      </p:ext>
    </p:extLst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 columns of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5305579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/>
          </p:nvPr>
        </p:nvSpPr>
        <p:spPr>
          <a:xfrm>
            <a:off x="6381539" y="1665289"/>
            <a:ext cx="5322781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B6144-2726-4520-8393-B7B337E0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16298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3"/>
          <p:cNvSpPr>
            <a:spLocks noGrp="1"/>
          </p:cNvSpPr>
          <p:nvPr>
            <p:ph sz="quarter" idx="10"/>
          </p:nvPr>
        </p:nvSpPr>
        <p:spPr>
          <a:xfrm>
            <a:off x="501652" y="1665289"/>
            <a:ext cx="5355165" cy="44557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3" y="2125013"/>
            <a:ext cx="5349128" cy="3996000"/>
          </a:xfr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3" y="1665288"/>
            <a:ext cx="5349128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0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E911C489-B226-49BC-B069-119CF8BC9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F47218A4-44FE-4E96-A903-7AD44AF4E8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699473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1" y="2125013"/>
            <a:ext cx="5349129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2" y="1665288"/>
            <a:ext cx="5349129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24"/>
          </p:nvPr>
        </p:nvSpPr>
        <p:spPr>
          <a:xfrm>
            <a:off x="501650" y="2125013"/>
            <a:ext cx="5349240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49" y="1665288"/>
            <a:ext cx="5349240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528E1B-5BDF-48B1-B9CD-A31A996312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56A696DA-71F5-44D5-B231-17F470D2F6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3893023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0" y="1665289"/>
            <a:ext cx="4431857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450349" y="1665289"/>
            <a:ext cx="6240000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CFBECF-F261-4066-B77C-A1FCF54AA0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6E9BEEDA-6F6F-4BD9-B1D8-9731D1B03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852522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ntent with 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577882" y="1658680"/>
            <a:ext cx="4112468" cy="4723072"/>
          </a:xfrm>
          <a:prstGeom prst="rect">
            <a:avLst/>
          </a:prstGeom>
        </p:spPr>
        <p:txBody>
          <a:bodyPr>
            <a:noAutofit/>
          </a:bodyPr>
          <a:lstStyle>
            <a:lvl1pPr>
              <a:tabLst>
                <a:tab pos="5029200" algn="r"/>
              </a:tabLst>
              <a:defRPr sz="2100">
                <a:solidFill>
                  <a:schemeClr val="accent3"/>
                </a:solidFill>
              </a:defRPr>
            </a:lvl1pPr>
            <a:lvl2pPr>
              <a:tabLst>
                <a:tab pos="5029200" algn="r"/>
              </a:tabLst>
              <a:defRPr/>
            </a:lvl2pPr>
            <a:lvl3pPr>
              <a:tabLst>
                <a:tab pos="5029200" algn="r"/>
              </a:tabLst>
              <a:defRPr/>
            </a:lvl3pPr>
            <a:lvl4pPr>
              <a:tabLst>
                <a:tab pos="5029200" algn="r"/>
              </a:tabLst>
              <a:defRPr/>
            </a:lvl4pPr>
            <a:lvl5pPr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01651" y="1665288"/>
            <a:ext cx="6506348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8009483-F3D1-4AD9-8031-CEB4620DB8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51FE75E2-F986-4CD3-8A43-338DEE272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505096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3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4000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0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hart Placeholder 3"/>
          <p:cNvSpPr>
            <a:spLocks noGrp="1"/>
          </p:cNvSpPr>
          <p:nvPr>
            <p:ph type="chart" sz="quarter" idx="19"/>
          </p:nvPr>
        </p:nvSpPr>
        <p:spPr>
          <a:xfrm>
            <a:off x="43224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4321226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Chart Placeholder 3"/>
          <p:cNvSpPr>
            <a:spLocks noGrp="1"/>
          </p:cNvSpPr>
          <p:nvPr>
            <p:ph type="chart" sz="quarter" idx="21"/>
          </p:nvPr>
        </p:nvSpPr>
        <p:spPr>
          <a:xfrm>
            <a:off x="81408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8140801" y="1659145"/>
            <a:ext cx="3549549" cy="398256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3BAE7D4-2DCE-493F-8804-6735FFDC6D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AA8666D-884E-4CE4-A16C-E06A6E0BA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291086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am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501649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3327216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152783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8978351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1650" y="3124200"/>
            <a:ext cx="2720468" cy="3257548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6149963" y="3120551"/>
            <a:ext cx="2712000" cy="326119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30040" y="3124200"/>
            <a:ext cx="2712000" cy="325754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8993169" y="3108508"/>
            <a:ext cx="2697183" cy="327324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CB36819A-C0CE-4CC8-96BE-D57C8135F4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A14F8B0D-4D62-4988-B307-1BB6BBEEC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288524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501651" y="1674087"/>
            <a:ext cx="36957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8006398" y="1674087"/>
            <a:ext cx="3683953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4273075" y="1674087"/>
            <a:ext cx="36576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idx="1"/>
          </p:nvPr>
        </p:nvSpPr>
        <p:spPr>
          <a:xfrm>
            <a:off x="501651" y="3832225"/>
            <a:ext cx="3683949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8"/>
          <p:cNvSpPr>
            <a:spLocks noGrp="1"/>
          </p:cNvSpPr>
          <p:nvPr>
            <p:ph idx="16"/>
          </p:nvPr>
        </p:nvSpPr>
        <p:spPr>
          <a:xfrm>
            <a:off x="4267200" y="3832225"/>
            <a:ext cx="3657600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Text Placeholder 18"/>
          <p:cNvSpPr>
            <a:spLocks noGrp="1"/>
          </p:cNvSpPr>
          <p:nvPr>
            <p:ph idx="17"/>
          </p:nvPr>
        </p:nvSpPr>
        <p:spPr>
          <a:xfrm>
            <a:off x="8006398" y="3832225"/>
            <a:ext cx="3683953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F15AF63-D425-4D3F-B484-4B7A0F329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7002A92-1CF7-42F5-B761-7DB3C2CF11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981538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 column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4000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9096836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68279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6232557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3B6715C-C932-49B3-880D-8C5710C8F9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6EA7B5E5-1F8D-43CD-9AD2-8B87181DC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39344255"/>
      </p:ext>
    </p:extLst>
  </p:cSld>
  <p:clrMapOvr>
    <a:masterClrMapping/>
  </p:clrMapOvr>
  <p:hf hd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, 1 column text with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8"/>
          <p:cNvSpPr>
            <a:spLocks noGrp="1"/>
          </p:cNvSpPr>
          <p:nvPr>
            <p:ph idx="1"/>
          </p:nvPr>
        </p:nvSpPr>
        <p:spPr>
          <a:xfrm>
            <a:off x="501650" y="1665289"/>
            <a:ext cx="5594351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939BF43-6ABE-4327-81AC-7892A0477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4133C46-CE37-4404-B4D0-9DFA124106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8270795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3003722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5751904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1AFA9E9-5EB8-42BF-B15A-3D95DDA547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C3F5B0ED-A4CB-4D19-B6B8-CA9E1139E7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3560952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521974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80371"/>
      </p:ext>
    </p:extLst>
  </p:cSld>
  <p:clrMapOvr>
    <a:masterClrMapping/>
  </p:clrMapOvr>
  <p:hf hdr="0" dt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0562421"/>
      </p:ext>
    </p:extLst>
  </p:cSld>
  <p:clrMapOvr>
    <a:masterClrMapping/>
  </p:clrMapOvr>
  <p:hf hdr="0" dt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89380862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69900" y="736688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rgbClr val="575757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469900" y="402587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A605-A79A-41B7-BDB1-4EDF869E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16246" y="6387175"/>
            <a:ext cx="1359509" cy="271229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000"/>
              </a:lnSpc>
              <a:defRPr sz="9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fld id="{72E88CFD-7600-DD4A-9690-3544147D6214}" type="slidenum">
              <a:rPr lang="en-US" smtClean="0">
                <a:solidFill>
                  <a:srgbClr val="0367A5"/>
                </a:solidFill>
              </a:rPr>
              <a:pPr/>
              <a:t>‹#›</a:t>
            </a:fld>
            <a:endParaRPr lang="en-US">
              <a:solidFill>
                <a:srgbClr val="0367A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68374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550009-237B-B215-8D17-C9311339C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965" y="244586"/>
            <a:ext cx="5718717" cy="195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158585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ABB89D-C8D1-4D2D-8525-78E0703361EB}"/>
              </a:ext>
            </a:extLst>
          </p:cNvPr>
          <p:cNvCxnSpPr/>
          <p:nvPr userDrawn="1"/>
        </p:nvCxnSpPr>
        <p:spPr>
          <a:xfrm>
            <a:off x="435864" y="3962400"/>
            <a:ext cx="11320272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1BBF1C1-BBBD-49F8-8B70-BD5FA9AC77C6}"/>
              </a:ext>
            </a:extLst>
          </p:cNvPr>
          <p:cNvSpPr txBox="1"/>
          <p:nvPr userDrawn="1"/>
        </p:nvSpPr>
        <p:spPr>
          <a:xfrm>
            <a:off x="291231" y="6457950"/>
            <a:ext cx="4114800" cy="1143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750">
                <a:solidFill>
                  <a:schemeClr val="bg2"/>
                </a:solidFill>
                <a:latin typeface="+mn-lt"/>
                <a:ea typeface="+mn-ea"/>
                <a:cs typeface="+mn-cs"/>
              </a:rPr>
              <a:t>© 2025 Medical Mutual of Ohio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62F1FAD-4BA5-45E5-947C-F544B8D5FE2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300" y="2926080"/>
            <a:ext cx="11201400" cy="933226"/>
          </a:xfrm>
        </p:spPr>
        <p:txBody>
          <a:bodyPr vert="horz" anchor="b" anchorCtr="0"/>
          <a:lstStyle>
            <a:lvl1pPr algn="l">
              <a:lnSpc>
                <a:spcPts val="3600"/>
              </a:lnSpc>
              <a:defRPr sz="3600" b="1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Presentation 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E78F45C9-2688-45FD-99E3-C8B16B45F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300" y="4191000"/>
            <a:ext cx="11201400" cy="273424"/>
          </a:xfrm>
        </p:spPr>
        <p:txBody>
          <a:bodyPr wrap="square" anchor="t" anchorCtr="0"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&lt;Subtitle&gt; or &lt;Date&gt;</a:t>
            </a:r>
          </a:p>
        </p:txBody>
      </p:sp>
    </p:spTree>
    <p:extLst>
      <p:ext uri="{BB962C8B-B14F-4D97-AF65-F5344CB8AC3E}">
        <p14:creationId xmlns:p14="http://schemas.microsoft.com/office/powerpoint/2010/main" val="172392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ags" Target="../tags/tag1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5"/>
            </p:custData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6" imgW="270" imgH="270" progId="TCLayout.ActiveDocument.1">
                  <p:embed/>
                </p:oleObj>
              </mc:Choice>
              <mc:Fallback>
                <p:oleObj name="think-cell Slide" r:id="rId36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37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501651" y="317501"/>
            <a:ext cx="11188700" cy="3098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501650" y="1665289"/>
            <a:ext cx="11188700" cy="471646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2377" y="6661237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941F761-4AEE-929D-5655-D54C7F4B62AF}"/>
              </a:ext>
            </a:extLst>
          </p:cNvPr>
          <p:cNvSpPr txBox="1"/>
          <p:nvPr userDrawn="1"/>
        </p:nvSpPr>
        <p:spPr>
          <a:xfrm>
            <a:off x="6836833" y="6661236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4091557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1" r:id="rId1"/>
    <p:sldLayoutId id="2147483762" r:id="rId2"/>
    <p:sldLayoutId id="2147483763" r:id="rId3"/>
    <p:sldLayoutId id="2147483764" r:id="rId4"/>
    <p:sldLayoutId id="2147483765" r:id="rId5"/>
    <p:sldLayoutId id="2147483766" r:id="rId6"/>
    <p:sldLayoutId id="2147483767" r:id="rId7"/>
    <p:sldLayoutId id="2147483768" r:id="rId8"/>
    <p:sldLayoutId id="2147483769" r:id="rId9"/>
    <p:sldLayoutId id="2147483770" r:id="rId10"/>
    <p:sldLayoutId id="2147483771" r:id="rId11"/>
    <p:sldLayoutId id="2147483772" r:id="rId12"/>
    <p:sldLayoutId id="2147483773" r:id="rId13"/>
    <p:sldLayoutId id="2147483774" r:id="rId14"/>
    <p:sldLayoutId id="2147483775" r:id="rId15"/>
    <p:sldLayoutId id="2147483776" r:id="rId16"/>
    <p:sldLayoutId id="2147483777" r:id="rId17"/>
    <p:sldLayoutId id="2147483778" r:id="rId18"/>
    <p:sldLayoutId id="2147483779" r:id="rId19"/>
    <p:sldLayoutId id="2147483780" r:id="rId20"/>
    <p:sldLayoutId id="2147483781" r:id="rId21"/>
    <p:sldLayoutId id="2147483782" r:id="rId22"/>
    <p:sldLayoutId id="2147483783" r:id="rId23"/>
    <p:sldLayoutId id="2147483784" r:id="rId24"/>
    <p:sldLayoutId id="2147483785" r:id="rId25"/>
    <p:sldLayoutId id="2147483786" r:id="rId26"/>
    <p:sldLayoutId id="2147483787" r:id="rId27"/>
    <p:sldLayoutId id="2147483788" r:id="rId28"/>
    <p:sldLayoutId id="2147483789" r:id="rId29"/>
    <p:sldLayoutId id="2147483790" r:id="rId30"/>
    <p:sldLayoutId id="2147483791" r:id="rId31"/>
    <p:sldLayoutId id="2147483792" r:id="rId32"/>
    <p:sldLayoutId id="2147483793" r:id="rId33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+mn-lt"/>
          <a:ea typeface="+mj-ea"/>
          <a:cs typeface="Calibri Light" panose="020F0302020204030204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1000"/>
        </a:spcAft>
        <a:buSzPct val="100000"/>
        <a:buFontTx/>
        <a:buNone/>
        <a:defRPr sz="13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397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lang="en-US" sz="13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048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defRPr lang="en-US" sz="130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4699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◦"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635000" indent="-139700" algn="l" defTabSz="798513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tabLst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E6B2FF4-4B7B-1368-57D8-FB8B837B874C}"/>
              </a:ext>
            </a:extLst>
          </p:cNvPr>
          <p:cNvSpPr txBox="1">
            <a:spLocks/>
          </p:cNvSpPr>
          <p:nvPr/>
        </p:nvSpPr>
        <p:spPr>
          <a:xfrm>
            <a:off x="495300" y="2921000"/>
            <a:ext cx="8890000" cy="1143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100" kern="1200">
                <a:solidFill>
                  <a:schemeClr val="tx1"/>
                </a:solidFill>
                <a:latin typeface="+mn-lt"/>
                <a:ea typeface="+mj-ea"/>
                <a:cs typeface="Calibri Light" panose="020F0302020204030204" pitchFamily="34" charset="0"/>
              </a:defRPr>
            </a:lvl1pPr>
          </a:lstStyle>
          <a:p>
            <a:pPr algn="l">
              <a:spcBef>
                <a:spcPts val="0"/>
              </a:spcBef>
            </a:pPr>
            <a:r>
              <a:rPr lang="en-US" sz="3600" b="1" dirty="0">
                <a:solidFill>
                  <a:srgbClr val="000000"/>
                </a:solidFill>
              </a:rPr>
              <a:t>Test Execution &amp; Defect Report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9073825-231B-7755-C3F1-0A75B1745C1C}"/>
              </a:ext>
            </a:extLst>
          </p:cNvPr>
          <p:cNvSpPr txBox="1">
            <a:spLocks/>
          </p:cNvSpPr>
          <p:nvPr/>
        </p:nvSpPr>
        <p:spPr bwMode="gray">
          <a:xfrm>
            <a:off x="495300" y="4318000"/>
            <a:ext cx="6350000" cy="508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3600"/>
              </a:lnSpc>
              <a:spcBef>
                <a:spcPct val="0"/>
              </a:spcBef>
              <a:buNone/>
              <a:defRPr sz="3600" b="1" kern="12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>
              <a:lnSpc>
                <a:spcPct val="100000"/>
              </a:lnSpc>
              <a:spcBef>
                <a:spcPts val="800"/>
              </a:spcBef>
              <a:buNone/>
            </a:pPr>
            <a:r>
              <a:rPr lang="en-US" sz="1800" dirty="0">
                <a:solidFill>
                  <a:srgbClr val="53565A"/>
                </a:solidFill>
              </a:rPr>
              <a:t>{{Date}}</a:t>
            </a:r>
          </a:p>
        </p:txBody>
      </p:sp>
      <p:sp>
        <p:nvSpPr>
          <p:cNvPr id="7" name="AccentBar">
            <a:extLst>
              <a:ext uri="{FF2B5EF4-FFF2-40B4-BE49-F238E27FC236}">
                <a16:creationId xmlns:a16="http://schemas.microsoft.com/office/drawing/2014/main" id="{4183CDD1-7402-8347-8356-BD91A6250A0A}"/>
              </a:ext>
            </a:extLst>
          </p:cNvPr>
          <p:cNvSpPr/>
          <p:nvPr/>
        </p:nvSpPr>
        <p:spPr bwMode="gray">
          <a:xfrm>
            <a:off x="495300" y="2603500"/>
            <a:ext cx="698500" cy="63500"/>
          </a:xfrm>
          <a:prstGeom prst="rect">
            <a:avLst/>
          </a:prstGeom>
          <a:solidFill>
            <a:srgbClr val="2C9B9A"/>
          </a:solidFill>
          <a:ln w="19050" algn="ctr">
            <a:noFill/>
            <a:miter lim="800000"/>
            <a:headEnd/>
            <a:tailEnd/>
          </a:ln>
        </p:spPr>
        <p:txBody>
          <a:bodyPr vertOverflow="clip" horzOverflow="clip" wrap="square" lIns="88900" tIns="88900" rIns="88900" bIns="88900" rtlCol="0" anchor="t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US" sz="1600" b="1" dirty="0">
              <a:solidFill>
                <a:srgbClr val="2C9B9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12119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NarrHeader">
            <a:extLst>
              <a:ext uri="{FF2B5EF4-FFF2-40B4-BE49-F238E27FC236}">
                <a16:creationId xmlns:a16="http://schemas.microsoft.com/office/drawing/2014/main" id="{9F1083E7-50E9-0831-9608-B972E453D5AF}"/>
              </a:ext>
            </a:extLst>
          </p:cNvPr>
          <p:cNvSpPr txBox="1"/>
          <p:nvPr/>
        </p:nvSpPr>
        <p:spPr>
          <a:xfrm>
            <a:off x="376931" y="2440118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 dirty="0">
                <a:solidFill>
                  <a:srgbClr val="2C9B9A"/>
                </a:solidFill>
                <a:latin typeface="Calibri"/>
              </a:rPr>
              <a:t>Status</a:t>
            </a:r>
          </a:p>
        </p:txBody>
      </p:sp>
      <p:sp>
        <p:nvSpPr>
          <p:cNvPr id="6" name="NarrLeft">
            <a:extLst>
              <a:ext uri="{FF2B5EF4-FFF2-40B4-BE49-F238E27FC236}">
                <a16:creationId xmlns:a16="http://schemas.microsoft.com/office/drawing/2014/main" id="{AEEF1819-ACBE-F47C-DD28-AC23E50549C5}"/>
              </a:ext>
            </a:extLst>
          </p:cNvPr>
          <p:cNvSpPr txBox="1"/>
          <p:nvPr/>
        </p:nvSpPr>
        <p:spPr>
          <a:xfrm>
            <a:off x="368223" y="2716857"/>
            <a:ext cx="5406764" cy="3228686"/>
          </a:xfrm>
          <a:prstGeom prst="rect">
            <a:avLst/>
          </a:prstGeom>
          <a:solidFill>
            <a:srgbClr val="F7F7F7"/>
          </a:solidFill>
          <a:ln w="12700">
            <a:noFill/>
          </a:ln>
        </p:spPr>
        <p:txBody>
          <a:bodyPr wrap="square" lIns="182880" tIns="182880" rIns="182880" bIns="182880" anchor="t">
            <a:norm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2C9B9A"/>
                </a:solidFill>
                <a:latin typeface="Calibri"/>
              </a:rPr>
              <a:t>Executive Summary</a:t>
            </a:r>
            <a:r>
              <a:rPr lang="en-US" sz="1050" b="1" dirty="0">
                <a:solidFill>
                  <a:srgbClr val="2C9B9A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2C9B9A"/>
              </a:solidFill>
              <a:latin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{{AI_OVERALL_STATUS}}</a:t>
            </a: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{{AI_PDM_DEFECT_SUMMARY}}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lang="en-US" sz="1050" b="1" dirty="0">
                <a:solidFill>
                  <a:srgbClr val="2C9B9A"/>
                </a:solidFill>
                <a:latin typeface="Calibri"/>
              </a:rPr>
              <a:t>Defect Triage:</a:t>
            </a:r>
            <a:endParaRPr lang="en-US" sz="1050" b="1" dirty="0">
              <a:solidFill>
                <a:srgbClr val="2C9B9A"/>
              </a:solidFill>
              <a:latin typeface="Calibri"/>
              <a:ea typeface="Calibri"/>
              <a:cs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{{AI_DEFECT_TRIAGE_STATUS}}</a:t>
            </a: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A8E53993-C505-F189-6BA0-AC96730B5D4F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 dirty="0">
                <a:solidFill>
                  <a:prstClr val="black"/>
                </a:solidFill>
                <a:latin typeface="Calibri"/>
              </a:rPr>
              <a:t>SIT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lang="en-US" sz="2400" b="1" dirty="0">
                <a:solidFill>
                  <a:prstClr val="black"/>
                </a:solidFill>
                <a:latin typeface="Calibri"/>
              </a:rPr>
              <a:t>Execution Status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C9B9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Executive Summary</a:t>
            </a:r>
          </a:p>
        </p:txBody>
      </p:sp>
      <p:sp>
        <p:nvSpPr>
          <p:cNvPr id="8" name="AsOf">
            <a:extLst>
              <a:ext uri="{FF2B5EF4-FFF2-40B4-BE49-F238E27FC236}">
                <a16:creationId xmlns:a16="http://schemas.microsoft.com/office/drawing/2014/main" id="{11A7D54F-39E4-246B-A124-030DE7859B40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lvl="0"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9" name="NarrLeft">
            <a:extLst>
              <a:ext uri="{FF2B5EF4-FFF2-40B4-BE49-F238E27FC236}">
                <a16:creationId xmlns:a16="http://schemas.microsoft.com/office/drawing/2014/main" id="{86AED83B-27BA-55B4-6675-7729FB88E0B6}"/>
              </a:ext>
            </a:extLst>
          </p:cNvPr>
          <p:cNvSpPr txBox="1"/>
          <p:nvPr/>
        </p:nvSpPr>
        <p:spPr>
          <a:xfrm>
            <a:off x="6396209" y="2716857"/>
            <a:ext cx="5405798" cy="3223773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0" name="NarrHeader">
            <a:extLst>
              <a:ext uri="{FF2B5EF4-FFF2-40B4-BE49-F238E27FC236}">
                <a16:creationId xmlns:a16="http://schemas.microsoft.com/office/drawing/2014/main" id="{03A3CB08-FA6D-02CB-FBC5-9D3BEC99A4A1}"/>
              </a:ext>
            </a:extLst>
          </p:cNvPr>
          <p:cNvSpPr txBox="1"/>
          <p:nvPr/>
        </p:nvSpPr>
        <p:spPr>
          <a:xfrm>
            <a:off x="6397891" y="2414275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>
                <a:solidFill>
                  <a:srgbClr val="007680"/>
                </a:solidFill>
                <a:latin typeface="Calibri"/>
              </a:rPr>
              <a:t>Test Case and Defect Breakdown</a:t>
            </a:r>
          </a:p>
        </p:txBody>
      </p:sp>
      <p:graphicFrame>
        <p:nvGraphicFramePr>
          <p:cNvPr id="11" name="WorkstreamSummary">
            <a:extLst>
              <a:ext uri="{FF2B5EF4-FFF2-40B4-BE49-F238E27FC236}">
                <a16:creationId xmlns:a16="http://schemas.microsoft.com/office/drawing/2014/main" id="{66461C59-5919-6282-EA10-E2A9B40F5D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7384231"/>
              </p:ext>
            </p:extLst>
          </p:nvPr>
        </p:nvGraphicFramePr>
        <p:xfrm>
          <a:off x="6527074" y="2852056"/>
          <a:ext cx="5163863" cy="21355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182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3356">
                  <a:extLst>
                    <a:ext uri="{9D8B030D-6E8A-4147-A177-3AD203B41FA5}">
                      <a16:colId xmlns:a16="http://schemas.microsoft.com/office/drawing/2014/main" val="3657914926"/>
                    </a:ext>
                  </a:extLst>
                </a:gridCol>
                <a:gridCol w="557600">
                  <a:extLst>
                    <a:ext uri="{9D8B030D-6E8A-4147-A177-3AD203B41FA5}">
                      <a16:colId xmlns:a16="http://schemas.microsoft.com/office/drawing/2014/main" val="3775692062"/>
                    </a:ext>
                  </a:extLst>
                </a:gridCol>
                <a:gridCol w="460627">
                  <a:extLst>
                    <a:ext uri="{9D8B030D-6E8A-4147-A177-3AD203B41FA5}">
                      <a16:colId xmlns:a16="http://schemas.microsoft.com/office/drawing/2014/main" val="3289360789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4185109620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247280996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881928816"/>
                    </a:ext>
                  </a:extLst>
                </a:gridCol>
                <a:gridCol w="4025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2267">
                <a:tc gridSpan="10"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Review Summary</a:t>
                      </a:r>
                    </a:p>
                  </a:txBody>
                  <a:tcPr marL="27432" marR="27432" anchor="ctr">
                    <a:solidFill>
                      <a:srgbClr val="2C9B9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34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Workstreams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313131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Executed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In Progress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Open Defects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latin typeface="Calibri"/>
                        </a:rPr>
                        <a:t>PDM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{{PDMTTC}}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{{PDMB}}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3191323699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latin typeface="Calibri"/>
                        </a:rPr>
                        <a:t>Enrollment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{{ENRLTTC}}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{{ENRLETC}}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{{ENRLEP}}%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{{ENRLPTC}}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{{ENRLPP}}%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{{ENRLFTC}}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{{ENRLFP}}%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{{ENRLIPTC}}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{{ENRLB}}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latin typeface="Calibri"/>
                        </a:rPr>
                        <a:t>EDI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{{EDIB}}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792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marL="27432" marR="27432"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chemeClr val="bg1"/>
                          </a:solidFill>
                          <a:latin typeface="+mn-lt"/>
                        </a:rPr>
                        <a:t>{{TTC}}</a:t>
                      </a:r>
                    </a:p>
                  </a:txBody>
                  <a:tcPr marL="27432" marR="27432"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  <a:latin typeface="+mn-lt"/>
                        </a:rPr>
                        <a:t>{{ETC}}</a:t>
                      </a:r>
                    </a:p>
                  </a:txBody>
                  <a:tcPr marL="27432" marR="27432"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  <a:latin typeface="+mn-lt"/>
                        </a:rPr>
                        <a:t>{{EP}}%</a:t>
                      </a:r>
                    </a:p>
                  </a:txBody>
                  <a:tcPr marL="27432" marR="27432"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  <a:latin typeface="+mn-lt"/>
                        </a:rPr>
                        <a:t>{{PTC}}</a:t>
                      </a:r>
                    </a:p>
                  </a:txBody>
                  <a:tcPr marL="27432" marR="27432"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  <a:latin typeface="+mn-lt"/>
                        </a:rPr>
                        <a:t>{{PP}}%</a:t>
                      </a:r>
                    </a:p>
                  </a:txBody>
                  <a:tcPr marL="27432" marR="27432"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  <a:latin typeface="+mn-lt"/>
                        </a:rPr>
                        <a:t>{{FTC}}</a:t>
                      </a:r>
                    </a:p>
                  </a:txBody>
                  <a:tcPr marL="27432" marR="27432"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  <a:latin typeface="+mn-lt"/>
                        </a:rPr>
                        <a:t>{{FP}}%</a:t>
                      </a:r>
                    </a:p>
                  </a:txBody>
                  <a:tcPr marL="27432" marR="27432"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  <a:latin typeface="+mn-lt"/>
                        </a:rPr>
                        <a:t>{{IPTC}}</a:t>
                      </a:r>
                    </a:p>
                  </a:txBody>
                  <a:tcPr marL="27432" marR="27432"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  <a:latin typeface="+mn-lt"/>
                        </a:rPr>
                        <a:t>{{TB}}</a:t>
                      </a:r>
                      <a:endParaRPr lang="en-US" dirty="0"/>
                    </a:p>
                  </a:txBody>
                  <a:tcPr marL="27432" marR="27432" anchor="ctr">
                    <a:solidFill>
                      <a:srgbClr val="2C9B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D6A9759D-AFE2-2B1F-306D-54AA9FC3AF2B}"/>
              </a:ext>
            </a:extLst>
          </p:cNvPr>
          <p:cNvSpPr txBox="1"/>
          <p:nvPr/>
        </p:nvSpPr>
        <p:spPr>
          <a:xfrm>
            <a:off x="353928" y="6042392"/>
            <a:ext cx="5435354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In Progress </a:t>
            </a:r>
            <a:r>
              <a:rPr lang="en-US" sz="800" dirty="0">
                <a:solidFill>
                  <a:srgbClr val="313131"/>
                </a:solidFill>
              </a:rPr>
              <a:t>– The test case is currently in-progress awaiting to clear pending dependencies </a:t>
            </a:r>
          </a:p>
        </p:txBody>
      </p:sp>
      <p:sp>
        <p:nvSpPr>
          <p:cNvPr id="25" name="StatBox1">
            <a:extLst>
              <a:ext uri="{FF2B5EF4-FFF2-40B4-BE49-F238E27FC236}">
                <a16:creationId xmlns:a16="http://schemas.microsoft.com/office/drawing/2014/main" id="{D8341706-403B-0AB9-FE87-8B12BCE403C5}"/>
              </a:ext>
            </a:extLst>
          </p:cNvPr>
          <p:cNvSpPr>
            <a:spLocks noGrp="1" noChangeAspect="1"/>
          </p:cNvSpPr>
          <p:nvPr/>
        </p:nvSpPr>
        <p:spPr>
          <a:xfrm>
            <a:off x="350597" y="1461008"/>
            <a:ext cx="1723995" cy="891136"/>
          </a:xfrm>
          <a:prstGeom prst="rect">
            <a:avLst/>
          </a:prstGeom>
          <a:solidFill>
            <a:srgbClr val="F0FAFA"/>
          </a:solidFill>
          <a:ln w="19050">
            <a:solidFill>
              <a:srgbClr val="00768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" name="Stat1Num">
            <a:extLst>
              <a:ext uri="{FF2B5EF4-FFF2-40B4-BE49-F238E27FC236}">
                <a16:creationId xmlns:a16="http://schemas.microsoft.com/office/drawing/2014/main" id="{D1878CE2-D716-79D7-62C6-95E49E207A14}"/>
              </a:ext>
            </a:extLst>
          </p:cNvPr>
          <p:cNvSpPr txBox="1">
            <a:spLocks noChangeAspect="1"/>
          </p:cNvSpPr>
          <p:nvPr/>
        </p:nvSpPr>
        <p:spPr>
          <a:xfrm>
            <a:off x="347542" y="1568438"/>
            <a:ext cx="1735119" cy="510955"/>
          </a:xfrm>
          <a:prstGeom prst="rect">
            <a:avLst/>
          </a:prstGeom>
          <a:noFill/>
        </p:spPr>
        <p:txBody>
          <a:bodyPr wrap="square" lIns="91440" tIns="0" rIns="91440" bIns="0" anchor="ctr">
            <a:normAutofit fontScale="77500" lnSpcReduction="20000"/>
          </a:bodyPr>
          <a:lstStyle/>
          <a:p>
            <a:pPr algn="ctr"/>
            <a:r>
              <a:rPr lang="en-US" sz="4800" b="1" dirty="0">
                <a:solidFill>
                  <a:srgbClr val="007680"/>
                </a:solidFill>
              </a:rPr>
              <a:t>{{TTC}}</a:t>
            </a:r>
            <a:endParaRPr lang="en-US" sz="4800" b="1" baseline="30000" dirty="0">
              <a:solidFill>
                <a:srgbClr val="007680"/>
              </a:solidFill>
            </a:endParaRPr>
          </a:p>
        </p:txBody>
      </p:sp>
      <p:sp>
        <p:nvSpPr>
          <p:cNvPr id="27" name="Stat1Lbl">
            <a:extLst>
              <a:ext uri="{FF2B5EF4-FFF2-40B4-BE49-F238E27FC236}">
                <a16:creationId xmlns:a16="http://schemas.microsoft.com/office/drawing/2014/main" id="{B3773FCE-AB3C-7916-EDA7-A28BC6286AD9}"/>
              </a:ext>
            </a:extLst>
          </p:cNvPr>
          <p:cNvSpPr txBox="1">
            <a:spLocks noChangeAspect="1"/>
          </p:cNvSpPr>
          <p:nvPr/>
        </p:nvSpPr>
        <p:spPr>
          <a:xfrm>
            <a:off x="350597" y="2120091"/>
            <a:ext cx="1723997" cy="233528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Total Test Cases</a:t>
            </a:r>
          </a:p>
        </p:txBody>
      </p:sp>
      <p:sp>
        <p:nvSpPr>
          <p:cNvPr id="28" name="StatBox2">
            <a:extLst>
              <a:ext uri="{FF2B5EF4-FFF2-40B4-BE49-F238E27FC236}">
                <a16:creationId xmlns:a16="http://schemas.microsoft.com/office/drawing/2014/main" id="{4F637760-4453-A506-D6CF-53E1E3D9C004}"/>
              </a:ext>
            </a:extLst>
          </p:cNvPr>
          <p:cNvSpPr>
            <a:spLocks noGrp="1"/>
          </p:cNvSpPr>
          <p:nvPr/>
        </p:nvSpPr>
        <p:spPr>
          <a:xfrm>
            <a:off x="4203523" y="1459534"/>
            <a:ext cx="1728216" cy="886968"/>
          </a:xfrm>
          <a:prstGeom prst="rect">
            <a:avLst/>
          </a:prstGeom>
          <a:solidFill>
            <a:srgbClr val="F0FAF2"/>
          </a:solidFill>
          <a:ln w="19050">
            <a:solidFill>
              <a:srgbClr val="00AA5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Stat2Num">
            <a:extLst>
              <a:ext uri="{FF2B5EF4-FFF2-40B4-BE49-F238E27FC236}">
                <a16:creationId xmlns:a16="http://schemas.microsoft.com/office/drawing/2014/main" id="{9D9D6167-BB9E-EF31-FCC9-B23350ADF5E5}"/>
              </a:ext>
            </a:extLst>
          </p:cNvPr>
          <p:cNvSpPr txBox="1"/>
          <p:nvPr/>
        </p:nvSpPr>
        <p:spPr>
          <a:xfrm>
            <a:off x="4203523" y="1559531"/>
            <a:ext cx="1735120" cy="511801"/>
          </a:xfrm>
          <a:prstGeom prst="rect">
            <a:avLst/>
          </a:prstGeom>
          <a:noFill/>
        </p:spPr>
        <p:txBody>
          <a:bodyPr wrap="square" lIns="91440" tIns="0" rIns="91440" bIns="0" anchor="ctr">
            <a:normAutofit fontScale="77500" lnSpcReduction="20000"/>
          </a:bodyPr>
          <a:lstStyle/>
          <a:p>
            <a:pPr algn="ctr"/>
            <a:r>
              <a:rPr lang="en-US" sz="4800" b="1">
                <a:solidFill>
                  <a:srgbClr val="00AA55"/>
                </a:solidFill>
                <a:ea typeface="Calibri"/>
                <a:cs typeface="Calibri"/>
              </a:rPr>
              <a:t>{{PTC}}</a:t>
            </a:r>
          </a:p>
        </p:txBody>
      </p:sp>
      <p:sp>
        <p:nvSpPr>
          <p:cNvPr id="30" name="Stat2Lbl">
            <a:extLst>
              <a:ext uri="{FF2B5EF4-FFF2-40B4-BE49-F238E27FC236}">
                <a16:creationId xmlns:a16="http://schemas.microsoft.com/office/drawing/2014/main" id="{D8BDE3B2-9BD3-2DC0-F2F4-7531ED7DA2CD}"/>
              </a:ext>
            </a:extLst>
          </p:cNvPr>
          <p:cNvSpPr txBox="1"/>
          <p:nvPr/>
        </p:nvSpPr>
        <p:spPr>
          <a:xfrm>
            <a:off x="4202715" y="2109225"/>
            <a:ext cx="1730273" cy="255901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Passed ({{PP}}%)</a:t>
            </a:r>
          </a:p>
        </p:txBody>
      </p:sp>
      <p:sp>
        <p:nvSpPr>
          <p:cNvPr id="31" name="StatBox3">
            <a:extLst>
              <a:ext uri="{FF2B5EF4-FFF2-40B4-BE49-F238E27FC236}">
                <a16:creationId xmlns:a16="http://schemas.microsoft.com/office/drawing/2014/main" id="{C12AD6B9-39A3-D0E8-CE39-26F8B35695F9}"/>
              </a:ext>
            </a:extLst>
          </p:cNvPr>
          <p:cNvSpPr>
            <a:spLocks noGrp="1"/>
          </p:cNvSpPr>
          <p:nvPr/>
        </p:nvSpPr>
        <p:spPr>
          <a:xfrm>
            <a:off x="6143661" y="1459534"/>
            <a:ext cx="1728216" cy="886968"/>
          </a:xfrm>
          <a:prstGeom prst="rect">
            <a:avLst/>
          </a:prstGeom>
          <a:solidFill>
            <a:srgbClr val="FFF2F2"/>
          </a:solidFill>
          <a:ln w="19050">
            <a:solidFill>
              <a:srgbClr val="CC333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2" name="Stat3Num">
            <a:extLst>
              <a:ext uri="{FF2B5EF4-FFF2-40B4-BE49-F238E27FC236}">
                <a16:creationId xmlns:a16="http://schemas.microsoft.com/office/drawing/2014/main" id="{E1292D23-AE5D-4C75-D688-17DD07830270}"/>
              </a:ext>
            </a:extLst>
          </p:cNvPr>
          <p:cNvSpPr txBox="1"/>
          <p:nvPr/>
        </p:nvSpPr>
        <p:spPr>
          <a:xfrm>
            <a:off x="6148521" y="1551039"/>
            <a:ext cx="1730260" cy="511801"/>
          </a:xfrm>
          <a:prstGeom prst="rect">
            <a:avLst/>
          </a:prstGeom>
          <a:noFill/>
        </p:spPr>
        <p:txBody>
          <a:bodyPr wrap="square" lIns="91440" tIns="0" rIns="91440" bIns="0" anchor="ctr">
            <a:normAutofit fontScale="77500" lnSpcReduction="20000"/>
          </a:bodyPr>
          <a:lstStyle/>
          <a:p>
            <a:pPr algn="ctr"/>
            <a:r>
              <a:rPr lang="en-US" sz="4800" b="1">
                <a:solidFill>
                  <a:srgbClr val="CC3333"/>
                </a:solidFill>
                <a:ea typeface="Calibri"/>
                <a:cs typeface="Calibri"/>
              </a:rPr>
              <a:t>{{FTC}}</a:t>
            </a:r>
          </a:p>
        </p:txBody>
      </p:sp>
      <p:sp>
        <p:nvSpPr>
          <p:cNvPr id="33" name="Stat3Lbl">
            <a:extLst>
              <a:ext uri="{FF2B5EF4-FFF2-40B4-BE49-F238E27FC236}">
                <a16:creationId xmlns:a16="http://schemas.microsoft.com/office/drawing/2014/main" id="{064635A7-1549-9B36-D031-F22FA675FD2D}"/>
              </a:ext>
            </a:extLst>
          </p:cNvPr>
          <p:cNvSpPr txBox="1"/>
          <p:nvPr/>
        </p:nvSpPr>
        <p:spPr>
          <a:xfrm>
            <a:off x="6151576" y="2122785"/>
            <a:ext cx="1730260" cy="246777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Failed ({{FP}}%)</a:t>
            </a:r>
          </a:p>
        </p:txBody>
      </p:sp>
      <p:sp>
        <p:nvSpPr>
          <p:cNvPr id="34" name="StatBox4">
            <a:extLst>
              <a:ext uri="{FF2B5EF4-FFF2-40B4-BE49-F238E27FC236}">
                <a16:creationId xmlns:a16="http://schemas.microsoft.com/office/drawing/2014/main" id="{4511F8A5-CFE7-3D91-3E9A-5BCA7853CAE6}"/>
              </a:ext>
            </a:extLst>
          </p:cNvPr>
          <p:cNvSpPr>
            <a:spLocks noGrp="1"/>
          </p:cNvSpPr>
          <p:nvPr/>
        </p:nvSpPr>
        <p:spPr>
          <a:xfrm>
            <a:off x="10026991" y="1466651"/>
            <a:ext cx="1728216" cy="886968"/>
          </a:xfrm>
          <a:prstGeom prst="rect">
            <a:avLst/>
          </a:prstGeom>
          <a:solidFill>
            <a:srgbClr val="FFF8F0"/>
          </a:solidFill>
          <a:ln w="19050">
            <a:solidFill>
              <a:srgbClr val="E07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Stat4Num">
            <a:extLst>
              <a:ext uri="{FF2B5EF4-FFF2-40B4-BE49-F238E27FC236}">
                <a16:creationId xmlns:a16="http://schemas.microsoft.com/office/drawing/2014/main" id="{DB9F7DB4-7844-4888-BDE3-297E09C40359}"/>
              </a:ext>
            </a:extLst>
          </p:cNvPr>
          <p:cNvSpPr txBox="1"/>
          <p:nvPr/>
        </p:nvSpPr>
        <p:spPr>
          <a:xfrm>
            <a:off x="10023937" y="1556722"/>
            <a:ext cx="1717429" cy="509929"/>
          </a:xfrm>
          <a:prstGeom prst="rect">
            <a:avLst/>
          </a:prstGeom>
          <a:noFill/>
        </p:spPr>
        <p:txBody>
          <a:bodyPr wrap="square" lIns="91440" tIns="0" rIns="91440" bIns="0" anchor="ctr">
            <a:normAutofit fontScale="77500" lnSpcReduction="20000"/>
          </a:bodyPr>
          <a:lstStyle/>
          <a:p>
            <a:pPr algn="ctr"/>
            <a:r>
              <a:rPr lang="en-US" sz="4800" b="1">
                <a:solidFill>
                  <a:srgbClr val="E07000"/>
                </a:solidFill>
                <a:ea typeface="Calibri"/>
                <a:cs typeface="Calibri"/>
              </a:rPr>
              <a:t>{{TB}}</a:t>
            </a:r>
          </a:p>
        </p:txBody>
      </p:sp>
      <p:sp>
        <p:nvSpPr>
          <p:cNvPr id="36" name="Stat4Lbl">
            <a:extLst>
              <a:ext uri="{FF2B5EF4-FFF2-40B4-BE49-F238E27FC236}">
                <a16:creationId xmlns:a16="http://schemas.microsoft.com/office/drawing/2014/main" id="{970ED733-4377-0EAC-C743-39D5A5F6A68E}"/>
              </a:ext>
            </a:extLst>
          </p:cNvPr>
          <p:cNvSpPr txBox="1"/>
          <p:nvPr/>
        </p:nvSpPr>
        <p:spPr>
          <a:xfrm>
            <a:off x="10037630" y="2118575"/>
            <a:ext cx="1717429" cy="245874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Open Defects</a:t>
            </a:r>
          </a:p>
        </p:txBody>
      </p:sp>
      <p:sp>
        <p:nvSpPr>
          <p:cNvPr id="37" name="StatBox3">
            <a:extLst>
              <a:ext uri="{FF2B5EF4-FFF2-40B4-BE49-F238E27FC236}">
                <a16:creationId xmlns:a16="http://schemas.microsoft.com/office/drawing/2014/main" id="{A3A05B59-3CCC-8AC2-6739-6BF36880240D}"/>
              </a:ext>
            </a:extLst>
          </p:cNvPr>
          <p:cNvSpPr>
            <a:spLocks noGrp="1"/>
          </p:cNvSpPr>
          <p:nvPr/>
        </p:nvSpPr>
        <p:spPr>
          <a:xfrm>
            <a:off x="2276656" y="1459534"/>
            <a:ext cx="1728216" cy="886968"/>
          </a:xfrm>
          <a:prstGeom prst="rect">
            <a:avLst/>
          </a:prstGeom>
          <a:solidFill>
            <a:srgbClr val="E8E9ED"/>
          </a:solidFill>
          <a:ln w="19050">
            <a:solidFill>
              <a:schemeClr val="tx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8" name="Stat3Num">
            <a:extLst>
              <a:ext uri="{FF2B5EF4-FFF2-40B4-BE49-F238E27FC236}">
                <a16:creationId xmlns:a16="http://schemas.microsoft.com/office/drawing/2014/main" id="{AB283696-9773-AD41-E93C-95380B34E5E5}"/>
              </a:ext>
            </a:extLst>
          </p:cNvPr>
          <p:cNvSpPr txBox="1"/>
          <p:nvPr/>
        </p:nvSpPr>
        <p:spPr>
          <a:xfrm>
            <a:off x="2274412" y="1552017"/>
            <a:ext cx="1728511" cy="511637"/>
          </a:xfrm>
          <a:prstGeom prst="rect">
            <a:avLst/>
          </a:prstGeom>
          <a:noFill/>
        </p:spPr>
        <p:txBody>
          <a:bodyPr wrap="square" lIns="91440" tIns="0" rIns="91440" bIns="0" anchor="ctr">
            <a:normAutofit fontScale="77500" lnSpcReduction="20000"/>
          </a:bodyPr>
          <a:lstStyle/>
          <a:p>
            <a:pPr algn="ctr"/>
            <a:r>
              <a:rPr lang="en-US" sz="4800" b="1">
                <a:ln>
                  <a:solidFill>
                    <a:schemeClr val="tx2"/>
                  </a:solidFill>
                </a:ln>
                <a:solidFill>
                  <a:schemeClr val="tx2"/>
                </a:solidFill>
                <a:ea typeface="Calibri"/>
                <a:cs typeface="Calibri"/>
              </a:rPr>
              <a:t>{{ETC}}</a:t>
            </a:r>
            <a:endParaRPr lang="en-US" sz="4800" b="1">
              <a:ln>
                <a:solidFill>
                  <a:srgbClr val="53565A"/>
                </a:solidFill>
              </a:ln>
              <a:solidFill>
                <a:schemeClr val="tx2"/>
              </a:solidFill>
              <a:ea typeface="Calibri"/>
              <a:cs typeface="Calibri"/>
            </a:endParaRPr>
          </a:p>
        </p:txBody>
      </p:sp>
      <p:sp>
        <p:nvSpPr>
          <p:cNvPr id="39" name="Stat3Lbl">
            <a:extLst>
              <a:ext uri="{FF2B5EF4-FFF2-40B4-BE49-F238E27FC236}">
                <a16:creationId xmlns:a16="http://schemas.microsoft.com/office/drawing/2014/main" id="{15569EC3-D5C3-6C8F-FD20-FEC42172131E}"/>
              </a:ext>
            </a:extLst>
          </p:cNvPr>
          <p:cNvSpPr txBox="1"/>
          <p:nvPr/>
        </p:nvSpPr>
        <p:spPr>
          <a:xfrm>
            <a:off x="2265560" y="2117157"/>
            <a:ext cx="1728512" cy="227193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Executed</a:t>
            </a:r>
          </a:p>
        </p:txBody>
      </p:sp>
      <p:sp>
        <p:nvSpPr>
          <p:cNvPr id="40" name="StatBox4">
            <a:extLst>
              <a:ext uri="{FF2B5EF4-FFF2-40B4-BE49-F238E27FC236}">
                <a16:creationId xmlns:a16="http://schemas.microsoft.com/office/drawing/2014/main" id="{FF095CF8-02C8-710E-AE0C-2021ED07B0DD}"/>
              </a:ext>
            </a:extLst>
          </p:cNvPr>
          <p:cNvSpPr>
            <a:spLocks noGrp="1"/>
          </p:cNvSpPr>
          <p:nvPr/>
        </p:nvSpPr>
        <p:spPr>
          <a:xfrm>
            <a:off x="8076895" y="1457382"/>
            <a:ext cx="1728216" cy="886968"/>
          </a:xfrm>
          <a:prstGeom prst="rect">
            <a:avLst/>
          </a:prstGeom>
          <a:solidFill>
            <a:srgbClr val="D8FFFD">
              <a:alpha val="87843"/>
            </a:srgbClr>
          </a:solidFill>
          <a:ln w="19050">
            <a:solidFill>
              <a:srgbClr val="6FC2B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1" name="Stat4Num">
            <a:extLst>
              <a:ext uri="{FF2B5EF4-FFF2-40B4-BE49-F238E27FC236}">
                <a16:creationId xmlns:a16="http://schemas.microsoft.com/office/drawing/2014/main" id="{979E0435-B44D-E7A2-21F1-7A0BED82ACC7}"/>
              </a:ext>
            </a:extLst>
          </p:cNvPr>
          <p:cNvSpPr txBox="1"/>
          <p:nvPr/>
        </p:nvSpPr>
        <p:spPr>
          <a:xfrm>
            <a:off x="8073841" y="1547453"/>
            <a:ext cx="1717429" cy="509929"/>
          </a:xfrm>
          <a:prstGeom prst="rect">
            <a:avLst/>
          </a:prstGeom>
          <a:noFill/>
        </p:spPr>
        <p:txBody>
          <a:bodyPr wrap="square" lIns="91440" tIns="0" rIns="91440" bIns="0" anchor="ctr">
            <a:normAutofit fontScale="77500" lnSpcReduction="20000"/>
          </a:bodyPr>
          <a:lstStyle/>
          <a:p>
            <a:pPr algn="ctr"/>
            <a:r>
              <a:rPr lang="en-US" sz="4800" b="1">
                <a:solidFill>
                  <a:srgbClr val="6FC2B4"/>
                </a:solidFill>
                <a:ea typeface="Calibri"/>
                <a:cs typeface="Calibri"/>
              </a:rPr>
              <a:t>{{IPTC}}</a:t>
            </a:r>
          </a:p>
        </p:txBody>
      </p:sp>
      <p:sp>
        <p:nvSpPr>
          <p:cNvPr id="42" name="Stat4Lbl">
            <a:extLst>
              <a:ext uri="{FF2B5EF4-FFF2-40B4-BE49-F238E27FC236}">
                <a16:creationId xmlns:a16="http://schemas.microsoft.com/office/drawing/2014/main" id="{A5004D7C-020A-9CF9-F9A4-1D957E53CEA0}"/>
              </a:ext>
            </a:extLst>
          </p:cNvPr>
          <p:cNvSpPr txBox="1"/>
          <p:nvPr/>
        </p:nvSpPr>
        <p:spPr>
          <a:xfrm>
            <a:off x="8087534" y="2109306"/>
            <a:ext cx="1717429" cy="245874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In Progress</a:t>
            </a:r>
          </a:p>
        </p:txBody>
      </p:sp>
    </p:spTree>
    <p:extLst>
      <p:ext uri="{BB962C8B-B14F-4D97-AF65-F5344CB8AC3E}">
        <p14:creationId xmlns:p14="http://schemas.microsoft.com/office/powerpoint/2010/main" val="125687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88962-9037-FFBA-B044-E3653E553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F2DE35C-3F48-DBC7-943E-8D1B99691AF8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 dirty="0">
                <a:solidFill>
                  <a:prstClr val="black"/>
                </a:solidFill>
                <a:latin typeface="Calibri"/>
              </a:rPr>
              <a:t>PDM Testing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 dirty="0">
                <a:solidFill>
                  <a:srgbClr val="2C9B9A"/>
                </a:solidFill>
                <a:latin typeface="Calibri"/>
              </a:rPr>
              <a:t>SIT Testing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C9B9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4F248BB7-342C-6B55-30DD-33FDA3B779FD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  <a:p>
            <a:pPr lvl="0">
              <a:defRPr/>
            </a:pPr>
            <a:endParaRPr lang="en-US" sz="1200"/>
          </a:p>
        </p:txBody>
      </p:sp>
      <p:graphicFrame>
        <p:nvGraphicFramePr>
          <p:cNvPr id="12" name="ExecSummary">
            <a:extLst>
              <a:ext uri="{FF2B5EF4-FFF2-40B4-BE49-F238E27FC236}">
                <a16:creationId xmlns:a16="http://schemas.microsoft.com/office/drawing/2014/main" id="{3D97DDAA-4F32-8D32-A5F5-178A3A973F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627742"/>
              </p:ext>
            </p:extLst>
          </p:nvPr>
        </p:nvGraphicFramePr>
        <p:xfrm>
          <a:off x="501651" y="1490836"/>
          <a:ext cx="11163821" cy="9336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3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031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135078129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275631766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397728983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979944116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11293845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276562566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{{PDMIPTC}}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{{PDMBTC}}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{{PDMNSTC}}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{{PDMB}}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13" name="WorkstreamSummary">
            <a:extLst>
              <a:ext uri="{FF2B5EF4-FFF2-40B4-BE49-F238E27FC236}">
                <a16:creationId xmlns:a16="http://schemas.microsoft.com/office/drawing/2014/main" id="{CFA0C49E-7A3C-3053-FC01-1FC2AFD91A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9128162"/>
              </p:ext>
            </p:extLst>
          </p:nvPr>
        </p:nvGraphicFramePr>
        <p:xfrm>
          <a:off x="501648" y="2916387"/>
          <a:ext cx="11163826" cy="2488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7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3720477358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Priority Benefits SIT Review Summary – Test Cases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Benefit Type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Network Management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{{NETMTTC}}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{{NETMETC}}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{{NETMPTC}}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{{NETMFTC}}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{{NETMIPTC}}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{{NETMBTC}}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{{NETMNSTC}}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{{NETMB}}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Rate Management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{{RATMTTC}}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{{RATMETC}}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{{RATMPTC}}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{{RATMFTC}}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{{RATMIPTC}}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{{RATMBTC}}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{{RATMNSTC}}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{{RATMB}}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Benefit Rules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{{BNFRTTC}}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 dirty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{{BNFRETC}}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{{BNFRPTC}}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{{BNFRFTC}}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{{BNFRIPTC}}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{{BNFRBTC}}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{{BNFRNSTC}}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{{BNFRB}}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Plan Configuration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{{PLNCTTC}}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 dirty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{{PLNCETC}}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{{PLNCPTC}}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{{PLNCFTC}}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{{PLNCIPTC}}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{{PLNCBTC}}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{{PLNCNSTC}}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{{PLNCB}}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217272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{{PDMTTC}}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{{PDMETC}}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{{PDMPTC}}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{{PDMFTC}}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{{PDMIPTC}}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{{PDMBTC}}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{{PDMNSTC}}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{{PDMB}}</a:t>
                      </a:r>
                      <a:endParaRPr lang="en-US" dirty="0"/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3" name="TextBox 42">
            <a:extLst>
              <a:ext uri="{FF2B5EF4-FFF2-40B4-BE49-F238E27FC236}">
                <a16:creationId xmlns:a16="http://schemas.microsoft.com/office/drawing/2014/main" id="{A1921257-2B94-55C6-560A-4E3C349B65D1}"/>
              </a:ext>
            </a:extLst>
          </p:cNvPr>
          <p:cNvSpPr txBox="1"/>
          <p:nvPr/>
        </p:nvSpPr>
        <p:spPr>
          <a:xfrm>
            <a:off x="500191" y="5487694"/>
            <a:ext cx="5967376" cy="49244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  <a:endParaRPr lang="en-US" sz="800" dirty="0">
              <a:solidFill>
                <a:srgbClr val="313131"/>
              </a:solidFill>
              <a:ea typeface="Calibri"/>
              <a:cs typeface="Calibri"/>
            </a:endParaRP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r>
              <a:rPr lang="en-US" sz="800" b="1" dirty="0">
                <a:solidFill>
                  <a:srgbClr val="313131"/>
                </a:solidFill>
                <a:ea typeface="Calibri"/>
                <a:cs typeface="Calibri"/>
              </a:rPr>
              <a:t>In Progress </a:t>
            </a:r>
            <a:r>
              <a:rPr lang="en-US" sz="800" dirty="0">
                <a:solidFill>
                  <a:srgbClr val="313131"/>
                </a:solidFill>
                <a:ea typeface="Calibri"/>
                <a:cs typeface="Calibri"/>
              </a:rPr>
              <a:t>– The test case is currently in-progress awaiting to clear pending dependencies </a:t>
            </a:r>
          </a:p>
        </p:txBody>
      </p:sp>
      <p:sp>
        <p:nvSpPr>
          <p:cNvPr id="44" name="TextBox 4">
            <a:extLst>
              <a:ext uri="{FF2B5EF4-FFF2-40B4-BE49-F238E27FC236}">
                <a16:creationId xmlns:a16="http://schemas.microsoft.com/office/drawing/2014/main" id="{2005A0AA-4C35-A507-C943-9B868ECB6A36}"/>
              </a:ext>
            </a:extLst>
          </p:cNvPr>
          <p:cNvSpPr txBox="1"/>
          <p:nvPr/>
        </p:nvSpPr>
        <p:spPr>
          <a:xfrm>
            <a:off x="500191" y="1223873"/>
            <a:ext cx="11101069" cy="276999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{{AI_PDM_STATUS}}</a:t>
            </a:r>
            <a:endParaRPr lang="en-US" sz="900" dirty="0">
              <a:solidFill>
                <a:srgbClr val="333333"/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952243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8716E-B487-DDD9-DAA1-A7A4C8947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DF1AA34-3AF7-C645-33E7-EC65A595EC5A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 dirty="0">
                <a:solidFill>
                  <a:prstClr val="black"/>
                </a:solidFill>
                <a:latin typeface="Calibri"/>
              </a:rPr>
              <a:t>EDI Testing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 dirty="0">
                <a:solidFill>
                  <a:srgbClr val="2C9B9A"/>
                </a:solidFill>
                <a:latin typeface="Calibri"/>
              </a:rPr>
              <a:t>SIT Testing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C9B9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A57DF1A1-F033-708A-F25B-4A450040CC60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  <a:p>
            <a:pPr lvl="0">
              <a:defRPr/>
            </a:pPr>
            <a:endParaRPr lang="en-US" sz="1200"/>
          </a:p>
        </p:txBody>
      </p:sp>
      <p:graphicFrame>
        <p:nvGraphicFramePr>
          <p:cNvPr id="5" name="ExecSummary">
            <a:extLst>
              <a:ext uri="{FF2B5EF4-FFF2-40B4-BE49-F238E27FC236}">
                <a16:creationId xmlns:a16="http://schemas.microsoft.com/office/drawing/2014/main" id="{227957E5-70D5-5397-CFA4-3192EF6D2C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2990064"/>
              </p:ext>
            </p:extLst>
          </p:nvPr>
        </p:nvGraphicFramePr>
        <p:xfrm>
          <a:off x="501651" y="1490836"/>
          <a:ext cx="11163819" cy="830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1656281088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94945854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653656663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2462436254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598383242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{{EDIB}}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6" name="WorkstreamSummary">
            <a:extLst>
              <a:ext uri="{FF2B5EF4-FFF2-40B4-BE49-F238E27FC236}">
                <a16:creationId xmlns:a16="http://schemas.microsoft.com/office/drawing/2014/main" id="{09ECDA40-F84C-C664-AE7D-D21F6D99C2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2658151"/>
              </p:ext>
            </p:extLst>
          </p:nvPr>
        </p:nvGraphicFramePr>
        <p:xfrm>
          <a:off x="501647" y="2916387"/>
          <a:ext cx="11163817" cy="169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7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307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1683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3383328722"/>
                    </a:ext>
                  </a:extLst>
                </a:gridCol>
                <a:gridCol w="103849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3705187464"/>
                    </a:ext>
                  </a:extLst>
                </a:gridCol>
                <a:gridCol w="9086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File Processing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{{FILPTTC}}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{{FILPETC}}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{{FILPPTC}}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{{FILPFTC}}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{{FILPIPTC}}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{{FILPBTC}}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{{FILPNSTC}}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{{FILPB}}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Trading Partner Setup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{{TPSTTTC}}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{{TPSTETC}}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{{TPSTPTC}}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{{TPSTFTC}}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{{TPSTIPTC}}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{{TPSTBTC}}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{{TPSTNSTC}}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{{TPSTB}}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723054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{{EDITTC}}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{{EDIETC}}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{{EDIPTC}}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{{EDIFTC}}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{{EDIIPTC}}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{{EDIBTC}}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{{EDINSTC}}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{{EDIB}}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C2005625-CF90-9D65-09A8-071E0345339C}"/>
              </a:ext>
            </a:extLst>
          </p:cNvPr>
          <p:cNvSpPr txBox="1"/>
          <p:nvPr/>
        </p:nvSpPr>
        <p:spPr>
          <a:xfrm>
            <a:off x="501648" y="4674667"/>
            <a:ext cx="5414382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>
                <a:solidFill>
                  <a:srgbClr val="313131"/>
                </a:solidFill>
              </a:rPr>
              <a:t>Executed</a:t>
            </a:r>
            <a:r>
              <a:rPr lang="en-US" sz="80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>
                <a:solidFill>
                  <a:srgbClr val="313131"/>
                </a:solidFill>
              </a:rPr>
              <a:t>Passed</a:t>
            </a:r>
            <a:r>
              <a:rPr lang="en-US" sz="80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>
                <a:solidFill>
                  <a:srgbClr val="313131"/>
                </a:solidFill>
              </a:rPr>
              <a:t>Failed</a:t>
            </a:r>
            <a:r>
              <a:rPr lang="en-US" sz="80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</p:txBody>
      </p:sp>
      <p:sp>
        <p:nvSpPr>
          <p:cNvPr id="19" name="TextBox 8">
            <a:extLst>
              <a:ext uri="{FF2B5EF4-FFF2-40B4-BE49-F238E27FC236}">
                <a16:creationId xmlns:a16="http://schemas.microsoft.com/office/drawing/2014/main" id="{8E92C5B3-AC57-DFAE-A2C4-9274FD8C5313}"/>
              </a:ext>
            </a:extLst>
          </p:cNvPr>
          <p:cNvSpPr txBox="1"/>
          <p:nvPr/>
        </p:nvSpPr>
        <p:spPr>
          <a:xfrm>
            <a:off x="501647" y="1243501"/>
            <a:ext cx="11449411" cy="138499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{{AI_EDI_STATUS}}</a:t>
            </a:r>
          </a:p>
        </p:txBody>
      </p:sp>
    </p:spTree>
    <p:extLst>
      <p:ext uri="{BB962C8B-B14F-4D97-AF65-F5344CB8AC3E}">
        <p14:creationId xmlns:p14="http://schemas.microsoft.com/office/powerpoint/2010/main" val="4508297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C950D-6B51-BB31-CE27-B9ADFAF65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7117329-1D08-BDA9-DFC8-484C0796A8EA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 dirty="0">
                <a:solidFill>
                  <a:prstClr val="black"/>
                </a:solidFill>
                <a:latin typeface="Calibri"/>
              </a:rPr>
              <a:t>Enrollment Testing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 dirty="0">
                <a:solidFill>
                  <a:srgbClr val="2C9B9A"/>
                </a:solidFill>
                <a:latin typeface="Calibri"/>
              </a:rPr>
              <a:t>SIT Testing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C9B9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E955EDAC-E93A-E6D7-7209-26088732626F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  <a:p>
            <a:pPr lvl="0">
              <a:defRPr/>
            </a:pPr>
            <a:endParaRPr lang="en-US" sz="1200"/>
          </a:p>
        </p:txBody>
      </p:sp>
      <p:graphicFrame>
        <p:nvGraphicFramePr>
          <p:cNvPr id="5" name="ExecSummary">
            <a:extLst>
              <a:ext uri="{FF2B5EF4-FFF2-40B4-BE49-F238E27FC236}">
                <a16:creationId xmlns:a16="http://schemas.microsoft.com/office/drawing/2014/main" id="{2AEF6147-1F47-F4B2-0C90-FFB18D44C5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4514193"/>
              </p:ext>
            </p:extLst>
          </p:nvPr>
        </p:nvGraphicFramePr>
        <p:xfrm>
          <a:off x="501651" y="1490836"/>
          <a:ext cx="11163819" cy="9336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1066859929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017906410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5364692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82149871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161324812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{{ENRLTTC}}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{{ENRLETC}}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{{ENRLEP}}%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{{ENRLPTC}}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{{ENRLPP}}%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{{ENRLFTC}}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{{ENRLFP}}%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{{ENRLIPTC}}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{{ENRLBTC}}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{{ENRLNSTC}}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{{ENRLB}}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6" name="WorkstreamSummary">
            <a:extLst>
              <a:ext uri="{FF2B5EF4-FFF2-40B4-BE49-F238E27FC236}">
                <a16:creationId xmlns:a16="http://schemas.microsoft.com/office/drawing/2014/main" id="{3341DA9E-7522-A1D5-146B-71F557DF58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5090496"/>
              </p:ext>
            </p:extLst>
          </p:nvPr>
        </p:nvGraphicFramePr>
        <p:xfrm>
          <a:off x="501648" y="2916387"/>
          <a:ext cx="11163826" cy="169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47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168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242662145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3849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9086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10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Calibri"/>
                        </a:rPr>
                        <a:t>Planned TCs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Calibri"/>
                        </a:rPr>
                        <a:t>Cobra Enrollment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{{COBRTTC}}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{{COBRETC}}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{{COBRPTC}}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{{COBRFTC}}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{{COBRIPTC}}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{{COBRBTC}}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{{COBRNSTC}}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{{COBRB}}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Calibri"/>
                        </a:rPr>
                        <a:t>Open Enrollment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{{OPENTTC}}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{{OPENETC}}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{{OPENPTC}}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{{OPENFTC}}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{{OPENIPTC}}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{{OPENBTC}}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{{OPENNSTC}}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{{OPENB}}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9111072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{{ENRLTTC}}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{{ENRLETC}}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{{ENRLPTC}}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{{ENRLFTC}}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{{ENRLIPTC}}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{{ENRLBTC}}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{{ENRLNSTC}}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{{ENRLB}}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1A5A79F1-8AC7-B4F0-059E-E900FBF57FAB}"/>
              </a:ext>
            </a:extLst>
          </p:cNvPr>
          <p:cNvSpPr txBox="1"/>
          <p:nvPr/>
        </p:nvSpPr>
        <p:spPr>
          <a:xfrm>
            <a:off x="501648" y="4674667"/>
            <a:ext cx="5414382" cy="6924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>
                <a:solidFill>
                  <a:srgbClr val="313131"/>
                </a:solidFill>
              </a:rPr>
              <a:t>Executed</a:t>
            </a:r>
            <a:r>
              <a:rPr lang="en-US" sz="80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>
                <a:solidFill>
                  <a:srgbClr val="313131"/>
                </a:solidFill>
              </a:rPr>
              <a:t>Passed</a:t>
            </a:r>
            <a:r>
              <a:rPr lang="en-US" sz="80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>
                <a:solidFill>
                  <a:srgbClr val="313131"/>
                </a:solidFill>
              </a:rPr>
              <a:t>Failed</a:t>
            </a:r>
            <a:r>
              <a:rPr lang="en-US" sz="80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pPr>
              <a:spcBef>
                <a:spcPts val="600"/>
              </a:spcBef>
              <a:buSzPct val="100000"/>
            </a:pPr>
            <a:endParaRPr lang="en-US" sz="800">
              <a:solidFill>
                <a:srgbClr val="313131"/>
              </a:solidFill>
            </a:endParaRPr>
          </a:p>
        </p:txBody>
      </p:sp>
      <p:sp>
        <p:nvSpPr>
          <p:cNvPr id="19" name="TextBox 9">
            <a:extLst>
              <a:ext uri="{FF2B5EF4-FFF2-40B4-BE49-F238E27FC236}">
                <a16:creationId xmlns:a16="http://schemas.microsoft.com/office/drawing/2014/main" id="{666B8906-E5CC-FB3E-E0B6-A6B616CC5B30}"/>
              </a:ext>
            </a:extLst>
          </p:cNvPr>
          <p:cNvSpPr txBox="1"/>
          <p:nvPr/>
        </p:nvSpPr>
        <p:spPr>
          <a:xfrm>
            <a:off x="516162" y="1234181"/>
            <a:ext cx="11101069" cy="353943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{{AI_ENROLLMENT_STATUS}}</a:t>
            </a:r>
            <a:endParaRPr lang="en-US" sz="900" dirty="0">
              <a:solidFill>
                <a:srgbClr val="000000"/>
              </a:solidFill>
              <a:ea typeface="Calibri"/>
              <a:cs typeface="Calibri"/>
            </a:endParaRPr>
          </a:p>
          <a:p>
            <a:pPr>
              <a:spcBef>
                <a:spcPts val="6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8624560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heme/theme1.xml><?xml version="1.0" encoding="utf-8"?>
<a:theme xmlns:a="http://schemas.openxmlformats.org/drawingml/2006/main" name="1_Deloitte_Brand_16_9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16_9_Onscreen_US.potx" id="{8B76E5FB-3D44-4ADE-97F4-EE2F8DA6C64F}" vid="{D90B51BD-6DB3-412C-BDC1-2EA0386B91B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E3B32110-3B49-40E7-8C15-5E4A22FF8A7B}">
  <we:reference id="f5f369e5-aa35-49d7-ad7b-638152ddb008" version="1.0.0.1" store="EXCatalog" storeType="EXCatalog"/>
  <we:alternateReferences>
    <we:reference id="WA200010001" version="1.0.0.1" store="en-US" storeType="OMEX"/>
  </we:alternateReferences>
  <we:properties>
    <we:property name="claude.fileId" value="&quot;2d04b2e9-88f0-4ee7-b1e2-4de363e485c0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3C35E85-8C58-304C-A673-847FAA008EB9}">
  <we:reference id="wa200010725" version="1.0.0.1" store="en-US" storeType="OMEX"/>
  <we:alternateReferences>
    <we:reference id="wa200010725" version="1.0.0.1" store="en-US" storeType="OMEX"/>
  </we:alternateReferences>
  <we:properties>
    <we:property name="claude.fileId" value="&quot;de739b16-9ef6-4e25-bd4a-ee9215286bc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fd36fe-389a-4f3a-9976-bee25438cfd0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F4BBC40EB3D414C83651E0F4794DDEF" ma:contentTypeVersion="11" ma:contentTypeDescription="Create a new document." ma:contentTypeScope="" ma:versionID="ac432b7c7a0758597f364c76a27f3563">
  <xsd:schema xmlns:xsd="http://www.w3.org/2001/XMLSchema" xmlns:xs="http://www.w3.org/2001/XMLSchema" xmlns:p="http://schemas.microsoft.com/office/2006/metadata/properties" xmlns:ns2="81fd36fe-389a-4f3a-9976-bee25438cfd0" targetNamespace="http://schemas.microsoft.com/office/2006/metadata/properties" ma:root="true" ma:fieldsID="e71be0df1837d809186b3abb1c1da983" ns2:_="">
    <xsd:import namespace="81fd36fe-389a-4f3a-9976-bee25438cfd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fd36fe-389a-4f3a-9976-bee25438cfd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262f2d21-8215-4cea-bd96-116fead3840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3CA026D-4666-483B-9EA4-E4BAFDF32B68}">
  <ds:schemaRefs>
    <ds:schemaRef ds:uri="http://purl.org/dc/elements/1.1/"/>
    <ds:schemaRef ds:uri="http://schemas.microsoft.com/office/2006/metadata/properties"/>
    <ds:schemaRef ds:uri="http://purl.org/dc/terms/"/>
    <ds:schemaRef ds:uri="http://schemas.microsoft.com/office/2006/documentManagement/types"/>
    <ds:schemaRef ds:uri="81fd36fe-389a-4f3a-9976-bee25438cfd0"/>
    <ds:schemaRef ds:uri="http://purl.org/dc/dcmitype/"/>
    <ds:schemaRef ds:uri="http://schemas.openxmlformats.org/package/2006/metadata/core-properties"/>
    <ds:schemaRef ds:uri="http://schemas.microsoft.com/office/infopath/2007/PartnerControl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725DAFB6-DF8B-4F0D-BE89-1561B3B7E417}">
  <ds:schemaRefs>
    <ds:schemaRef ds:uri="81fd36fe-389a-4f3a-9976-bee25438cfd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07376A1-CC42-438F-85FD-93A015D166A9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1118</Words>
  <Application>Microsoft Macintosh PowerPoint</Application>
  <PresentationFormat>Widescreen</PresentationFormat>
  <Paragraphs>317</Paragraphs>
  <Slides>5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Aptos</vt:lpstr>
      <vt:lpstr>Arial</vt:lpstr>
      <vt:lpstr>Calibri</vt:lpstr>
      <vt:lpstr>Calibri Light</vt:lpstr>
      <vt:lpstr>Verdana</vt:lpstr>
      <vt:lpstr>Wingdings 2</vt:lpstr>
      <vt:lpstr>1_Deloitte_Brand_16_9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Khadri, Habib</dc:creator>
  <cp:lastModifiedBy>Gandhi, Samir</cp:lastModifiedBy>
  <cp:revision>24</cp:revision>
  <dcterms:created xsi:type="dcterms:W3CDTF">2026-03-30T19:40:35Z</dcterms:created>
  <dcterms:modified xsi:type="dcterms:W3CDTF">2026-08-31T15:30:17Z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0x0101008F4BBC40EB3D414C83651E0F4794DDEF</vt:lpwstr>
  </property>
  <property fmtid="{D5CDD505-2E9C-101B-9397-08002B2CF9AE}" pid="3" name="MediaServiceImageTags">
    <vt:lpwstr/>
  </property>
</Properties>
</file>