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  <p:sldMasterId id="2147483757" r:id="rId5"/>
  </p:sldMasterIdLst>
  <p:notesMasterIdLst>
    <p:notesMasterId r:id="rId14"/>
  </p:notesMasterIdLst>
  <p:sldIdLst>
    <p:sldId id="2147483588" r:id="rId6"/>
    <p:sldId id="2147483620" r:id="rId7"/>
    <p:sldId id="2147483614" r:id="rId8"/>
    <p:sldId id="2147483622" r:id="rId9"/>
    <p:sldId id="2147483621" r:id="rId10"/>
    <p:sldId id="2147483623" r:id="rId11"/>
    <p:sldId id="2147483608" r:id="rId12"/>
    <p:sldId id="214748360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0C2B47-29F0-5145-A610-1B393F7C5C22}">
          <p14:sldIdLst>
            <p14:sldId id="2147483588"/>
            <p14:sldId id="2147483620"/>
          </p14:sldIdLst>
        </p14:section>
        <p14:section name="Work Stream Report" id="{7F7058A9-543B-4063-913C-9EBD99D479DF}">
          <p14:sldIdLst>
            <p14:sldId id="2147483614"/>
            <p14:sldId id="2147483622"/>
            <p14:sldId id="2147483621"/>
            <p14:sldId id="2147483623"/>
            <p14:sldId id="2147483608"/>
            <p14:sldId id="21474836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92DB77-016D-2894-7618-15E9AB52A849}" name="Sharma, Utkarsh" initials="US" userId="S::utkasharma@deloitte.com::0b75815b-62e9-4a90-8530-df5f1a468d5b" providerId="AD"/>
  <p188:author id="{394961A2-CD47-D227-8F1E-7B111DEE8F7B}" name="Khadri, Habib" initials="HK" userId="S::hkhadri@deloitte.com::fb9fabdf-5b74-4106-9d79-d7bad83cee2b" providerId="AD"/>
  <p188:author id="{542719E4-734E-9509-4F5E-E8B595E54DC2}" name="Curtis, Rhonda" initials="" userId="S::rhcurtis@deloitte.com::490ac867-96aa-4c70-800f-015ffadabd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50F"/>
    <a:srgbClr val="EDF5E8"/>
    <a:srgbClr val="E7EFE3"/>
    <a:srgbClr val="2ECC71"/>
    <a:srgbClr val="E8E9ED"/>
    <a:srgbClr val="E67E22"/>
    <a:srgbClr val="9A564F"/>
    <a:srgbClr val="2C9B9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E393D8-7A53-4C9B-9909-442E2ED55D50}" v="1226" dt="2026-09-21T22:23:15.717"/>
    <p1510:client id="{86520559-9C2C-B64B-B429-9977961AE228}" v="187" dt="2026-09-21T22:07:42.560"/>
    <p1510:client id="{D4CCB43C-DAFA-65BB-6425-86B9D91E3F7A}" v="210" vWet="211" dt="2026-09-21T21:09:58.3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ACC89-694D-6647-91BA-F3E287B706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3E35-2244-C342-BE62-0B069E5D8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4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F1FBDF-07B1-4D9C-9CED-52EAE94FBB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665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6821-AA4F-1632-A121-1B2282F3D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13123-D703-BB38-B549-70F641DBC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73765-B20C-A64A-6819-F89FD11FF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&gt; Executed &gt; In Progress&gt; Pass &gt; Fail &gt; Defect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D6922-2533-238B-2C6C-0881AEEA7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93E35-2244-C342-BE62-0B069E5D84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74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701D-881A-6713-C0AF-E97B8E09E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623C2-61B9-9C51-6DFE-16194B4B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2BB77-2BA5-585E-B515-654E948DC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EA809-9D70-E1F3-EB22-0E18A40E9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712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CC6F1-3D8A-455F-4D62-91AF11BC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CD7FE-82DF-80D2-2E42-192785539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86AF3-742D-BA61-A476-E387CDF30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CF73-85CF-1CEE-311F-FB4D45C53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1061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A5E5-05FD-661E-7484-665E986F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C3D26-BF68-EC22-3B7A-E6BAE39B7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99177-8E04-D839-1521-6AE0ED047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2C8CF-16E9-3B06-9848-BDB39FA39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481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BC035-7C5D-031D-1AAB-03BC50FB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75086-7CEC-B170-7108-462612279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A6064E-22E4-4A4B-41AB-BD5F8557D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C65F1-60D1-BC0A-819B-66E9B2950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967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5D3D9-6466-2F55-F196-D6B6CE16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0BAC9-1680-BC8E-E919-068170F78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5C91D-D13B-C4E4-424F-A01ED57FC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04C4F-3D4D-7E9D-5C2C-B6BE11EA3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93E35-2244-C342-BE62-0B069E5D84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80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accent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250D39-3CD2-434D-B748-17EED0F3A2F1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29F2EAE-0B0B-4311-B8C7-B92308FDB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D66D6FD-671C-4971-84E7-3F95D681A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A0D0BAEB-42C5-4909-8FAE-D062C5097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442559A-2DAB-4A59-908E-A9F3003354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3319EAFB-82E3-4AA5-8E76-BCBFD4851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1B86A800-7B43-42DC-8F55-2BE218DAA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4D7DE78-318C-43DC-8425-6815074FD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8B9FF502-04DE-4886-8EC5-F59E2DDA7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AFD2C9A9-58B2-40D7-900D-9935E569C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FBFCAACE-51E1-460B-B814-DB6E1935A9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5D988E-AB9B-4338-8B0B-A9D2FBBD35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8" name="Oval 5">
              <a:extLst>
                <a:ext uri="{FF2B5EF4-FFF2-40B4-BE49-F238E27FC236}">
                  <a16:creationId xmlns:a16="http://schemas.microsoft.com/office/drawing/2014/main" id="{900D145D-F249-4360-A851-84590354DE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DA91093B-1D7D-4E9C-80DD-053FD0C9282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D75F7421-C68D-4202-A0E2-B866717DDEF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8">
              <a:extLst>
                <a:ext uri="{FF2B5EF4-FFF2-40B4-BE49-F238E27FC236}">
                  <a16:creationId xmlns:a16="http://schemas.microsoft.com/office/drawing/2014/main" id="{6DE98E27-9E3D-4174-9895-EE41667C63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Rectangle 9">
              <a:extLst>
                <a:ext uri="{FF2B5EF4-FFF2-40B4-BE49-F238E27FC236}">
                  <a16:creationId xmlns:a16="http://schemas.microsoft.com/office/drawing/2014/main" id="{A400316F-9B75-46A7-B1DF-72DD3623FD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80392710-6741-4A2A-B74E-E7E47B6F6C9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7E5628F7-91B4-40CC-93AA-15FE7FE83E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705DD4AC-A5BB-439E-AD61-E7E5A2A00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B332C818-B977-4B0B-BF7A-3565E9B5BE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01AFB913-ABEF-4721-A184-6CE57CC2AA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881067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8228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71654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. Title Only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D6E5346-2FAE-41B8-872E-F4C0489B67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6E5346-2FAE-41B8-872E-F4C0489B67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2023 by Boston Consulting Group. All rights reserved.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6D88CB5-8A32-4E28-88D8-2EB8AFCF3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622800"/>
            <a:ext cx="112014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5D5-02D2-4800-869F-1667101F09CF}"/>
              </a:ext>
            </a:extLst>
          </p:cNvPr>
          <p:cNvSpPr txBox="1"/>
          <p:nvPr userDrawn="1"/>
        </p:nvSpPr>
        <p:spPr>
          <a:xfrm>
            <a:off x="495300" y="64008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750" kern="1200" smtClean="0">
                <a:solidFill>
                  <a:schemeClr val="bg2">
                    <a:lumMod val="9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kern="1200">
              <a:solidFill>
                <a:schemeClr val="bg2">
                  <a:lumMod val="9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33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234793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accent3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EEA3F2-C909-4275-956A-5518D341D424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619F8D2D-E0FF-4267-BB4C-23E0F19A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0BDA8F6-D1EC-4590-8515-7F2E0D9EE1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8E570DBD-3EC7-4EE8-886A-A6498BEC3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B1656288-29CD-4B95-A46B-7B8DA78609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C3894AF9-2B03-4231-9AEA-EC49F5E1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F1C43784-6F73-4D9F-8497-B40FDBB85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E031C0BD-B701-4255-B53D-1A0FB8066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1F07466D-8C2C-4286-9984-919330135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F2700776-9B5A-4A2C-BA8E-E8C5B03A09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1D768AB6-AEBA-4689-BCE3-70447F634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541757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8232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5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005839" y="1670834"/>
            <a:ext cx="10036811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005839" y="3429000"/>
            <a:ext cx="10036811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rgbClr val="007680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8736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3285941"/>
            <a:ext cx="10036811" cy="1592403"/>
          </a:xfrm>
          <a:prstGeom prst="rect">
            <a:avLst/>
          </a:prstGeom>
        </p:spPr>
        <p:txBody>
          <a:bodyPr anchor="t"/>
          <a:lstStyle>
            <a:lvl1pPr>
              <a:lnSpc>
                <a:spcPct val="95000"/>
              </a:lnSpc>
              <a:defRPr sz="3600" b="1">
                <a:solidFill>
                  <a:srgbClr val="00768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AC1F984-0896-08AD-D32A-C5F31039A6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5839" y="2405525"/>
            <a:ext cx="3228975" cy="966787"/>
          </a:xfrm>
        </p:spPr>
        <p:txBody>
          <a:bodyPr>
            <a:noAutofit/>
          </a:bodyPr>
          <a:lstStyle>
            <a:lvl1pPr>
              <a:defRPr sz="5400">
                <a:solidFill>
                  <a:schemeClr val="accent1"/>
                </a:solidFill>
              </a:defRPr>
            </a:lvl1pPr>
            <a:lvl2pPr>
              <a:defRPr sz="5400">
                <a:solidFill>
                  <a:schemeClr val="accent1"/>
                </a:solidFill>
              </a:defRPr>
            </a:lvl2pPr>
            <a:lvl3pPr>
              <a:defRPr sz="5400">
                <a:solidFill>
                  <a:schemeClr val="accent1"/>
                </a:solidFill>
              </a:defRPr>
            </a:lvl3pPr>
            <a:lvl4pPr>
              <a:defRPr sz="5400">
                <a:solidFill>
                  <a:schemeClr val="accent1"/>
                </a:solidFill>
              </a:defRPr>
            </a:lvl4pPr>
            <a:lvl5pPr>
              <a:defRPr sz="5400">
                <a:solidFill>
                  <a:schemeClr val="accent1"/>
                </a:solidFill>
              </a:defRPr>
            </a:lvl5pPr>
          </a:lstStyle>
          <a:p>
            <a:pPr lvl="0"/>
            <a:r>
              <a:rPr lang="fr-FR" err="1"/>
              <a:t>Number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70285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doigt, ongle, personne, main  Description générée automatiquement">
            <a:extLst>
              <a:ext uri="{FF2B5EF4-FFF2-40B4-BE49-F238E27FC236}">
                <a16:creationId xmlns:a16="http://schemas.microsoft.com/office/drawing/2014/main" id="{3E62A6BF-F7FA-FC83-4BEA-3AEAFC30C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AAA3FE-D07E-E033-2D8B-CFBA960FB7B5}"/>
              </a:ext>
            </a:extLst>
          </p:cNvPr>
          <p:cNvSpPr/>
          <p:nvPr userDrawn="1"/>
        </p:nvSpPr>
        <p:spPr bwMode="gray">
          <a:xfrm>
            <a:off x="0" y="0"/>
            <a:ext cx="9149443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CA" sz="1600" b="1">
              <a:solidFill>
                <a:schemeClr val="bg1"/>
              </a:solidFill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A33EB3C6-CB3C-0EEA-A868-3EFD06E90ED5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Copyright © 2025 Deloitte Development LLC. All rights reserved.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B27ED69-0320-C221-6122-02DEFC7FD5AC}"/>
              </a:ext>
            </a:extLst>
          </p:cNvPr>
          <p:cNvSpPr txBox="1"/>
          <p:nvPr userDrawn="1"/>
        </p:nvSpPr>
        <p:spPr>
          <a:xfrm>
            <a:off x="11382377" y="6477001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4A7243CC-CCA8-1D96-AF79-B9FC0D7E1FFE}"/>
              </a:ext>
            </a:extLst>
          </p:cNvPr>
          <p:cNvSpPr txBox="1"/>
          <p:nvPr userDrawn="1"/>
        </p:nvSpPr>
        <p:spPr>
          <a:xfrm>
            <a:off x="6836833" y="6477000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11125048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capture d’écran, diagramme, Police  Description générée automatiquement">
            <a:extLst>
              <a:ext uri="{FF2B5EF4-FFF2-40B4-BE49-F238E27FC236}">
                <a16:creationId xmlns:a16="http://schemas.microsoft.com/office/drawing/2014/main" id="{FAADCD05-43D7-2BD9-A554-D279CF89DB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1005839" y="2632799"/>
            <a:ext cx="10036811" cy="15924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0388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6735588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1269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15754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AA219-3285-40E3-9146-7A9E17B0F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5749708"/>
      </p:ext>
    </p:extLst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6660C-D97A-4199-9DB7-D8D50E37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8942251"/>
      </p:ext>
    </p:extLst>
  </p:cSld>
  <p:clrMapOvr>
    <a:masterClrMapping/>
  </p:clrMapOvr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1000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29D6D4-38CD-4379-9FC6-B6687A49C859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AE6ED15D-2C57-4909-970A-202D915A4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5BD4E32B-226F-46EB-B601-3856A02B70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F1AAD0C-B296-45B7-9E5A-20BD2877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D121C73-5C5C-4360-8EB5-E75E90671D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7820EBA0-29B2-457F-8C42-C6999B8C2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6AA7EA11-CDBF-464E-9243-90C623095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B624E1B1-6657-49A0-B80A-E1FD4DF1B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86B2E42-0E10-4A70-B9EF-DB7E343E4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280D859B-0685-4D23-B179-9E42323AB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B7BF240D-03CC-44FA-B191-E59014FCD7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A2DCA97-92B7-4E52-BE6A-904A9D22F2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9" name="Oval 5">
              <a:extLst>
                <a:ext uri="{FF2B5EF4-FFF2-40B4-BE49-F238E27FC236}">
                  <a16:creationId xmlns:a16="http://schemas.microsoft.com/office/drawing/2014/main" id="{02A83B32-097D-4E01-B3A8-77C4838595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30E27498-E91D-41E0-A196-9E2FB8692F4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524DBE99-D543-47AC-A2B6-25395BDB7D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209C606A-12E7-40E3-A6B8-DEE79173C9B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3" name="Rectangle 9">
              <a:extLst>
                <a:ext uri="{FF2B5EF4-FFF2-40B4-BE49-F238E27FC236}">
                  <a16:creationId xmlns:a16="http://schemas.microsoft.com/office/drawing/2014/main" id="{73ED221B-16E3-4EBE-8EBC-9F66E803CB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4" name="Rectangle 10">
              <a:extLst>
                <a:ext uri="{FF2B5EF4-FFF2-40B4-BE49-F238E27FC236}">
                  <a16:creationId xmlns:a16="http://schemas.microsoft.com/office/drawing/2014/main" id="{0D697A95-88D2-47F0-B4DF-915E2EDEDB5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960B0F46-3D82-4FFC-B9BB-9D5BF8DA27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DBC1DB9C-3617-4E82-B521-DF02390A43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265776A6-2E98-464E-8730-90C3148BA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44252080-8419-4833-996E-5F1D7B09FF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6368970"/>
      </p:ext>
    </p:extLst>
  </p:cSld>
  <p:clrMapOvr>
    <a:masterClrMapping/>
  </p:clrMapOvr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+mn-lt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+mn-lt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+mn-lt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+mn-lt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32EF4-0628-41B2-82A6-C4B3B130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8421277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B6144-2726-4520-8393-B7B337E0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16298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69947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/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93023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85252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0509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2910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88524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98153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9344255"/>
      </p:ext>
    </p:extLst>
  </p:cSld>
  <p:clrMapOvr>
    <a:masterClrMapping/>
  </p:clrMapOvr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8270795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003722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575190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400" b="0">
                <a:solidFill>
                  <a:srgbClr val="53565A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56095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197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8080371"/>
      </p:ext>
    </p:extLst>
  </p:cSld>
  <p:clrMapOvr>
    <a:masterClrMapping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/>
              <a:t>Insert sponsorship mark here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562421"/>
      </p:ext>
    </p:extLst>
  </p:cSld>
  <p:clrMapOvr>
    <a:masterClrMapping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356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9380862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A605-A79A-41B7-BDB1-4EDF869ED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16246" y="6387175"/>
            <a:ext cx="1359509" cy="271229"/>
          </a:xfrm>
          <a:prstGeom prst="rect">
            <a:avLst/>
          </a:prstGeom>
        </p:spPr>
        <p:txBody>
          <a:bodyPr lIns="0" tIns="0" rIns="0" bIns="0"/>
          <a:lstStyle>
            <a:lvl1pPr algn="ctr">
              <a:lnSpc>
                <a:spcPts val="1000"/>
              </a:lnSpc>
              <a:defRPr sz="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2E88CFD-7600-DD4A-9690-3544147D6214}" type="slidenum">
              <a:rPr lang="en-US" smtClean="0">
                <a:solidFill>
                  <a:srgbClr val="0367A5"/>
                </a:solidFill>
              </a:rPr>
              <a:pPr/>
              <a:t>‹#›</a:t>
            </a:fld>
            <a:endParaRPr lang="en-US">
              <a:solidFill>
                <a:srgbClr val="0367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86837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550009-237B-B215-8D17-C931133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5" y="244586"/>
            <a:ext cx="5718717" cy="195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5858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BB89D-C8D1-4D2D-8525-78E0703361EB}"/>
              </a:ext>
            </a:extLst>
          </p:cNvPr>
          <p:cNvCxnSpPr/>
          <p:nvPr userDrawn="1"/>
        </p:nvCxnSpPr>
        <p:spPr>
          <a:xfrm>
            <a:off x="435864" y="3962400"/>
            <a:ext cx="11320272" cy="0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1BBF1C1-BBBD-49F8-8B70-BD5FA9AC77C6}"/>
              </a:ext>
            </a:extLst>
          </p:cNvPr>
          <p:cNvSpPr txBox="1"/>
          <p:nvPr userDrawn="1"/>
        </p:nvSpPr>
        <p:spPr>
          <a:xfrm>
            <a:off x="291231" y="6457950"/>
            <a:ext cx="4114800" cy="1143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750">
                <a:solidFill>
                  <a:schemeClr val="bg2"/>
                </a:solidFill>
                <a:latin typeface="+mn-lt"/>
                <a:ea typeface="+mn-ea"/>
                <a:cs typeface="+mn-cs"/>
              </a:rPr>
              <a:t>© 2025 Medical Mutual of Ohio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B62F1FAD-4BA5-45E5-947C-F544B8D5FE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5300" y="2926080"/>
            <a:ext cx="11201400" cy="933226"/>
          </a:xfrm>
        </p:spPr>
        <p:txBody>
          <a:bodyPr vert="horz" anchor="b" anchorCtr="0"/>
          <a:lstStyle>
            <a:lvl1pPr algn="l">
              <a:lnSpc>
                <a:spcPts val="3600"/>
              </a:lnSpc>
              <a:defRPr sz="36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E78F45C9-2688-45FD-99E3-C8B16B45F9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4191000"/>
            <a:ext cx="11201400" cy="273424"/>
          </a:xfrm>
        </p:spPr>
        <p:txBody>
          <a:bodyPr wrap="square" anchor="t" anchorCtr="0"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&lt;Subtitle&gt; or &lt;Date&gt;</a:t>
            </a:r>
          </a:p>
        </p:txBody>
      </p:sp>
    </p:spTree>
    <p:extLst>
      <p:ext uri="{BB962C8B-B14F-4D97-AF65-F5344CB8AC3E}">
        <p14:creationId xmlns:p14="http://schemas.microsoft.com/office/powerpoint/2010/main" val="172392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oleObject" Target="../embeddings/oleObject1.bin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ags" Target="../tags/tag4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184034811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270" imgH="270" progId="TCLayout.ActiveDocument.1">
                  <p:embed/>
                </p:oleObj>
              </mc:Choice>
              <mc:Fallback>
                <p:oleObj name="think-cell Slide" r:id="rId3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754" r:id="rId34"/>
    <p:sldLayoutId id="2147483755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20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22" orient="horz" pos="640">
          <p15:clr>
            <a:srgbClr val="F26B43"/>
          </p15:clr>
        </p15:guide>
        <p15:guide id="65" orient="horz" pos="2160">
          <p15:clr>
            <a:srgbClr val="F26B43"/>
          </p15:clr>
        </p15:guide>
        <p15:guide id="66" orient="horz" pos="3968">
          <p15:clr>
            <a:srgbClr val="F26B43"/>
          </p15:clr>
        </p15:guide>
        <p15:guide id="67" pos="312">
          <p15:clr>
            <a:srgbClr val="F26B43"/>
          </p15:clr>
        </p15:guide>
        <p15:guide id="68" pos="7368">
          <p15:clr>
            <a:srgbClr val="F26B43"/>
          </p15:clr>
        </p15:guide>
        <p15:guide id="70" orient="horz" pos="4081">
          <p15:clr>
            <a:srgbClr val="F26B43"/>
          </p15:clr>
        </p15:guide>
        <p15:guide id="77" pos="3783">
          <p15:clr>
            <a:srgbClr val="F26B43"/>
          </p15:clr>
        </p15:guide>
        <p15:guide id="78" pos="3896">
          <p15:clr>
            <a:srgbClr val="F26B43"/>
          </p15:clr>
        </p15:guide>
        <p15:guide id="79" pos="3840">
          <p15:clr>
            <a:srgbClr val="F26B43"/>
          </p15:clr>
        </p15:guide>
        <p15:guide id="81" orient="horz" pos="1049">
          <p15:clr>
            <a:srgbClr val="F26B43"/>
          </p15:clr>
        </p15:guide>
        <p15:guide id="82" orient="horz" pos="641">
          <p15:clr>
            <a:srgbClr val="F26B43"/>
          </p15:clr>
        </p15:guide>
        <p15:guide id="83" orient="horz" pos="39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270" imgH="270" progId="TCLayout.ActiveDocument.1">
                  <p:embed/>
                </p:oleObj>
              </mc:Choice>
              <mc:Fallback>
                <p:oleObj name="think-cell Slide" r:id="rId3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2377" y="6661237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941F761-4AEE-929D-5655-D54C7F4B62AF}"/>
              </a:ext>
            </a:extLst>
          </p:cNvPr>
          <p:cNvSpPr txBox="1"/>
          <p:nvPr userDrawn="1"/>
        </p:nvSpPr>
        <p:spPr>
          <a:xfrm>
            <a:off x="6836833" y="6661236"/>
            <a:ext cx="4428067" cy="13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r" defTabSz="914400" rtl="0" eaLnBrk="1" latinLnBrk="0" hangingPunct="1">
              <a:spcBef>
                <a:spcPts val="600"/>
              </a:spcBef>
              <a:buSzPct val="100000"/>
              <a:buFont typeface="Arial"/>
              <a:buNone/>
            </a:pPr>
            <a:r>
              <a:rPr lang="en-US" sz="8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rPr>
              <a:t>Medical Mutual</a:t>
            </a:r>
          </a:p>
        </p:txBody>
      </p:sp>
    </p:spTree>
    <p:extLst>
      <p:ext uri="{BB962C8B-B14F-4D97-AF65-F5344CB8AC3E}">
        <p14:creationId xmlns:p14="http://schemas.microsoft.com/office/powerpoint/2010/main" val="409155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  <p:sldLayoutId id="2147483777" r:id="rId18"/>
    <p:sldLayoutId id="2147483778" r:id="rId19"/>
    <p:sldLayoutId id="2147483779" r:id="rId20"/>
    <p:sldLayoutId id="2147483780" r:id="rId21"/>
    <p:sldLayoutId id="2147483781" r:id="rId22"/>
    <p:sldLayoutId id="2147483782" r:id="rId23"/>
    <p:sldLayoutId id="2147483783" r:id="rId24"/>
    <p:sldLayoutId id="2147483784" r:id="rId25"/>
    <p:sldLayoutId id="2147483785" r:id="rId26"/>
    <p:sldLayoutId id="2147483786" r:id="rId27"/>
    <p:sldLayoutId id="2147483787" r:id="rId28"/>
    <p:sldLayoutId id="2147483788" r:id="rId29"/>
    <p:sldLayoutId id="2147483789" r:id="rId30"/>
    <p:sldLayoutId id="2147483790" r:id="rId31"/>
    <p:sldLayoutId id="2147483791" r:id="rId32"/>
    <p:sldLayoutId id="2147483792" r:id="rId33"/>
    <p:sldLayoutId id="2147483793" r:id="rId3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n-lt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b928880-8a55-4bc3-974b-6773ba0778d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5cbc0be2-c0c0-4e56-a45f-61ecdb73f5e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medmutual/HRP/_queries/query/?tempQueryId=4267bae2-9fad-44f1-b82a-5d1e7518f04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Relationship Id="rId4" Type="http://schemas.openxmlformats.org/officeDocument/2006/relationships/hyperlink" Target="https://dev.azure.com/medmutual/HRP/_queries/query/?tempQueryId=5cbc0be2-c0c0-4e56-a45f-61ecdb73f5e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745B-8D83-C40B-3E9E-4C016ED9E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2935976"/>
            <a:ext cx="11201400" cy="92333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/>
              <a:t>MMO Test Execution &amp; Defect Report</a:t>
            </a:r>
            <a:endParaRPr lang="en-US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5376F38-9832-1E0D-1CF1-540781298B51}"/>
              </a:ext>
            </a:extLst>
          </p:cNvPr>
          <p:cNvSpPr txBox="1">
            <a:spLocks/>
          </p:cNvSpPr>
          <p:nvPr/>
        </p:nvSpPr>
        <p:spPr bwMode="gray">
          <a:xfrm>
            <a:off x="495300" y="3782643"/>
            <a:ext cx="11201400" cy="9233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6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>
                <a:solidFill>
                  <a:prstClr val="black"/>
                </a:solidFill>
                <a:latin typeface="Calibri"/>
              </a:rPr>
              <a:t>09/21/2026</a:t>
            </a: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296727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63050-B538-8D58-A4E4-0E7C3FD9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NarrHeader">
            <a:extLst>
              <a:ext uri="{FF2B5EF4-FFF2-40B4-BE49-F238E27FC236}">
                <a16:creationId xmlns:a16="http://schemas.microsoft.com/office/drawing/2014/main" id="{DDA3501E-37FA-BBD5-7F1A-700EA3501B1B}"/>
              </a:ext>
            </a:extLst>
          </p:cNvPr>
          <p:cNvSpPr txBox="1"/>
          <p:nvPr/>
        </p:nvSpPr>
        <p:spPr>
          <a:xfrm>
            <a:off x="376931" y="2440118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Status</a:t>
            </a:r>
          </a:p>
        </p:txBody>
      </p:sp>
      <p:sp>
        <p:nvSpPr>
          <p:cNvPr id="61" name="NarrLeft">
            <a:extLst>
              <a:ext uri="{FF2B5EF4-FFF2-40B4-BE49-F238E27FC236}">
                <a16:creationId xmlns:a16="http://schemas.microsoft.com/office/drawing/2014/main" id="{015F27E5-6300-FD86-61EC-A29EB191B909}"/>
              </a:ext>
            </a:extLst>
          </p:cNvPr>
          <p:cNvSpPr txBox="1"/>
          <p:nvPr/>
        </p:nvSpPr>
        <p:spPr>
          <a:xfrm>
            <a:off x="368223" y="2716857"/>
            <a:ext cx="5406764" cy="3228686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Executive Summary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Overall SIT execution stands at 71% (1,032 of 1,462 planned) with a 68% pass rate; Priority Benefits leads while Enrollment and EDI lag significantly behind.</a:t>
            </a: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PDM SIT has kickstarted and is 10% executed (27 of 272 cases) at a 74% pass rate.</a:t>
            </a: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PDM carries 157 total ADO defects, 35 fixed to date(Closed), the 122 open defects are a mix of Cursory, SIT, and Certify issues. </a:t>
            </a: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First round of Priority Benefits testing is complete (486 of 489 cases, 79% pass rate); team is retesting defects and failed cases. Execution of </a:t>
            </a:r>
            <a:r>
              <a:rPr lang="en-US" sz="1000" dirty="0">
                <a:solidFill>
                  <a:srgbClr val="333333"/>
                </a:solidFill>
                <a:latin typeface="Calibri"/>
                <a:cs typeface="Calibri"/>
              </a:rPr>
              <a:t>Classic HMO NEOH and one EGWP plan (CWRU MAPD) are both well underway.</a:t>
            </a:r>
          </a:p>
          <a:p>
            <a:pPr>
              <a:lnSpc>
                <a:spcPct val="115000"/>
              </a:lnSpc>
              <a:spcBef>
                <a:spcPts val="300"/>
              </a:spcBef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Defect Triage:</a:t>
            </a:r>
            <a:endParaRPr lang="en-US" sz="1050" b="1" dirty="0">
              <a:solidFill>
                <a:srgbClr val="00768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lnSpc>
                <a:spcPct val="115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/>
              </a:rPr>
              <a:t>190 open defects remain in “New” and “Active” state. All critical and high-priority defects have been triaged, ownership has been assigned, and remediation efforts are actively underway.​</a:t>
            </a: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6FC7E3E-3C8D-5720-3B00-B4B11D35F996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SIT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Execution Status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Report |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Executive Summary</a:t>
            </a:r>
          </a:p>
        </p:txBody>
      </p:sp>
      <p:sp>
        <p:nvSpPr>
          <p:cNvPr id="14" name="AsOf">
            <a:extLst>
              <a:ext uri="{FF2B5EF4-FFF2-40B4-BE49-F238E27FC236}">
                <a16:creationId xmlns:a16="http://schemas.microsoft.com/office/drawing/2014/main" id="{3BADCF61-8843-CACB-D4A9-361363446042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lvl="0"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09/21/2026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21E322-FD16-698F-4E8E-A2C22B6AD423}"/>
              </a:ext>
            </a:extLst>
          </p:cNvPr>
          <p:cNvSpPr txBox="1"/>
          <p:nvPr/>
        </p:nvSpPr>
        <p:spPr>
          <a:xfrm>
            <a:off x="366668" y="6024736"/>
            <a:ext cx="6160405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dirty="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  <a:endParaRPr lang="en-US" sz="800" dirty="0"/>
          </a:p>
        </p:txBody>
      </p:sp>
      <p:sp>
        <p:nvSpPr>
          <p:cNvPr id="27" name="NarrLeft">
            <a:extLst>
              <a:ext uri="{FF2B5EF4-FFF2-40B4-BE49-F238E27FC236}">
                <a16:creationId xmlns:a16="http://schemas.microsoft.com/office/drawing/2014/main" id="{4A25FA09-209E-0831-0B89-5B8FBD195A77}"/>
              </a:ext>
            </a:extLst>
          </p:cNvPr>
          <p:cNvSpPr txBox="1"/>
          <p:nvPr/>
        </p:nvSpPr>
        <p:spPr>
          <a:xfrm>
            <a:off x="6396209" y="2716857"/>
            <a:ext cx="5405798" cy="3223773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8" name="NarrHeader">
            <a:extLst>
              <a:ext uri="{FF2B5EF4-FFF2-40B4-BE49-F238E27FC236}">
                <a16:creationId xmlns:a16="http://schemas.microsoft.com/office/drawing/2014/main" id="{3DF8CFDF-5033-6E84-FC61-C280BEDF2E37}"/>
              </a:ext>
            </a:extLst>
          </p:cNvPr>
          <p:cNvSpPr txBox="1"/>
          <p:nvPr/>
        </p:nvSpPr>
        <p:spPr>
          <a:xfrm>
            <a:off x="6397891" y="2414275"/>
            <a:ext cx="2209088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200" b="1">
                <a:solidFill>
                  <a:srgbClr val="007680"/>
                </a:solidFill>
                <a:latin typeface="Calibri"/>
              </a:rPr>
              <a:t>Test Case and Defect Breakdown</a:t>
            </a:r>
          </a:p>
        </p:txBody>
      </p:sp>
      <p:graphicFrame>
        <p:nvGraphicFramePr>
          <p:cNvPr id="52" name="WorkstreamSummary">
            <a:extLst>
              <a:ext uri="{FF2B5EF4-FFF2-40B4-BE49-F238E27FC236}">
                <a16:creationId xmlns:a16="http://schemas.microsoft.com/office/drawing/2014/main" id="{EE2634A9-121F-87F6-65CC-9E3D03E98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263084"/>
              </p:ext>
            </p:extLst>
          </p:nvPr>
        </p:nvGraphicFramePr>
        <p:xfrm>
          <a:off x="6527074" y="2852056"/>
          <a:ext cx="5163863" cy="29523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18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356">
                  <a:extLst>
                    <a:ext uri="{9D8B030D-6E8A-4147-A177-3AD203B41FA5}">
                      <a16:colId xmlns:a16="http://schemas.microsoft.com/office/drawing/2014/main" val="3657914926"/>
                    </a:ext>
                  </a:extLst>
                </a:gridCol>
                <a:gridCol w="557600">
                  <a:extLst>
                    <a:ext uri="{9D8B030D-6E8A-4147-A177-3AD203B41FA5}">
                      <a16:colId xmlns:a16="http://schemas.microsoft.com/office/drawing/2014/main" val="3775692062"/>
                    </a:ext>
                  </a:extLst>
                </a:gridCol>
                <a:gridCol w="460627">
                  <a:extLst>
                    <a:ext uri="{9D8B030D-6E8A-4147-A177-3AD203B41FA5}">
                      <a16:colId xmlns:a16="http://schemas.microsoft.com/office/drawing/2014/main" val="3289360789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4185109620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139">
                  <a:extLst>
                    <a:ext uri="{9D8B030D-6E8A-4147-A177-3AD203B41FA5}">
                      <a16:colId xmlns:a16="http://schemas.microsoft.com/office/drawing/2014/main" val="2472809960"/>
                    </a:ext>
                  </a:extLst>
                </a:gridCol>
                <a:gridCol w="517815">
                  <a:extLst>
                    <a:ext uri="{9D8B030D-6E8A-4147-A177-3AD203B41FA5}">
                      <a16:colId xmlns:a16="http://schemas.microsoft.com/office/drawing/2014/main" val="881928816"/>
                    </a:ext>
                  </a:extLst>
                </a:gridCol>
                <a:gridCol w="427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267">
                <a:tc gridSpan="10"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</a:rPr>
                        <a:t>Review Summary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7432" marR="27432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27432" marR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34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Workstreams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Planned*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Executed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kern="1200">
                          <a:solidFill>
                            <a:srgbClr val="313131"/>
                          </a:solidFill>
                          <a:latin typeface="Calibri"/>
                          <a:ea typeface="+mn-ea"/>
                          <a:cs typeface="+mn-cs"/>
                        </a:rPr>
                        <a:t>Exec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Pass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313131"/>
                          </a:solidFill>
                          <a:latin typeface="Calibri"/>
                        </a:rPr>
                        <a:t>Fail %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313131"/>
                          </a:solidFill>
                          <a:latin typeface="Calibri"/>
                        </a:rPr>
                        <a:t>Open Defects</a:t>
                      </a:r>
                    </a:p>
                  </a:txBody>
                  <a:tcPr marL="27432" marR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Cursory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178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157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88%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83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53%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74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47%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11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3191323699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PDM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272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27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10%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74%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7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26%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111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latin typeface="Calibri"/>
                        </a:rPr>
                        <a:t>2026 Benefits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969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846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87%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596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70%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250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30%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61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latin typeface="Calibri"/>
                        </a:rPr>
                        <a:t>Enrollment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5%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100%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latin typeface="+mn-lt"/>
                        </a:rPr>
                        <a:t>3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4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800" b="1">
                          <a:latin typeface="Calibri"/>
                        </a:rPr>
                        <a:t>EDI - SIT</a:t>
                      </a:r>
                    </a:p>
                  </a:txBody>
                  <a:tcPr marL="27432" marR="27432"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22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5%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1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latin typeface="+mn-lt"/>
                        </a:rPr>
                        <a:t>100%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latin typeface="+mn-lt"/>
                        </a:rPr>
                        <a:t>0</a:t>
                      </a:r>
                    </a:p>
                  </a:txBody>
                  <a:tcPr marL="27432" marR="2743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latin typeface="+mn-lt"/>
                        </a:rPr>
                        <a:t>4</a:t>
                      </a:r>
                    </a:p>
                  </a:txBody>
                  <a:tcPr marL="27432" marR="27432" anchor="ctr"/>
                </a:tc>
                <a:extLst>
                  <a:ext uri="{0D108BD9-81ED-4DB2-BD59-A6C34878D82A}">
                    <a16:rowId xmlns:a16="http://schemas.microsoft.com/office/drawing/2014/main" val="940687559"/>
                  </a:ext>
                </a:extLst>
              </a:tr>
              <a:tr h="297792"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1462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1032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71%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699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68%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333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32%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  <a:latin typeface="+mn-lt"/>
                        </a:rPr>
                        <a:t>190</a:t>
                      </a:r>
                      <a:endParaRPr lang="en-US" dirty="0"/>
                    </a:p>
                  </a:txBody>
                  <a:tcPr marL="27432" marR="27432"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A96CAB9-1357-C066-3A53-B0C34DEC314A}"/>
              </a:ext>
            </a:extLst>
          </p:cNvPr>
          <p:cNvSpPr txBox="1"/>
          <p:nvPr/>
        </p:nvSpPr>
        <p:spPr>
          <a:xfrm>
            <a:off x="376244" y="6146737"/>
            <a:ext cx="5719756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In Progress </a:t>
            </a:r>
            <a:r>
              <a:rPr lang="en-US" sz="800" dirty="0">
                <a:solidFill>
                  <a:srgbClr val="313131"/>
                </a:solidFill>
              </a:rPr>
              <a:t>– The test case is currently in-progress awaiting to clear pending dependencies 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sp>
        <p:nvSpPr>
          <p:cNvPr id="26" name="StatBox1">
            <a:extLst>
              <a:ext uri="{FF2B5EF4-FFF2-40B4-BE49-F238E27FC236}">
                <a16:creationId xmlns:a16="http://schemas.microsoft.com/office/drawing/2014/main" id="{99D07C76-B78A-0AE6-9F5B-2EBA09200CF4}"/>
              </a:ext>
            </a:extLst>
          </p:cNvPr>
          <p:cNvSpPr>
            <a:spLocks noGrp="1" noChangeAspect="1"/>
          </p:cNvSpPr>
          <p:nvPr/>
        </p:nvSpPr>
        <p:spPr>
          <a:xfrm>
            <a:off x="350597" y="1461008"/>
            <a:ext cx="1723995" cy="891136"/>
          </a:xfrm>
          <a:prstGeom prst="rect">
            <a:avLst/>
          </a:prstGeom>
          <a:solidFill>
            <a:srgbClr val="F0FAFA"/>
          </a:solidFill>
          <a:ln w="19050">
            <a:solidFill>
              <a:srgbClr val="00768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Stat1Num">
            <a:extLst>
              <a:ext uri="{FF2B5EF4-FFF2-40B4-BE49-F238E27FC236}">
                <a16:creationId xmlns:a16="http://schemas.microsoft.com/office/drawing/2014/main" id="{23AD6140-4D03-1877-22EA-E129D493E908}"/>
              </a:ext>
            </a:extLst>
          </p:cNvPr>
          <p:cNvSpPr txBox="1">
            <a:spLocks noChangeAspect="1"/>
          </p:cNvSpPr>
          <p:nvPr/>
        </p:nvSpPr>
        <p:spPr>
          <a:xfrm>
            <a:off x="347542" y="1568438"/>
            <a:ext cx="1735119" cy="510955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 dirty="0">
                <a:solidFill>
                  <a:srgbClr val="007680"/>
                </a:solidFill>
              </a:rPr>
              <a:t>1462*</a:t>
            </a:r>
            <a:endParaRPr lang="en-US" sz="4800" b="1" baseline="30000" dirty="0">
              <a:solidFill>
                <a:srgbClr val="007680"/>
              </a:solidFill>
            </a:endParaRPr>
          </a:p>
        </p:txBody>
      </p:sp>
      <p:sp>
        <p:nvSpPr>
          <p:cNvPr id="33" name="Stat1Lbl">
            <a:extLst>
              <a:ext uri="{FF2B5EF4-FFF2-40B4-BE49-F238E27FC236}">
                <a16:creationId xmlns:a16="http://schemas.microsoft.com/office/drawing/2014/main" id="{6A6015CF-3978-00B4-DDA9-6B3ED3FB61D3}"/>
              </a:ext>
            </a:extLst>
          </p:cNvPr>
          <p:cNvSpPr txBox="1">
            <a:spLocks noChangeAspect="1"/>
          </p:cNvSpPr>
          <p:nvPr/>
        </p:nvSpPr>
        <p:spPr>
          <a:xfrm>
            <a:off x="350597" y="2120091"/>
            <a:ext cx="1723997" cy="233528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Total Test Cases</a:t>
            </a:r>
          </a:p>
        </p:txBody>
      </p:sp>
      <p:sp>
        <p:nvSpPr>
          <p:cNvPr id="34" name="StatBox2">
            <a:extLst>
              <a:ext uri="{FF2B5EF4-FFF2-40B4-BE49-F238E27FC236}">
                <a16:creationId xmlns:a16="http://schemas.microsoft.com/office/drawing/2014/main" id="{ADCE0457-7EF0-A291-CAF7-184C3CD6CE93}"/>
              </a:ext>
            </a:extLst>
          </p:cNvPr>
          <p:cNvSpPr>
            <a:spLocks noGrp="1"/>
          </p:cNvSpPr>
          <p:nvPr/>
        </p:nvSpPr>
        <p:spPr>
          <a:xfrm>
            <a:off x="4203523" y="1459534"/>
            <a:ext cx="1728216" cy="886968"/>
          </a:xfrm>
          <a:prstGeom prst="rect">
            <a:avLst/>
          </a:prstGeom>
          <a:solidFill>
            <a:srgbClr val="F0FAF2"/>
          </a:solidFill>
          <a:ln w="19050">
            <a:solidFill>
              <a:srgbClr val="00AA5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Stat2Num">
            <a:extLst>
              <a:ext uri="{FF2B5EF4-FFF2-40B4-BE49-F238E27FC236}">
                <a16:creationId xmlns:a16="http://schemas.microsoft.com/office/drawing/2014/main" id="{140DF3D2-B158-FCC3-3217-402F4E05B2D0}"/>
              </a:ext>
            </a:extLst>
          </p:cNvPr>
          <p:cNvSpPr txBox="1"/>
          <p:nvPr/>
        </p:nvSpPr>
        <p:spPr>
          <a:xfrm>
            <a:off x="4203523" y="1559531"/>
            <a:ext cx="173512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00AA55"/>
                </a:solidFill>
                <a:ea typeface="Calibri"/>
                <a:cs typeface="Calibri"/>
              </a:rPr>
              <a:t>699</a:t>
            </a:r>
          </a:p>
        </p:txBody>
      </p:sp>
      <p:sp>
        <p:nvSpPr>
          <p:cNvPr id="36" name="Stat2Lbl">
            <a:extLst>
              <a:ext uri="{FF2B5EF4-FFF2-40B4-BE49-F238E27FC236}">
                <a16:creationId xmlns:a16="http://schemas.microsoft.com/office/drawing/2014/main" id="{D60C9933-0CA7-4B03-D1F8-F76BF8812620}"/>
              </a:ext>
            </a:extLst>
          </p:cNvPr>
          <p:cNvSpPr txBox="1"/>
          <p:nvPr/>
        </p:nvSpPr>
        <p:spPr>
          <a:xfrm>
            <a:off x="4202715" y="2109225"/>
            <a:ext cx="1730273" cy="255901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Passed (68%)</a:t>
            </a:r>
          </a:p>
        </p:txBody>
      </p:sp>
      <p:sp>
        <p:nvSpPr>
          <p:cNvPr id="37" name="StatBox3">
            <a:extLst>
              <a:ext uri="{FF2B5EF4-FFF2-40B4-BE49-F238E27FC236}">
                <a16:creationId xmlns:a16="http://schemas.microsoft.com/office/drawing/2014/main" id="{7E6BF14B-91CB-E9B6-FD42-553A467DEC7F}"/>
              </a:ext>
            </a:extLst>
          </p:cNvPr>
          <p:cNvSpPr>
            <a:spLocks noGrp="1"/>
          </p:cNvSpPr>
          <p:nvPr/>
        </p:nvSpPr>
        <p:spPr>
          <a:xfrm>
            <a:off x="6143661" y="1459534"/>
            <a:ext cx="1728216" cy="886968"/>
          </a:xfrm>
          <a:prstGeom prst="rect">
            <a:avLst/>
          </a:prstGeom>
          <a:solidFill>
            <a:srgbClr val="FFF2F2"/>
          </a:solidFill>
          <a:ln w="19050">
            <a:solidFill>
              <a:srgbClr val="CC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Stat3Num">
            <a:extLst>
              <a:ext uri="{FF2B5EF4-FFF2-40B4-BE49-F238E27FC236}">
                <a16:creationId xmlns:a16="http://schemas.microsoft.com/office/drawing/2014/main" id="{C460BBE5-6FF9-1801-3054-B7925A291984}"/>
              </a:ext>
            </a:extLst>
          </p:cNvPr>
          <p:cNvSpPr txBox="1"/>
          <p:nvPr/>
        </p:nvSpPr>
        <p:spPr>
          <a:xfrm>
            <a:off x="6148521" y="1551039"/>
            <a:ext cx="1730260" cy="511801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CC3333"/>
                </a:solidFill>
                <a:ea typeface="Calibri"/>
                <a:cs typeface="Calibri"/>
              </a:rPr>
              <a:t>333</a:t>
            </a:r>
          </a:p>
        </p:txBody>
      </p:sp>
      <p:sp>
        <p:nvSpPr>
          <p:cNvPr id="39" name="Stat3Lbl">
            <a:extLst>
              <a:ext uri="{FF2B5EF4-FFF2-40B4-BE49-F238E27FC236}">
                <a16:creationId xmlns:a16="http://schemas.microsoft.com/office/drawing/2014/main" id="{83033A1F-7611-EB65-BFE3-BF9920E39A94}"/>
              </a:ext>
            </a:extLst>
          </p:cNvPr>
          <p:cNvSpPr txBox="1"/>
          <p:nvPr/>
        </p:nvSpPr>
        <p:spPr>
          <a:xfrm>
            <a:off x="6151576" y="2122785"/>
            <a:ext cx="1730260" cy="246777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Failed (32%)</a:t>
            </a:r>
          </a:p>
        </p:txBody>
      </p:sp>
      <p:sp>
        <p:nvSpPr>
          <p:cNvPr id="43" name="StatBox4">
            <a:extLst>
              <a:ext uri="{FF2B5EF4-FFF2-40B4-BE49-F238E27FC236}">
                <a16:creationId xmlns:a16="http://schemas.microsoft.com/office/drawing/2014/main" id="{89B73705-04BD-B75C-57CF-9ECDC19137A6}"/>
              </a:ext>
            </a:extLst>
          </p:cNvPr>
          <p:cNvSpPr>
            <a:spLocks noGrp="1"/>
          </p:cNvSpPr>
          <p:nvPr/>
        </p:nvSpPr>
        <p:spPr>
          <a:xfrm>
            <a:off x="10026991" y="1466651"/>
            <a:ext cx="1728216" cy="886968"/>
          </a:xfrm>
          <a:prstGeom prst="rect">
            <a:avLst/>
          </a:prstGeom>
          <a:solidFill>
            <a:srgbClr val="FFF8F0"/>
          </a:solidFill>
          <a:ln w="19050">
            <a:solidFill>
              <a:srgbClr val="E07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Stat4Num">
            <a:extLst>
              <a:ext uri="{FF2B5EF4-FFF2-40B4-BE49-F238E27FC236}">
                <a16:creationId xmlns:a16="http://schemas.microsoft.com/office/drawing/2014/main" id="{EDF03EF3-9B1E-4916-6594-E140C2B54504}"/>
              </a:ext>
            </a:extLst>
          </p:cNvPr>
          <p:cNvSpPr txBox="1"/>
          <p:nvPr/>
        </p:nvSpPr>
        <p:spPr>
          <a:xfrm>
            <a:off x="10023937" y="1556722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E07000"/>
                </a:solidFill>
                <a:ea typeface="Calibri"/>
                <a:cs typeface="Calibri"/>
              </a:rPr>
              <a:t>190</a:t>
            </a:r>
          </a:p>
        </p:txBody>
      </p:sp>
      <p:sp>
        <p:nvSpPr>
          <p:cNvPr id="45" name="Stat4Lbl">
            <a:extLst>
              <a:ext uri="{FF2B5EF4-FFF2-40B4-BE49-F238E27FC236}">
                <a16:creationId xmlns:a16="http://schemas.microsoft.com/office/drawing/2014/main" id="{A236E7EF-8E9C-6470-792F-D6C0DFD6951E}"/>
              </a:ext>
            </a:extLst>
          </p:cNvPr>
          <p:cNvSpPr txBox="1"/>
          <p:nvPr/>
        </p:nvSpPr>
        <p:spPr>
          <a:xfrm>
            <a:off x="10037630" y="2118575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Open Defects</a:t>
            </a:r>
          </a:p>
        </p:txBody>
      </p:sp>
      <p:sp>
        <p:nvSpPr>
          <p:cNvPr id="46" name="StatBox3">
            <a:extLst>
              <a:ext uri="{FF2B5EF4-FFF2-40B4-BE49-F238E27FC236}">
                <a16:creationId xmlns:a16="http://schemas.microsoft.com/office/drawing/2014/main" id="{80E9E55F-0CEC-90AF-EC57-7C6FB1593F69}"/>
              </a:ext>
            </a:extLst>
          </p:cNvPr>
          <p:cNvSpPr>
            <a:spLocks noGrp="1"/>
          </p:cNvSpPr>
          <p:nvPr/>
        </p:nvSpPr>
        <p:spPr>
          <a:xfrm>
            <a:off x="2276656" y="1459534"/>
            <a:ext cx="1728216" cy="886968"/>
          </a:xfrm>
          <a:prstGeom prst="rect">
            <a:avLst/>
          </a:prstGeom>
          <a:solidFill>
            <a:srgbClr val="E8E9ED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Stat3Num">
            <a:extLst>
              <a:ext uri="{FF2B5EF4-FFF2-40B4-BE49-F238E27FC236}">
                <a16:creationId xmlns:a16="http://schemas.microsoft.com/office/drawing/2014/main" id="{6D6873E7-420A-807B-C4AC-5CA86A4CDA28}"/>
              </a:ext>
            </a:extLst>
          </p:cNvPr>
          <p:cNvSpPr txBox="1"/>
          <p:nvPr/>
        </p:nvSpPr>
        <p:spPr>
          <a:xfrm>
            <a:off x="2274412" y="1552017"/>
            <a:ext cx="1728511" cy="511637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ea typeface="Calibri"/>
                <a:cs typeface="Calibri"/>
              </a:rPr>
              <a:t>1032</a:t>
            </a:r>
            <a:endParaRPr lang="en-US" sz="4800" b="1">
              <a:ln>
                <a:solidFill>
                  <a:srgbClr val="53565A"/>
                </a:solidFill>
              </a:ln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48" name="Stat3Lbl">
            <a:extLst>
              <a:ext uri="{FF2B5EF4-FFF2-40B4-BE49-F238E27FC236}">
                <a16:creationId xmlns:a16="http://schemas.microsoft.com/office/drawing/2014/main" id="{227A0A4C-EDFB-7539-91F0-950357C2ACE2}"/>
              </a:ext>
            </a:extLst>
          </p:cNvPr>
          <p:cNvSpPr txBox="1"/>
          <p:nvPr/>
        </p:nvSpPr>
        <p:spPr>
          <a:xfrm>
            <a:off x="2265560" y="2117157"/>
            <a:ext cx="1728512" cy="227193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Executed</a:t>
            </a:r>
          </a:p>
        </p:txBody>
      </p:sp>
      <p:sp>
        <p:nvSpPr>
          <p:cNvPr id="49" name="StatBox4">
            <a:extLst>
              <a:ext uri="{FF2B5EF4-FFF2-40B4-BE49-F238E27FC236}">
                <a16:creationId xmlns:a16="http://schemas.microsoft.com/office/drawing/2014/main" id="{D3BC3390-ECDB-17DF-E2EA-778AF4F865DE}"/>
              </a:ext>
            </a:extLst>
          </p:cNvPr>
          <p:cNvSpPr>
            <a:spLocks noGrp="1"/>
          </p:cNvSpPr>
          <p:nvPr/>
        </p:nvSpPr>
        <p:spPr>
          <a:xfrm>
            <a:off x="8076895" y="1457382"/>
            <a:ext cx="1728216" cy="886968"/>
          </a:xfrm>
          <a:prstGeom prst="rect">
            <a:avLst/>
          </a:prstGeom>
          <a:solidFill>
            <a:srgbClr val="D8FFFD">
              <a:alpha val="87843"/>
            </a:srgbClr>
          </a:solidFill>
          <a:ln w="19050">
            <a:solidFill>
              <a:srgbClr val="6FC2B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Stat4Num">
            <a:extLst>
              <a:ext uri="{FF2B5EF4-FFF2-40B4-BE49-F238E27FC236}">
                <a16:creationId xmlns:a16="http://schemas.microsoft.com/office/drawing/2014/main" id="{F2F8CA9C-06FB-7F56-B430-CBB275468108}"/>
              </a:ext>
            </a:extLst>
          </p:cNvPr>
          <p:cNvSpPr txBox="1"/>
          <p:nvPr/>
        </p:nvSpPr>
        <p:spPr>
          <a:xfrm>
            <a:off x="8073841" y="1547453"/>
            <a:ext cx="1717429" cy="509929"/>
          </a:xfrm>
          <a:prstGeom prst="rect">
            <a:avLst/>
          </a:prstGeom>
          <a:noFill/>
        </p:spPr>
        <p:txBody>
          <a:bodyPr wrap="square" lIns="91440" tIns="0" rIns="91440" bIns="0" anchor="ctr"/>
          <a:lstStyle/>
          <a:p>
            <a:pPr algn="ctr"/>
            <a:r>
              <a:rPr lang="en-US" sz="4800" b="1">
                <a:solidFill>
                  <a:srgbClr val="6FC2B4"/>
                </a:solidFill>
                <a:ea typeface="Calibri"/>
                <a:cs typeface="Calibri"/>
              </a:rPr>
              <a:t>0</a:t>
            </a:r>
          </a:p>
        </p:txBody>
      </p:sp>
      <p:sp>
        <p:nvSpPr>
          <p:cNvPr id="51" name="Stat4Lbl">
            <a:extLst>
              <a:ext uri="{FF2B5EF4-FFF2-40B4-BE49-F238E27FC236}">
                <a16:creationId xmlns:a16="http://schemas.microsoft.com/office/drawing/2014/main" id="{3385AB6F-5E80-30BE-218A-1FC78F12CFC7}"/>
              </a:ext>
            </a:extLst>
          </p:cNvPr>
          <p:cNvSpPr txBox="1"/>
          <p:nvPr/>
        </p:nvSpPr>
        <p:spPr>
          <a:xfrm>
            <a:off x="8087534" y="2109306"/>
            <a:ext cx="1717429" cy="245874"/>
          </a:xfrm>
          <a:prstGeom prst="rect">
            <a:avLst/>
          </a:prstGeom>
          <a:noFill/>
        </p:spPr>
        <p:txBody>
          <a:bodyPr wrap="square" lIns="91440" tIns="0" rIns="91440" bIns="0" anchor="t"/>
          <a:lstStyle/>
          <a:p>
            <a:pPr algn="ctr"/>
            <a:r>
              <a:rPr lang="en-US" sz="1000" b="1">
                <a:solidFill>
                  <a:srgbClr val="444444"/>
                </a:solidFill>
                <a:latin typeface="Calibri"/>
              </a:rPr>
              <a:t>In Progress</a:t>
            </a:r>
          </a:p>
        </p:txBody>
      </p:sp>
      <p:sp>
        <p:nvSpPr>
          <p:cNvPr id="11" name="LegendBox">
            <a:extLst>
              <a:ext uri="{FF2B5EF4-FFF2-40B4-BE49-F238E27FC236}">
                <a16:creationId xmlns:a16="http://schemas.microsoft.com/office/drawing/2014/main" id="{834828F7-8CCF-D014-B2A1-FA7B223ADFB9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FD9283-C35E-CD42-5849-79EEACFB7A44}"/>
              </a:ext>
            </a:extLst>
          </p:cNvPr>
          <p:cNvGrpSpPr/>
          <p:nvPr/>
        </p:nvGrpSpPr>
        <p:grpSpPr>
          <a:xfrm>
            <a:off x="7821411" y="215093"/>
            <a:ext cx="2300000" cy="660000"/>
            <a:chOff x="9400000" y="280000"/>
            <a:chExt cx="2300000" cy="660000"/>
          </a:xfrm>
        </p:grpSpPr>
        <p:sp>
          <p:nvSpPr>
            <p:cNvPr id="20" name="LegendBox">
              <a:extLst>
                <a:ext uri="{FF2B5EF4-FFF2-40B4-BE49-F238E27FC236}">
                  <a16:creationId xmlns:a16="http://schemas.microsoft.com/office/drawing/2014/main" id="{9E7F1FB6-D66C-348B-B8C7-138CB4C99A64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1" name="Dot1">
              <a:extLst>
                <a:ext uri="{FF2B5EF4-FFF2-40B4-BE49-F238E27FC236}">
                  <a16:creationId xmlns:a16="http://schemas.microsoft.com/office/drawing/2014/main" id="{5F918CAD-647A-FFEC-BE75-950CECA8A67B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Lbl1">
              <a:extLst>
                <a:ext uri="{FF2B5EF4-FFF2-40B4-BE49-F238E27FC236}">
                  <a16:creationId xmlns:a16="http://schemas.microsoft.com/office/drawing/2014/main" id="{2FB5EDEA-ACD1-6393-8004-24B092E92F2C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30" name="Dot2">
              <a:extLst>
                <a:ext uri="{FF2B5EF4-FFF2-40B4-BE49-F238E27FC236}">
                  <a16:creationId xmlns:a16="http://schemas.microsoft.com/office/drawing/2014/main" id="{69F61DFD-6F87-FF9E-6F99-4EA015841059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BF3C3D1E-6713-D27F-CF4D-1A74255EAD22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EC6270FC-32C7-234E-D56E-5CC7AF1F2701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Lbl3">
              <a:extLst>
                <a:ext uri="{FF2B5EF4-FFF2-40B4-BE49-F238E27FC236}">
                  <a16:creationId xmlns:a16="http://schemas.microsoft.com/office/drawing/2014/main" id="{87378057-3253-0DFA-1659-084282424C2D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41" name="Dot4">
              <a:extLst>
                <a:ext uri="{FF2B5EF4-FFF2-40B4-BE49-F238E27FC236}">
                  <a16:creationId xmlns:a16="http://schemas.microsoft.com/office/drawing/2014/main" id="{DA47427F-D5AA-6953-81DD-ED682FB72A0A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Lbl4">
              <a:extLst>
                <a:ext uri="{FF2B5EF4-FFF2-40B4-BE49-F238E27FC236}">
                  <a16:creationId xmlns:a16="http://schemas.microsoft.com/office/drawing/2014/main" id="{C12ECC9D-BCDC-8510-CD1A-A5EC3FAC16F2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3" name="Dot3">
            <a:extLst>
              <a:ext uri="{FF2B5EF4-FFF2-40B4-BE49-F238E27FC236}">
                <a16:creationId xmlns:a16="http://schemas.microsoft.com/office/drawing/2014/main" id="{991FA8AC-D41A-89C1-C6EB-FE5914097816}"/>
              </a:ext>
            </a:extLst>
          </p:cNvPr>
          <p:cNvSpPr/>
          <p:nvPr/>
        </p:nvSpPr>
        <p:spPr>
          <a:xfrm>
            <a:off x="10832657" y="541882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6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Testing Execution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09/21/2026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47937"/>
              </p:ext>
            </p:extLst>
          </p:nvPr>
        </p:nvGraphicFramePr>
        <p:xfrm>
          <a:off x="501651" y="1490836"/>
          <a:ext cx="11175482" cy="18141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320813991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464094568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168240689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75189816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357898767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218412443"/>
                    </a:ext>
                  </a:extLst>
                </a:gridCol>
                <a:gridCol w="882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281">
                <a:tc gridSpan="13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  <a:r>
                        <a:rPr lang="en-US" sz="1000" kern="1200" baseline="300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Iteration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endParaRPr lang="en-US" sz="1000" baseline="30000" dirty="0"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Cursory</a:t>
                      </a:r>
                      <a:endParaRPr lang="en-US" sz="1000" b="1" baseline="30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229393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Cursory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tx1"/>
                          </a:solidFill>
                          <a:latin typeface="+mn-lt"/>
                        </a:rP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95197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F250EFB-F4DA-42AB-09C3-043BD78F3A71}"/>
              </a:ext>
            </a:extLst>
          </p:cNvPr>
          <p:cNvSpPr txBox="1"/>
          <p:nvPr/>
        </p:nvSpPr>
        <p:spPr>
          <a:xfrm>
            <a:off x="495836" y="5729113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</a:t>
            </a:r>
            <a:r>
              <a:rPr lang="en-US" sz="800">
                <a:solidFill>
                  <a:srgbClr val="313131"/>
                </a:solidFill>
              </a:rPr>
              <a:t>Cursory Review validates that the data in PDM is matching with the source; no further validation on data quality is done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9D7915-ECA8-77EF-3291-5F8531DAA9F8}"/>
              </a:ext>
            </a:extLst>
          </p:cNvPr>
          <p:cNvSpPr txBox="1"/>
          <p:nvPr/>
        </p:nvSpPr>
        <p:spPr>
          <a:xfrm>
            <a:off x="495836" y="5873595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>
                <a:solidFill>
                  <a:schemeClr val="dk1"/>
                </a:solidFill>
              </a:rPr>
              <a:t>**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9479868-6844-26B2-E461-5CFEE8A40FE8}"/>
              </a:ext>
            </a:extLst>
          </p:cNvPr>
          <p:cNvSpPr txBox="1"/>
          <p:nvPr/>
        </p:nvSpPr>
        <p:spPr>
          <a:xfrm>
            <a:off x="495836" y="5989502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="1" baseline="30000">
                <a:solidFill>
                  <a:srgbClr val="313131"/>
                </a:solidFill>
              </a:rPr>
              <a:t>***</a:t>
            </a:r>
            <a:r>
              <a:rPr lang="en-US" sz="800">
                <a:solidFill>
                  <a:srgbClr val="313131"/>
                </a:solidFill>
              </a:rPr>
              <a:t>Defects included from previous iterations</a:t>
            </a:r>
          </a:p>
        </p:txBody>
      </p:sp>
      <p:sp>
        <p:nvSpPr>
          <p:cNvPr id="13" name="LegendBox">
            <a:extLst>
              <a:ext uri="{FF2B5EF4-FFF2-40B4-BE49-F238E27FC236}">
                <a16:creationId xmlns:a16="http://schemas.microsoft.com/office/drawing/2014/main" id="{E5AAE186-9015-AF07-72EA-58EBD400AF07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F49F0-D0F3-1C86-C12F-93692B176DD7}"/>
              </a:ext>
            </a:extLst>
          </p:cNvPr>
          <p:cNvSpPr txBox="1"/>
          <p:nvPr/>
        </p:nvSpPr>
        <p:spPr>
          <a:xfrm>
            <a:off x="495836" y="6112613"/>
            <a:ext cx="60548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>
                <a:solidFill>
                  <a:srgbClr val="313131"/>
                </a:solidFill>
              </a:rPr>
              <a:t>Executed</a:t>
            </a:r>
            <a:r>
              <a:rPr lang="en-US" sz="80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>
                <a:solidFill>
                  <a:srgbClr val="313131"/>
                </a:solidFill>
              </a:rPr>
              <a:t>Passed</a:t>
            </a:r>
            <a:r>
              <a:rPr lang="en-US" sz="80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</a:p>
          <a:p>
            <a:r>
              <a:rPr lang="en-US" sz="800" b="1">
                <a:solidFill>
                  <a:srgbClr val="313131"/>
                </a:solidFill>
              </a:rPr>
              <a:t>Failed</a:t>
            </a:r>
            <a:r>
              <a:rPr lang="en-US" sz="80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14863" y="982262"/>
            <a:ext cx="11101069" cy="7694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PDM Off Track, with only 27 of 272 planned SIT cases executed (10%) thus far at a 74% pass rate, </a:t>
            </a:r>
            <a:r>
              <a:rPr lang="en-US" sz="900" b="1" i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against an expected pace of roughly 45 cases (17%) at this point in the schedule</a:t>
            </a:r>
            <a:r>
              <a:rPr lang="en-US" sz="9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 122 open PDM defects remain, concentrated in credentialing and provider-record data quality issues and configuration issues across roster and organization workflows. The PDM team is actively working on the remining 21 cursory test cases.</a:t>
            </a:r>
          </a:p>
          <a:p>
            <a:pPr>
              <a:spcBef>
                <a:spcPts val="200"/>
              </a:spcBef>
            </a:pPr>
            <a:endParaRPr lang="en-US" sz="900" dirty="0"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94E49F4F-74EB-46D0-1475-3A6BD2792461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WorkstreamSummary">
            <a:extLst>
              <a:ext uri="{FF2B5EF4-FFF2-40B4-BE49-F238E27FC236}">
                <a16:creationId xmlns:a16="http://schemas.microsoft.com/office/drawing/2014/main" id="{CDB1D4FD-F646-A646-F27C-694A21293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791683"/>
              </p:ext>
            </p:extLst>
          </p:nvPr>
        </p:nvGraphicFramePr>
        <p:xfrm>
          <a:off x="495836" y="3457728"/>
          <a:ext cx="11163817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3383328722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705187464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13131"/>
                          </a:solidFill>
                          <a:latin typeface="+mn-lt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PDM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111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272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27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245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122*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77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BE94-B8E2-51AF-2511-9F0CC86E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DB64E7-162E-0F5B-9E60-CCCF933D3EC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PDM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43B77641-B9A4-FF9B-1089-33EDDA27F05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09/21/2026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BB09E675-6F6C-94A6-877E-245EE23D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77359"/>
              </p:ext>
            </p:extLst>
          </p:nvPr>
        </p:nvGraphicFramePr>
        <p:xfrm>
          <a:off x="501650" y="1490836"/>
          <a:ext cx="5406762" cy="22226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70317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Iteration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8229393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Iteration 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5951971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1486933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rgbClr val="31313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0E77E65D-2938-7D33-7E7A-BF43D5E0DC8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D9230A7B-BC38-B2FF-D2AB-CA6DC45BCEE5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03C244D-3943-90BC-E1FD-ECC641DC68E0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05F4765E-EF33-E121-E16B-CFE1006FC72F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11AC445D-A448-A86F-1A52-9BD1FAF9D06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1E6FFD12-44E9-F623-44B4-B5545D03CDBF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4FA4C29A-59D9-BB32-BC13-D8DA16982AFB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34F94A80-85E9-EF89-D739-CA80FD715586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95D7A5AD-9F52-3519-BA87-D8F3DB6ADA6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6AC06057-B5F5-BAAD-4352-E90983D1FB86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92A6CAA0-FDE3-2FD0-09F9-92D52E882E3C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4600339-6144-3556-FD70-AAF6E472D810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The below table summarizes the full set of PDM defects across Cursory and SIT test phases along with PDM defect burn down with key insights.  The </a:t>
            </a:r>
            <a:r>
              <a:rPr lang="en-US" sz="900" b="1" dirty="0">
                <a:solidFill>
                  <a:srgbClr val="313131"/>
                </a:solidFill>
              </a:rPr>
              <a:t>defect identification is outpacing the defect resolution</a:t>
            </a:r>
            <a:r>
              <a:rPr lang="en-US" sz="900" dirty="0">
                <a:solidFill>
                  <a:srgbClr val="313131"/>
                </a:solidFill>
              </a:rPr>
              <a:t> causing </a:t>
            </a:r>
            <a:r>
              <a:rPr lang="en-US" sz="900" b="1" dirty="0">
                <a:solidFill>
                  <a:srgbClr val="313131"/>
                </a:solidFill>
              </a:rPr>
              <a:t>defect backlog to grow significantly </a:t>
            </a:r>
            <a:r>
              <a:rPr lang="en-US" sz="900" dirty="0">
                <a:solidFill>
                  <a:srgbClr val="313131"/>
                </a:solidFill>
              </a:rPr>
              <a:t>during SIT phase.</a:t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1260D4F1-FCD9-8BA1-42E0-D923A624AFEF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B8652786-6E36-3217-9FF0-D7BB0C7DEF8D}"/>
              </a:ext>
            </a:extLst>
          </p:cNvPr>
          <p:cNvSpPr txBox="1"/>
          <p:nvPr/>
        </p:nvSpPr>
        <p:spPr>
          <a:xfrm>
            <a:off x="501650" y="3993532"/>
            <a:ext cx="540676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SIT has 111 open defects (91% of all open PDM issues), all logged this week as SIT execution kicked off for the first time.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35 of 111 are "</a:t>
            </a:r>
            <a:r>
              <a:rPr lang="en-US" sz="1000" b="1" dirty="0"/>
              <a:t>Missing Functionality</a:t>
            </a:r>
            <a:r>
              <a:rPr lang="en-US" sz="1000" dirty="0"/>
              <a:t>“, things never built, not just bugs.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44 of 111 are </a:t>
            </a:r>
            <a:r>
              <a:rPr lang="en-US" sz="1000" b="1" dirty="0">
                <a:solidFill>
                  <a:srgbClr val="333333"/>
                </a:solidFill>
              </a:rPr>
              <a:t>Certify</a:t>
            </a:r>
            <a:r>
              <a:rPr lang="en-US" sz="1000" dirty="0">
                <a:solidFill>
                  <a:srgbClr val="333333"/>
                </a:solidFill>
              </a:rPr>
              <a:t> related defects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13 of 111 are “</a:t>
            </a:r>
            <a:r>
              <a:rPr lang="en-US" sz="1000" b="1" dirty="0">
                <a:solidFill>
                  <a:srgbClr val="333333"/>
                </a:solidFill>
              </a:rPr>
              <a:t>Requirement Update</a:t>
            </a:r>
            <a:r>
              <a:rPr lang="en-US" sz="1000" dirty="0">
                <a:solidFill>
                  <a:srgbClr val="333333"/>
                </a:solidFill>
              </a:rPr>
              <a:t>” / Enhancement  </a:t>
            </a: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333333"/>
                </a:solidFill>
              </a:rPr>
              <a:t>Rest of the defects are not uncategorized and will be triaged during defect triage call.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/>
              <a:t>Older iteration (2, 2.1, 3) defects are still lingering with HE working on those with priority.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8989A7C4-2A1E-CB24-608F-2D57939B1AB4}"/>
              </a:ext>
            </a:extLst>
          </p:cNvPr>
          <p:cNvSpPr txBox="1"/>
          <p:nvPr/>
        </p:nvSpPr>
        <p:spPr>
          <a:xfrm>
            <a:off x="6487008" y="400312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PDM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Since testing began in June 2026, the PDM workstream has logged 158 defects against 36 closed/resolved (23%), leaving an open backlog of 122 as SIT execution continues. 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The widening gap between the logged and closed lines reflects </a:t>
            </a:r>
            <a:r>
              <a:rPr lang="en-US" sz="1000" b="1" dirty="0"/>
              <a:t>intake outpacing resolution. 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b="1" dirty="0"/>
              <a:t>Defect closure throughput will need to accelerate </a:t>
            </a:r>
            <a:r>
              <a:rPr lang="en-US" sz="1000" dirty="0"/>
              <a:t>to keep pace with ongoing SIT defect discovery.</a:t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10F0C2-4E4C-A305-D2D8-F87CB9E36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03" y="1361963"/>
            <a:ext cx="4928616" cy="26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9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08FB-3B22-3381-2D3E-4301758D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CFEEB38-2B93-797A-77F7-9A6073F70D2B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Benefits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E0D2B2DF-D32C-68A0-4E07-5365E81C17D6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09/21/2026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C5AF1582-CDC9-F592-4EB1-797D4002AF9D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8ED0D279-FC56-84FA-9E01-C433CF90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047249"/>
              </p:ext>
            </p:extLst>
          </p:nvPr>
        </p:nvGraphicFramePr>
        <p:xfrm>
          <a:off x="501651" y="1490836"/>
          <a:ext cx="11163821" cy="1329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35078129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27563176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39772898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79944116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1293845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276562566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Priority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SIT – 2026 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075110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618782B0-D982-744F-A272-59964160D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590205"/>
              </p:ext>
            </p:extLst>
          </p:nvPr>
        </p:nvGraphicFramePr>
        <p:xfrm>
          <a:off x="501648" y="2916387"/>
          <a:ext cx="11163826" cy="271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3720477358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Benefits 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Benefit Type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Signature HMO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Access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Premium PPO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10/15/2026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3774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</a:rPr>
                        <a:t>MMEGWP PPO CWRU MAPD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 dirty="0">
                          <a:latin typeface="+mn-lt"/>
                          <a:ea typeface="Calibri"/>
                          <a:cs typeface="Calibri"/>
                        </a:rPr>
                        <a:t>11/30/2026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17367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Classic HMO NEOH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noProof="0">
                          <a:latin typeface="+mn-lt"/>
                          <a:ea typeface="Calibri"/>
                          <a:cs typeface="Calibri"/>
                        </a:rPr>
                        <a:t>11/30/2026</a:t>
                      </a:r>
                      <a:endParaRPr lang="en-US" sz="10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969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846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596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250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120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61</a:t>
                      </a:r>
                      <a:endParaRPr lang="en-US" dirty="0"/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12DA35A4-73BD-EB68-B47D-E57C6E793B0D}"/>
              </a:ext>
            </a:extLst>
          </p:cNvPr>
          <p:cNvGrpSpPr/>
          <p:nvPr/>
        </p:nvGrpSpPr>
        <p:grpSpPr>
          <a:xfrm>
            <a:off x="7821411" y="215093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A6A031FF-C4FB-39FF-D70D-D74E7BFD4813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03C492A8-D2FC-4F01-1A0E-96739CAEC9CC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A132B09D-CD33-753F-2E30-86FE319D5D49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6A82D32-465F-4C6A-4E16-BF6FAD9DBC54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2226B45D-97CD-5CD0-11EE-399C1D7D3AA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31D63CB6-A618-EAC0-5952-B0D3C09A3B94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23987B76-0DD5-5676-61FE-2003C25B7A83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B1E4F265-6E5B-FD5C-6AF6-20BACE8DABB7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00ECB676-F3A6-DABF-8112-376FC2BAFC7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" name="TextBox 9">
            <a:extLst>
              <a:ext uri="{FF2B5EF4-FFF2-40B4-BE49-F238E27FC236}">
                <a16:creationId xmlns:a16="http://schemas.microsoft.com/office/drawing/2014/main" id="{79EC38D1-5F6B-40F1-80E8-5EFE366432DC}"/>
              </a:ext>
            </a:extLst>
          </p:cNvPr>
          <p:cNvSpPr txBox="1"/>
          <p:nvPr/>
        </p:nvSpPr>
        <p:spPr>
          <a:xfrm>
            <a:off x="501648" y="6362001"/>
            <a:ext cx="3651641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Benefit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650D5-95BE-2E4E-7E8D-8EC1E9AAACA0}"/>
              </a:ext>
            </a:extLst>
          </p:cNvPr>
          <p:cNvSpPr txBox="1"/>
          <p:nvPr/>
        </p:nvSpPr>
        <p:spPr>
          <a:xfrm>
            <a:off x="500191" y="5869983"/>
            <a:ext cx="5967376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 and all steps/assertions met the expected results successfully.</a:t>
            </a:r>
            <a:endParaRPr lang="en-US" sz="800" dirty="0">
              <a:solidFill>
                <a:srgbClr val="313131"/>
              </a:solidFill>
              <a:ea typeface="Calibri"/>
              <a:cs typeface="Calibri"/>
            </a:endParaRP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r>
              <a:rPr lang="en-US" sz="800" b="1" dirty="0">
                <a:solidFill>
                  <a:srgbClr val="313131"/>
                </a:solidFill>
                <a:ea typeface="Calibri"/>
                <a:cs typeface="Calibri"/>
              </a:rPr>
              <a:t>In Progress </a:t>
            </a:r>
            <a:r>
              <a:rPr lang="en-US" sz="800" dirty="0">
                <a:solidFill>
                  <a:srgbClr val="313131"/>
                </a:solidFill>
                <a:ea typeface="Calibri"/>
                <a:cs typeface="Calibri"/>
              </a:rPr>
              <a:t>– The test case is currently in-progress awaiting to clear pending dependencies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2D58E4-CCA9-B0A1-08F2-55502C6553A0}"/>
              </a:ext>
            </a:extLst>
          </p:cNvPr>
          <p:cNvSpPr txBox="1"/>
          <p:nvPr/>
        </p:nvSpPr>
        <p:spPr>
          <a:xfrm>
            <a:off x="500191" y="5633823"/>
            <a:ext cx="8599932" cy="3231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">
                <a:solidFill>
                  <a:srgbClr val="313131"/>
                </a:solidFill>
              </a:rPr>
              <a:t>*Test case planning and ADO upload is in progress; cases will be added to ADO in alignment with test execution window.</a:t>
            </a:r>
          </a:p>
          <a:p>
            <a:pPr>
              <a:spcBef>
                <a:spcPts val="600"/>
              </a:spcBef>
            </a:pPr>
            <a:endParaRPr lang="en-US" sz="80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D7E3419-BCA6-6695-18E2-932097DC8689}"/>
              </a:ext>
            </a:extLst>
          </p:cNvPr>
          <p:cNvSpPr txBox="1"/>
          <p:nvPr/>
        </p:nvSpPr>
        <p:spPr>
          <a:xfrm>
            <a:off x="500191" y="982262"/>
            <a:ext cx="11101069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Benefits SIT is at risk overall, with 846 of 969 planned cases executed (87%) at a 70% pass rate. 61 open defects are concentrated in claim adjudication issues, primarily around out-of-network benefit coverage and payment logic. </a:t>
            </a:r>
            <a:endParaRPr lang="en-US" sz="900" dirty="0">
              <a:solidFill>
                <a:srgbClr val="333333"/>
              </a:solidFill>
              <a:ea typeface="Calibri"/>
              <a:cs typeface="Calibri"/>
            </a:endParaRPr>
          </a:p>
        </p:txBody>
      </p:sp>
      <p:sp>
        <p:nvSpPr>
          <p:cNvPr id="8" name="Dot3">
            <a:extLst>
              <a:ext uri="{FF2B5EF4-FFF2-40B4-BE49-F238E27FC236}">
                <a16:creationId xmlns:a16="http://schemas.microsoft.com/office/drawing/2014/main" id="{5A59C70E-6484-A352-D9FE-E84F2CCE9E9A}"/>
              </a:ext>
            </a:extLst>
          </p:cNvPr>
          <p:cNvSpPr/>
          <p:nvPr/>
        </p:nvSpPr>
        <p:spPr>
          <a:xfrm>
            <a:off x="10832657" y="541882"/>
            <a:ext cx="120000" cy="12000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865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98DD-2983-733F-C2AA-43B0BFDA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C883B3B-A4D8-5BEA-F6DA-F2C60E53A113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Benefits Testing Defect Report |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Testing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A6B90EBB-18F9-BA70-0220-8612AAD86C63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 dirty="0">
                <a:solidFill>
                  <a:srgbClr val="313131"/>
                </a:solidFill>
              </a:rPr>
              <a:t>As-of: 09/21/2026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95F6666C-0C28-6B1E-5536-89416C450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575337"/>
              </p:ext>
            </p:extLst>
          </p:nvPr>
        </p:nvGraphicFramePr>
        <p:xfrm>
          <a:off x="501650" y="1490836"/>
          <a:ext cx="5406762" cy="255797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5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0169">
                  <a:extLst>
                    <a:ext uri="{9D8B030D-6E8A-4147-A177-3AD203B41FA5}">
                      <a16:colId xmlns:a16="http://schemas.microsoft.com/office/drawing/2014/main" val="2431512303"/>
                    </a:ext>
                  </a:extLst>
                </a:gridCol>
              </a:tblGrid>
              <a:tr h="270317">
                <a:tc gridSpan="5">
                  <a:txBody>
                    <a:bodyPr/>
                    <a:lstStyle/>
                    <a:p>
                      <a:pPr algn="ctr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Overall Testing Defect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Plan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Open (Active/New)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Closed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buNone/>
                      </a:pPr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Resolved</a:t>
                      </a:r>
                    </a:p>
                  </a:txBody>
                  <a:tcPr marL="9525" marR="9525" marT="9525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Signature HMO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765087997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Access PPO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292617430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Premium PPO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27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767710391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Classic HMO NEOH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23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07388535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MMEGWP PPO CWRU MAPD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19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0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66485138"/>
                  </a:ext>
                </a:extLst>
              </a:tr>
              <a:tr h="3253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TOTAL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152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62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86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75" b="1" i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  <a:endParaRPr lang="en-US" sz="975" b="0" i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39454313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4EBFBF2D-14C9-E484-A86D-DEB8E53528B3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39589F60-41E6-4F82-3D22-47CE7B2B854A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7AD57AAC-B825-2AD7-CE12-069BA732F534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DE741940-02A4-217C-972F-62BDF6110BD6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D959B33-EAF6-6ACD-BBAE-90A2AA35CC02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615C179A-3231-CB26-740D-5EAF3798D372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0240504B-E8D8-BBF2-C779-1D407E092E4E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E5FF786F-6C18-8733-F745-44B17E81C099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29F4749C-C7E9-5F5F-E8D3-4ED341B19F14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2C5C409D-D4D7-3426-5DD6-A5A88D93D49C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13" name="LegendBox">
            <a:extLst>
              <a:ext uri="{FF2B5EF4-FFF2-40B4-BE49-F238E27FC236}">
                <a16:creationId xmlns:a16="http://schemas.microsoft.com/office/drawing/2014/main" id="{6645CCFE-2D4B-4768-A563-CE066C2145E6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63A99F-F10C-F476-BD18-80D172CF3ECF}"/>
              </a:ext>
            </a:extLst>
          </p:cNvPr>
          <p:cNvSpPr txBox="1"/>
          <p:nvPr/>
        </p:nvSpPr>
        <p:spPr>
          <a:xfrm>
            <a:off x="514863" y="982262"/>
            <a:ext cx="11101069" cy="6052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900" dirty="0">
                <a:solidFill>
                  <a:srgbClr val="313131"/>
                </a:solidFill>
              </a:rPr>
              <a:t>The below table summarizes the full set of Benefits defects across SIT along with Benefits defect burn down with key insights.  The </a:t>
            </a:r>
            <a:r>
              <a:rPr lang="en-US" sz="900" b="1" dirty="0">
                <a:solidFill>
                  <a:srgbClr val="313131"/>
                </a:solidFill>
              </a:rPr>
              <a:t>defect identification is outpacing the defect resolution </a:t>
            </a:r>
            <a:r>
              <a:rPr lang="en-US" sz="900" dirty="0">
                <a:solidFill>
                  <a:srgbClr val="313131"/>
                </a:solidFill>
              </a:rPr>
              <a:t>causing</a:t>
            </a:r>
            <a:r>
              <a:rPr lang="en-US" sz="900" b="1" dirty="0">
                <a:solidFill>
                  <a:srgbClr val="313131"/>
                </a:solidFill>
              </a:rPr>
              <a:t> defect backlog to grow significantly </a:t>
            </a:r>
            <a:r>
              <a:rPr lang="en-US" sz="900" dirty="0">
                <a:solidFill>
                  <a:srgbClr val="313131"/>
                </a:solidFill>
              </a:rPr>
              <a:t>during SIT phase.</a:t>
            </a:r>
            <a:endParaRPr lang="en-US" dirty="0"/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  <a:p>
            <a:pPr>
              <a:spcBef>
                <a:spcPts val="200"/>
              </a:spcBef>
            </a:pPr>
            <a:endParaRPr lang="en-US" sz="900" dirty="0">
              <a:solidFill>
                <a:srgbClr val="313131"/>
              </a:solidFill>
              <a:ea typeface="Calibri"/>
              <a:cs typeface="Calibri"/>
            </a:endParaRPr>
          </a:p>
        </p:txBody>
      </p:sp>
      <p:sp>
        <p:nvSpPr>
          <p:cNvPr id="6" name="Dot4">
            <a:extLst>
              <a:ext uri="{FF2B5EF4-FFF2-40B4-BE49-F238E27FC236}">
                <a16:creationId xmlns:a16="http://schemas.microsoft.com/office/drawing/2014/main" id="{0322AFEA-DA5C-D2DD-6DB9-D53378AC1317}"/>
              </a:ext>
            </a:extLst>
          </p:cNvPr>
          <p:cNvSpPr/>
          <p:nvPr/>
        </p:nvSpPr>
        <p:spPr>
          <a:xfrm>
            <a:off x="10830543" y="558560"/>
            <a:ext cx="120000" cy="120000"/>
          </a:xfrm>
          <a:prstGeom prst="ellipse">
            <a:avLst/>
          </a:prstGeom>
          <a:solidFill>
            <a:srgbClr val="F2C50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NarrLeft">
            <a:extLst>
              <a:ext uri="{FF2B5EF4-FFF2-40B4-BE49-F238E27FC236}">
                <a16:creationId xmlns:a16="http://schemas.microsoft.com/office/drawing/2014/main" id="{E3310B2B-DD89-700B-E1AA-326FE202EC82}"/>
              </a:ext>
            </a:extLst>
          </p:cNvPr>
          <p:cNvSpPr txBox="1"/>
          <p:nvPr/>
        </p:nvSpPr>
        <p:spPr>
          <a:xfrm>
            <a:off x="514863" y="4163319"/>
            <a:ext cx="540676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Defects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lang="en-US" sz="1000">
                <a:solidFill>
                  <a:srgbClr val="333333"/>
                </a:solidFill>
              </a:rPr>
              <a:t>Benefits has 62 open defects across 5 plans, with 90 of 152 total bugs (59%) closed to date as SIT testing progresses.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>23 of 62 are against Classic HMO NEOH 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>19 of 62 are against Signature HMO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>12 of 62 are against MMEGWP PPO CWRU MAPD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>6 of 62 are against Access PPO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>
                <a:solidFill>
                  <a:srgbClr val="333333"/>
                </a:solidFill>
              </a:rPr>
              <a:t>2 of 62 are against Premium PPO</a:t>
            </a:r>
          </a:p>
          <a:p>
            <a:pPr marL="171450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333333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NarrLeft">
            <a:extLst>
              <a:ext uri="{FF2B5EF4-FFF2-40B4-BE49-F238E27FC236}">
                <a16:creationId xmlns:a16="http://schemas.microsoft.com/office/drawing/2014/main" id="{E3B8AB44-EBBA-05F9-372E-1F6615836CA5}"/>
              </a:ext>
            </a:extLst>
          </p:cNvPr>
          <p:cNvSpPr txBox="1"/>
          <p:nvPr/>
        </p:nvSpPr>
        <p:spPr>
          <a:xfrm>
            <a:off x="6467475" y="4163319"/>
            <a:ext cx="5123714" cy="1893662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txBody>
          <a:bodyPr wrap="square" lIns="182880" tIns="182880" rIns="182880" bIns="182880" anchor="t"/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050" b="1" dirty="0">
                <a:solidFill>
                  <a:srgbClr val="007680"/>
                </a:solidFill>
                <a:latin typeface="Calibri"/>
              </a:rPr>
              <a:t>Key Insights on Benefits Defect Burndown</a:t>
            </a:r>
            <a:r>
              <a:rPr lang="en-US" sz="1050" b="1" dirty="0">
                <a:solidFill>
                  <a:srgbClr val="007680"/>
                </a:solidFill>
                <a:latin typeface="Calibri"/>
                <a:ea typeface="Calibri"/>
                <a:cs typeface="Calibri"/>
              </a:rPr>
              <a:t>:</a:t>
            </a:r>
            <a:endParaRPr lang="en-US" sz="1050" b="1" dirty="0">
              <a:solidFill>
                <a:srgbClr val="007680"/>
              </a:solidFill>
              <a:latin typeface="Calibri"/>
            </a:endParaRP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Since testing began in July 2026, the Benefits workstream has logged 152 defects against 90 closed/resolved (59%), leaving an open backlog of 62 as testing continues.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The widening gap between logged and closed lines from late August reflects</a:t>
            </a:r>
            <a:r>
              <a:rPr lang="en-US" sz="1000" b="1" dirty="0"/>
              <a:t> intake outpacing resolution</a:t>
            </a:r>
            <a:r>
              <a:rPr lang="en-US" sz="1000" dirty="0"/>
              <a:t>, particularly the </a:t>
            </a:r>
            <a:r>
              <a:rPr lang="en-US" sz="1000" b="1" dirty="0"/>
              <a:t>week of Aug 31 where 33 new defects were logged</a:t>
            </a:r>
            <a:r>
              <a:rPr lang="en-US" sz="1000" dirty="0"/>
              <a:t> with only 1 closed.</a:t>
            </a:r>
          </a:p>
          <a:p>
            <a:pPr marL="171450" indent="-171450">
              <a:spcBef>
                <a:spcPts val="6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000" dirty="0"/>
              <a:t>Defect closure throughput will need to accelerate to keep pace with ongoing testing across all 5 benefit plans.</a:t>
            </a:r>
          </a:p>
          <a:p>
            <a:pPr lvl="1">
              <a:spcBef>
                <a:spcPts val="300"/>
              </a:spcBef>
            </a:pPr>
            <a:endParaRPr lang="en-US" sz="1000" dirty="0">
              <a:solidFill>
                <a:srgbClr val="FF0000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  <a:spcBef>
                <a:spcPts val="300"/>
              </a:spcBef>
            </a:pPr>
            <a:endParaRPr lang="en-US" sz="1000" dirty="0">
              <a:solidFill>
                <a:srgbClr val="333333"/>
              </a:solidFill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br>
              <a:rPr lang="en-US" sz="1000" dirty="0"/>
            </a:br>
            <a:endParaRPr lang="en-US" sz="1000" dirty="0">
              <a:solidFill>
                <a:srgbClr val="333333"/>
              </a:solidFill>
            </a:endParaRPr>
          </a:p>
          <a:p>
            <a:pPr marL="0" indent="0">
              <a:lnSpc>
                <a:spcPct val="115000"/>
              </a:lnSpc>
              <a:spcBef>
                <a:spcPts val="300"/>
              </a:spcBef>
            </a:pPr>
            <a:endParaRPr lang="en-US" sz="10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B213BD-6501-9C1B-2462-A961A2F14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618" y="1407173"/>
            <a:ext cx="4931427" cy="26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95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AC78-999A-1386-44C5-67394F49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FBF2166-CA40-EB00-72DE-CF6EA25DAA35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Enrollment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F449DDE4-BC67-6C8D-F62D-A0916D0EDDD1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09/21/2026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545BBFD5-1ABF-69CC-96A3-1A1936AC9179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4166A4B-D9F2-9206-1457-A1E309F97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108606"/>
              </p:ext>
            </p:extLst>
          </p:nvPr>
        </p:nvGraphicFramePr>
        <p:xfrm>
          <a:off x="501651" y="1490836"/>
          <a:ext cx="11163819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656281088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94945854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653656663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462436254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59838324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BCED5835-B2AF-263C-1A80-3C8AB59F1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101653"/>
              </p:ext>
            </p:extLst>
          </p:nvPr>
        </p:nvGraphicFramePr>
        <p:xfrm>
          <a:off x="501647" y="2916387"/>
          <a:ext cx="11163817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3383328722"/>
                    </a:ext>
                  </a:extLst>
                </a:gridCol>
                <a:gridCol w="10384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3705187464"/>
                    </a:ext>
                  </a:extLst>
                </a:gridCol>
                <a:gridCol w="908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+mn-lt"/>
                        </a:rPr>
                        <a:t>Enrollment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n-lt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20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D424936E-24B6-9485-550E-0EE8FF958362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C1772053-EBD9-79FF-F0F2-1EAAD6375D08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4C57C884-EFD4-858F-5364-D2358DC4357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B5675901-A831-5015-A06B-3C31969F35A2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8DE6BA46-175B-9316-8124-F6DDE2B572AF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933E470F-746A-CC53-6817-CB5720AAC83A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C9130CF9-03AF-A5DE-D5C2-839A796B59EA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60514A09-3F19-7644-40B1-46558B48819B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22AFF10A-F3BA-C145-05B4-031858875B7C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EF495954-9023-464B-011A-A23D8751FD70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5" name="TextBox 10">
            <a:extLst>
              <a:ext uri="{FF2B5EF4-FFF2-40B4-BE49-F238E27FC236}">
                <a16:creationId xmlns:a16="http://schemas.microsoft.com/office/drawing/2014/main" id="{5F584BFC-9B3C-E0F5-7B63-DC34D149E6F7}"/>
              </a:ext>
            </a:extLst>
          </p:cNvPr>
          <p:cNvSpPr txBox="1"/>
          <p:nvPr/>
        </p:nvSpPr>
        <p:spPr>
          <a:xfrm>
            <a:off x="501648" y="5178143"/>
            <a:ext cx="3891130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Enrollment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3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01A35-DCF0-2023-F2FF-C6791388F407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25C0F-EF18-1295-A114-9AAD64CE57BD}"/>
              </a:ext>
            </a:extLst>
          </p:cNvPr>
          <p:cNvSpPr txBox="1"/>
          <p:nvPr/>
        </p:nvSpPr>
        <p:spPr>
          <a:xfrm>
            <a:off x="501648" y="4674667"/>
            <a:ext cx="696595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B58D0882-3254-620F-9493-A68E3708F23E}"/>
              </a:ext>
            </a:extLst>
          </p:cNvPr>
          <p:cNvSpPr txBox="1"/>
          <p:nvPr/>
        </p:nvSpPr>
        <p:spPr>
          <a:xfrm>
            <a:off x="501647" y="982262"/>
            <a:ext cx="11449411" cy="1384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Enrollment SIT is on-track but trending at-risk since only 1 of 21 planned case is executed thus far and even that case is failing. 3 open defects relate to HRP enrollment validation, UI search, and missing subscription data issues.</a:t>
            </a:r>
          </a:p>
        </p:txBody>
      </p:sp>
      <p:sp>
        <p:nvSpPr>
          <p:cNvPr id="14" name="Dot2">
            <a:extLst>
              <a:ext uri="{FF2B5EF4-FFF2-40B4-BE49-F238E27FC236}">
                <a16:creationId xmlns:a16="http://schemas.microsoft.com/office/drawing/2014/main" id="{AC6FC462-1D10-858D-0557-F92946F56FAB}"/>
              </a:ext>
            </a:extLst>
          </p:cNvPr>
          <p:cNvSpPr/>
          <p:nvPr/>
        </p:nvSpPr>
        <p:spPr>
          <a:xfrm>
            <a:off x="10831633" y="538869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924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4771-151B-081A-9B85-2F0261D4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B4B7E0-2E5B-1FDB-A265-19FDCA68A88D}"/>
              </a:ext>
            </a:extLst>
          </p:cNvPr>
          <p:cNvSpPr txBox="1"/>
          <p:nvPr/>
        </p:nvSpPr>
        <p:spPr>
          <a:xfrm>
            <a:off x="501652" y="280000"/>
            <a:ext cx="1118870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2400" b="1">
                <a:solidFill>
                  <a:prstClr val="black"/>
                </a:solidFill>
                <a:latin typeface="Calibri"/>
              </a:rPr>
              <a:t>EDI 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Execution Report | 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SIT</a:t>
            </a:r>
            <a:r>
              <a:rPr lang="en-US" sz="2400" b="1">
                <a:solidFill>
                  <a:prstClr val="black"/>
                </a:solidFill>
                <a:latin typeface="Calibri"/>
              </a:rPr>
              <a:t> </a:t>
            </a:r>
            <a:r>
              <a:rPr lang="en-US" sz="2400" b="1">
                <a:solidFill>
                  <a:srgbClr val="00827E"/>
                </a:solidFill>
                <a:latin typeface="Calibri"/>
              </a:rPr>
              <a:t>Testing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827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Status</a:t>
            </a:r>
          </a:p>
        </p:txBody>
      </p:sp>
      <p:sp>
        <p:nvSpPr>
          <p:cNvPr id="3" name="AsOf">
            <a:extLst>
              <a:ext uri="{FF2B5EF4-FFF2-40B4-BE49-F238E27FC236}">
                <a16:creationId xmlns:a16="http://schemas.microsoft.com/office/drawing/2014/main" id="{D5D988BE-F30D-7255-F745-B0CA49C3B4F5}"/>
              </a:ext>
            </a:extLst>
          </p:cNvPr>
          <p:cNvSpPr txBox="1"/>
          <p:nvPr/>
        </p:nvSpPr>
        <p:spPr>
          <a:xfrm>
            <a:off x="501652" y="680000"/>
            <a:ext cx="111887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defRPr/>
            </a:pPr>
            <a:r>
              <a:rPr lang="en-US" sz="1200" b="1" u="sng">
                <a:solidFill>
                  <a:srgbClr val="313131"/>
                </a:solidFill>
              </a:rPr>
              <a:t>As-of: 09/21/2026</a:t>
            </a:r>
          </a:p>
        </p:txBody>
      </p:sp>
      <p:sp>
        <p:nvSpPr>
          <p:cNvPr id="4" name="LegendBox">
            <a:extLst>
              <a:ext uri="{FF2B5EF4-FFF2-40B4-BE49-F238E27FC236}">
                <a16:creationId xmlns:a16="http://schemas.microsoft.com/office/drawing/2014/main" id="{FC7AA5C5-5FE6-1E42-0C66-2E21EB7EF8E4}"/>
              </a:ext>
            </a:extLst>
          </p:cNvPr>
          <p:cNvSpPr/>
          <p:nvPr/>
        </p:nvSpPr>
        <p:spPr>
          <a:xfrm>
            <a:off x="10192077" y="210000"/>
            <a:ext cx="1399112" cy="6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90000" tIns="50000" rIns="90000" bIns="50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Status:</a:t>
            </a:r>
          </a:p>
        </p:txBody>
      </p:sp>
      <p:graphicFrame>
        <p:nvGraphicFramePr>
          <p:cNvPr id="20" name="ExecSummary">
            <a:extLst>
              <a:ext uri="{FF2B5EF4-FFF2-40B4-BE49-F238E27FC236}">
                <a16:creationId xmlns:a16="http://schemas.microsoft.com/office/drawing/2014/main" id="{6E24F1FE-5E35-ECCA-F64E-F2BC45E2C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1486"/>
              </p:ext>
            </p:extLst>
          </p:nvPr>
        </p:nvGraphicFramePr>
        <p:xfrm>
          <a:off x="501651" y="1490836"/>
          <a:ext cx="11163819" cy="830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46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1066859929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60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017906410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536469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3821498717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1161324812"/>
                    </a:ext>
                  </a:extLst>
                </a:gridCol>
                <a:gridCol w="8140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6281">
                <a:tc gridSpan="12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Overall Testing Execution Summary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Phase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Execution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Pass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Fail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+mn-lt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524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SIT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587652"/>
                  </a:ext>
                </a:extLst>
              </a:tr>
            </a:tbl>
          </a:graphicData>
        </a:graphic>
      </p:graphicFrame>
      <p:graphicFrame>
        <p:nvGraphicFramePr>
          <p:cNvPr id="30" name="WorkstreamSummary">
            <a:extLst>
              <a:ext uri="{FF2B5EF4-FFF2-40B4-BE49-F238E27FC236}">
                <a16:creationId xmlns:a16="http://schemas.microsoft.com/office/drawing/2014/main" id="{13DA4AA9-7308-ADC1-016A-B57315180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098199"/>
              </p:ext>
            </p:extLst>
          </p:nvPr>
        </p:nvGraphicFramePr>
        <p:xfrm>
          <a:off x="501648" y="2916387"/>
          <a:ext cx="11163826" cy="1356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4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650012367"/>
                    </a:ext>
                  </a:extLst>
                </a:gridCol>
                <a:gridCol w="1168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24266214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8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3191463391"/>
                    </a:ext>
                  </a:extLst>
                </a:gridCol>
                <a:gridCol w="9086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0000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SIT Review Summary – Test Cases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Planned TCs</a:t>
                      </a:r>
                      <a:r>
                        <a:rPr lang="en-US" sz="1000" baseline="30000">
                          <a:latin typeface="+mn-lt"/>
                        </a:rPr>
                        <a:t>*</a:t>
                      </a:r>
                      <a:endParaRPr lang="en-US" sz="1000" b="1">
                        <a:solidFill>
                          <a:srgbClr val="313131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Target Completion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 Executed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Blocked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Not Started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313131"/>
                          </a:solidFill>
                          <a:latin typeface="Calibri"/>
                        </a:rPr>
                        <a:t>Defects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latin typeface="Calibri"/>
                        </a:rPr>
                        <a:t>EDI</a:t>
                      </a:r>
                    </a:p>
                  </a:txBody>
                  <a:tcPr anchor="ctr"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10/15/2026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latin typeface="+mn-lt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22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  <a:latin typeface="+mn-lt"/>
                        </a:rPr>
                        <a:t>21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anchor="ctr">
                    <a:solidFill>
                      <a:srgbClr val="008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A7FDDEF-DC45-BFF3-A9F3-76297216B631}"/>
              </a:ext>
            </a:extLst>
          </p:cNvPr>
          <p:cNvSpPr txBox="1"/>
          <p:nvPr/>
        </p:nvSpPr>
        <p:spPr>
          <a:xfrm>
            <a:off x="501648" y="4329137"/>
            <a:ext cx="8599932" cy="1231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800" baseline="30000"/>
              <a:t>* </a:t>
            </a:r>
            <a:r>
              <a:rPr lang="en-US" sz="800">
                <a:solidFill>
                  <a:srgbClr val="313131"/>
                </a:solidFill>
              </a:rPr>
              <a:t>Test case planning is still in progress; expect planned test case count to increase in coming weeks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6DC893-5DE3-2E94-8CB5-C1B89D788038}"/>
              </a:ext>
            </a:extLst>
          </p:cNvPr>
          <p:cNvGrpSpPr/>
          <p:nvPr/>
        </p:nvGrpSpPr>
        <p:grpSpPr>
          <a:xfrm>
            <a:off x="7821411" y="210000"/>
            <a:ext cx="2300000" cy="660000"/>
            <a:chOff x="9400000" y="280000"/>
            <a:chExt cx="2300000" cy="660000"/>
          </a:xfrm>
        </p:grpSpPr>
        <p:sp>
          <p:nvSpPr>
            <p:cNvPr id="26" name="LegendBox">
              <a:extLst>
                <a:ext uri="{FF2B5EF4-FFF2-40B4-BE49-F238E27FC236}">
                  <a16:creationId xmlns:a16="http://schemas.microsoft.com/office/drawing/2014/main" id="{8FD67AAE-FDDD-9D28-DA90-E7412F17A762}"/>
                </a:ext>
              </a:extLst>
            </p:cNvPr>
            <p:cNvSpPr/>
            <p:nvPr/>
          </p:nvSpPr>
          <p:spPr>
            <a:xfrm>
              <a:off x="9400000" y="280000"/>
              <a:ext cx="2290000" cy="660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txBody>
            <a:bodyPr wrap="square" lIns="90000" tIns="50000" rIns="90000" bIns="5000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31313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Legend:</a:t>
              </a:r>
            </a:p>
          </p:txBody>
        </p:sp>
        <p:sp>
          <p:nvSpPr>
            <p:cNvPr id="27" name="Dot1">
              <a:extLst>
                <a:ext uri="{FF2B5EF4-FFF2-40B4-BE49-F238E27FC236}">
                  <a16:creationId xmlns:a16="http://schemas.microsoft.com/office/drawing/2014/main" id="{9DCF5507-1574-5760-CEE0-E683DFB82F5D}"/>
                </a:ext>
              </a:extLst>
            </p:cNvPr>
            <p:cNvSpPr/>
            <p:nvPr/>
          </p:nvSpPr>
          <p:spPr>
            <a:xfrm>
              <a:off x="9520000" y="500000"/>
              <a:ext cx="120000" cy="1200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Lbl1">
              <a:extLst>
                <a:ext uri="{FF2B5EF4-FFF2-40B4-BE49-F238E27FC236}">
                  <a16:creationId xmlns:a16="http://schemas.microsoft.com/office/drawing/2014/main" id="{418D569B-5F61-2C55-25D6-5A7878C53FD0}"/>
                </a:ext>
              </a:extLst>
            </p:cNvPr>
            <p:cNvSpPr txBox="1"/>
            <p:nvPr/>
          </p:nvSpPr>
          <p:spPr>
            <a:xfrm>
              <a:off x="967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Complete</a:t>
              </a:r>
            </a:p>
          </p:txBody>
        </p:sp>
        <p:sp>
          <p:nvSpPr>
            <p:cNvPr id="29" name="Dot2">
              <a:extLst>
                <a:ext uri="{FF2B5EF4-FFF2-40B4-BE49-F238E27FC236}">
                  <a16:creationId xmlns:a16="http://schemas.microsoft.com/office/drawing/2014/main" id="{4D48D5FC-C778-128D-2EC9-30BB075C9E30}"/>
                </a:ext>
              </a:extLst>
            </p:cNvPr>
            <p:cNvSpPr/>
            <p:nvPr/>
          </p:nvSpPr>
          <p:spPr>
            <a:xfrm>
              <a:off x="10650000" y="500000"/>
              <a:ext cx="120000" cy="1200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bl2">
              <a:extLst>
                <a:ext uri="{FF2B5EF4-FFF2-40B4-BE49-F238E27FC236}">
                  <a16:creationId xmlns:a16="http://schemas.microsoft.com/office/drawing/2014/main" id="{8C8176A6-7976-2BA6-0256-2A9E0D469F7B}"/>
                </a:ext>
              </a:extLst>
            </p:cNvPr>
            <p:cNvSpPr txBox="1"/>
            <p:nvPr/>
          </p:nvSpPr>
          <p:spPr>
            <a:xfrm>
              <a:off x="10800000" y="49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On Track</a:t>
              </a:r>
            </a:p>
          </p:txBody>
        </p:sp>
        <p:sp>
          <p:nvSpPr>
            <p:cNvPr id="32" name="Dot3">
              <a:extLst>
                <a:ext uri="{FF2B5EF4-FFF2-40B4-BE49-F238E27FC236}">
                  <a16:creationId xmlns:a16="http://schemas.microsoft.com/office/drawing/2014/main" id="{0366259E-11AE-6A45-5A54-1C9958F58DBF}"/>
                </a:ext>
              </a:extLst>
            </p:cNvPr>
            <p:cNvSpPr/>
            <p:nvPr/>
          </p:nvSpPr>
          <p:spPr>
            <a:xfrm>
              <a:off x="9520000" y="720000"/>
              <a:ext cx="120000" cy="120000"/>
            </a:xfrm>
            <a:prstGeom prst="ellipse">
              <a:avLst/>
            </a:prstGeom>
            <a:solidFill>
              <a:srgbClr val="F1C40F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bl3">
              <a:extLst>
                <a:ext uri="{FF2B5EF4-FFF2-40B4-BE49-F238E27FC236}">
                  <a16:creationId xmlns:a16="http://schemas.microsoft.com/office/drawing/2014/main" id="{D322DE72-97CD-2BE2-6870-D0C107BC77A7}"/>
                </a:ext>
              </a:extLst>
            </p:cNvPr>
            <p:cNvSpPr txBox="1"/>
            <p:nvPr/>
          </p:nvSpPr>
          <p:spPr>
            <a:xfrm>
              <a:off x="967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 Risk</a:t>
              </a:r>
            </a:p>
          </p:txBody>
        </p:sp>
        <p:sp>
          <p:nvSpPr>
            <p:cNvPr id="34" name="Dot4">
              <a:extLst>
                <a:ext uri="{FF2B5EF4-FFF2-40B4-BE49-F238E27FC236}">
                  <a16:creationId xmlns:a16="http://schemas.microsoft.com/office/drawing/2014/main" id="{65AFCE8E-65ED-E03C-8549-FA6CF1B2A858}"/>
                </a:ext>
              </a:extLst>
            </p:cNvPr>
            <p:cNvSpPr/>
            <p:nvPr/>
          </p:nvSpPr>
          <p:spPr>
            <a:xfrm>
              <a:off x="10650000" y="720000"/>
              <a:ext cx="120000" cy="1200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Lbl4">
              <a:extLst>
                <a:ext uri="{FF2B5EF4-FFF2-40B4-BE49-F238E27FC236}">
                  <a16:creationId xmlns:a16="http://schemas.microsoft.com/office/drawing/2014/main" id="{D09FDA01-FC88-7BF3-4513-B24FF4B3F3E4}"/>
                </a:ext>
              </a:extLst>
            </p:cNvPr>
            <p:cNvSpPr txBox="1"/>
            <p:nvPr/>
          </p:nvSpPr>
          <p:spPr>
            <a:xfrm>
              <a:off x="10800000" y="714664"/>
              <a:ext cx="900000" cy="180000"/>
            </a:xfrm>
            <a:prstGeom prst="rect">
              <a:avLst/>
            </a:prstGeom>
            <a:noFill/>
          </p:spPr>
          <p:txBody>
            <a:bodyPr lIns="0" tIns="0" rIns="0" bIns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Off Track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E8E1266-0B69-7EC7-1BF0-F38241F01A00}"/>
              </a:ext>
            </a:extLst>
          </p:cNvPr>
          <p:cNvSpPr txBox="1"/>
          <p:nvPr/>
        </p:nvSpPr>
        <p:spPr>
          <a:xfrm>
            <a:off x="501648" y="4674667"/>
            <a:ext cx="6741834" cy="5693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b="1" dirty="0">
                <a:solidFill>
                  <a:srgbClr val="313131"/>
                </a:solidFill>
              </a:rPr>
              <a:t>Executed</a:t>
            </a:r>
            <a:r>
              <a:rPr lang="en-US" sz="800" dirty="0">
                <a:solidFill>
                  <a:srgbClr val="313131"/>
                </a:solidFill>
              </a:rPr>
              <a:t> — The test case has been run at least once; a result has been recorded (regardless of outcome).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Passed</a:t>
            </a:r>
            <a:r>
              <a:rPr lang="en-US" sz="800" dirty="0">
                <a:solidFill>
                  <a:srgbClr val="313131"/>
                </a:solidFill>
              </a:rPr>
              <a:t> — The test case was executed, and all steps/assertions met the expected results successfully.</a:t>
            </a:r>
          </a:p>
          <a:p>
            <a:r>
              <a:rPr lang="en-US" sz="800" b="1" dirty="0">
                <a:solidFill>
                  <a:srgbClr val="313131"/>
                </a:solidFill>
              </a:rPr>
              <a:t>Failed</a:t>
            </a:r>
            <a:r>
              <a:rPr lang="en-US" sz="800" dirty="0">
                <a:solidFill>
                  <a:srgbClr val="313131"/>
                </a:solidFill>
              </a:rPr>
              <a:t> — The test case was executed but one or more steps/assertions did not match the expected results, indicating a defect or issue.</a:t>
            </a:r>
          </a:p>
          <a:p>
            <a:pPr>
              <a:spcBef>
                <a:spcPts val="600"/>
              </a:spcBef>
              <a:buSzPct val="100000"/>
            </a:pPr>
            <a:endParaRPr lang="en-US" sz="800" dirty="0">
              <a:solidFill>
                <a:srgbClr val="313131"/>
              </a:solidFill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B01301D2-1CA4-1DB8-1E32-B898DE3D8286}"/>
              </a:ext>
            </a:extLst>
          </p:cNvPr>
          <p:cNvSpPr txBox="1"/>
          <p:nvPr/>
        </p:nvSpPr>
        <p:spPr>
          <a:xfrm>
            <a:off x="516162" y="982262"/>
            <a:ext cx="11101069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900" dirty="0">
                <a:solidFill>
                  <a:srgbClr val="313131"/>
                </a:solidFill>
                <a:ea typeface="Calibri"/>
                <a:cs typeface="Calibri"/>
              </a:rPr>
              <a:t>Enrollment SIT is on-track but trending  at-risk as 1 of 22 planned case is executed thus far and even that case is failing. 4 open defects involve claim-load exceptions, attachment coding, and workbasket edit/review issues on initial HRP test claims.</a:t>
            </a:r>
            <a:endParaRPr lang="en-US" sz="9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6039AB3-2265-47ED-E1B2-F87473DAA5B6}"/>
              </a:ext>
            </a:extLst>
          </p:cNvPr>
          <p:cNvSpPr txBox="1"/>
          <p:nvPr/>
        </p:nvSpPr>
        <p:spPr>
          <a:xfrm>
            <a:off x="501648" y="5178143"/>
            <a:ext cx="3410934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SzPct val="100000"/>
            </a:pPr>
            <a:r>
              <a:rPr lang="en-US" sz="1200"/>
              <a:t>Link to detailed list of defects in ADO: </a:t>
            </a:r>
            <a:r>
              <a:rPr lang="en-US" sz="1200">
                <a:hlinkClick r:id="rId3"/>
              </a:rPr>
              <a:t>ADO EDI Defects</a:t>
            </a:r>
            <a:endParaRPr lang="en-US" sz="1200">
              <a:solidFill>
                <a:srgbClr val="313131"/>
              </a:solidFill>
              <a:ea typeface="Calibri"/>
              <a:cs typeface="Calibri"/>
              <a:hlinkClick r:id="rId4"/>
            </a:endParaRPr>
          </a:p>
        </p:txBody>
      </p:sp>
      <p:sp>
        <p:nvSpPr>
          <p:cNvPr id="7" name="Dot2">
            <a:extLst>
              <a:ext uri="{FF2B5EF4-FFF2-40B4-BE49-F238E27FC236}">
                <a16:creationId xmlns:a16="http://schemas.microsoft.com/office/drawing/2014/main" id="{FC64DE6A-0248-2863-2364-6E35CB0EA72B}"/>
              </a:ext>
            </a:extLst>
          </p:cNvPr>
          <p:cNvSpPr/>
          <p:nvPr/>
        </p:nvSpPr>
        <p:spPr>
          <a:xfrm>
            <a:off x="10831633" y="538869"/>
            <a:ext cx="120000" cy="1200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623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heme/theme1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2.xml><?xml version="1.0" encoding="utf-8"?>
<a:theme xmlns:a="http://schemas.openxmlformats.org/drawingml/2006/main" name="1_Deloitte_Brand_16_9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16_9_Onscreen_US.potx" id="{8B76E5FB-3D44-4ADE-97F4-EE2F8DA6C64F}" vid="{D90B51BD-6DB3-412C-BDC1-2EA0386B91B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3B32110-3B49-40E7-8C15-5E4A22FF8A7B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2d04b2e9-88f0-4ee7-b1e2-4de363e485c0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3C35E85-8C58-304C-A673-847FAA008EB9}">
  <we:reference id="wa200010725" version="1.0.0.1" store="en-US" storeType="OMEX"/>
  <we:alternateReferences>
    <we:reference id="wa200010725" version="1.0.0.1" store="en-US" storeType="OMEX"/>
  </we:alternateReferences>
  <we:properties>
    <we:property name="claude.fileId" value="&quot;de739b16-9ef6-4e25-bd4a-ee9215286bc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00a5c1-c4a1-4c74-8d91-dfc8831b4c07">
      <Terms xmlns="http://schemas.microsoft.com/office/infopath/2007/PartnerControls"/>
    </lcf76f155ced4ddcb4097134ff3c332f>
    <TaxCatchAll xmlns="5e2fc1fe-2483-4566-8a07-8cb0f24750cf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69E60AADF42347A22A5B258ECE583A" ma:contentTypeVersion="14" ma:contentTypeDescription="Create a new document." ma:contentTypeScope="" ma:versionID="69c3fb5ff2cd96113169b748a0d88327">
  <xsd:schema xmlns:xsd="http://www.w3.org/2001/XMLSchema" xmlns:xs="http://www.w3.org/2001/XMLSchema" xmlns:p="http://schemas.microsoft.com/office/2006/metadata/properties" xmlns:ns2="3700a5c1-c4a1-4c74-8d91-dfc8831b4c07" xmlns:ns3="5e2fc1fe-2483-4566-8a07-8cb0f24750cf" targetNamespace="http://schemas.microsoft.com/office/2006/metadata/properties" ma:root="true" ma:fieldsID="b2bdbd42fc06d7a21b12a9a8a90d0870" ns2:_="" ns3:_="">
    <xsd:import namespace="3700a5c1-c4a1-4c74-8d91-dfc8831b4c07"/>
    <xsd:import namespace="5e2fc1fe-2483-4566-8a07-8cb0f24750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3:TaxCatchAll" minOccurs="0"/>
                <xsd:element ref="ns2:MediaServiceOCR" minOccurs="0"/>
                <xsd:element ref="ns2:MediaServiceGenerationTime" minOccurs="0"/>
                <xsd:element ref="ns2:lcf76f155ced4ddcb4097134ff3c332f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0a5c1-c4a1-4c74-8d91-dfc8831b4c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fc1fe-2483-4566-8a07-8cb0f24750cf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88ed6f-90e6-412c-a71e-ac9f33a44bf0}" ma:internalName="TaxCatchAll" ma:showField="CatchAllData" ma:web="5e2fc1fe-2483-4566-8a07-8cb0f24750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7376A1-CC42-438F-85FD-93A015D166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A026D-4666-483B-9EA4-E4BAFDF32B68}">
  <ds:schemaRefs>
    <ds:schemaRef ds:uri="5e2fc1fe-2483-4566-8a07-8cb0f24750cf"/>
    <ds:schemaRef ds:uri="http://purl.org/dc/dcmitype/"/>
    <ds:schemaRef ds:uri="http://schemas.openxmlformats.org/package/2006/metadata/core-properties"/>
    <ds:schemaRef ds:uri="3700a5c1-c4a1-4c74-8d91-dfc8831b4c07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32684CF-211A-4A9D-ADCE-B07A85478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00a5c1-c4a1-4c74-8d91-dfc8831b4c07"/>
    <ds:schemaRef ds:uri="5e2fc1fe-2483-4566-8a07-8cb0f24750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2200</Words>
  <Application>Microsoft Macintosh PowerPoint</Application>
  <PresentationFormat>Widescreen</PresentationFormat>
  <Paragraphs>623</Paragraphs>
  <Slides>8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Verdana</vt:lpstr>
      <vt:lpstr>Wingdings 2</vt:lpstr>
      <vt:lpstr>1_Deloitte_Brand_16_9</vt:lpstr>
      <vt:lpstr>1_Deloitte_Brand_16_9</vt:lpstr>
      <vt:lpstr>think-cell Slide</vt:lpstr>
      <vt:lpstr>MMO Test Execution &amp; Defect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Khadri, Habib</dc:creator>
  <cp:lastModifiedBy>Gandhi, Samir</cp:lastModifiedBy>
  <cp:revision>11</cp:revision>
  <dcterms:created xsi:type="dcterms:W3CDTF">2026-03-30T19:40:35Z</dcterms:created>
  <dcterms:modified xsi:type="dcterms:W3CDTF">2026-09-29T12:43:08Z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0x010100CA69E60AADF42347A22A5B258ECE583A</vt:lpwstr>
  </property>
  <property fmtid="{D5CDD505-2E9C-101B-9397-08002B2CF9AE}" pid="3" name="MediaServiceImageTags">
    <vt:lpwstr/>
  </property>
</Properties>
</file>