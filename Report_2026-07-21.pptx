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  <p:sldMasterId id="2147483757" r:id="rId5"/>
  </p:sldMasterIdLst>
  <p:notesMasterIdLst>
    <p:notesMasterId r:id="rId9"/>
  </p:notesMasterIdLst>
  <p:sldIdLst>
    <p:sldId id="2147483588" r:id="rId6"/>
    <p:sldId id="2147483604" r:id="rId7"/>
    <p:sldId id="21474836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2B47-29F0-5145-A610-1B393F7C5C22}">
          <p14:sldIdLst>
            <p14:sldId id="2147483588"/>
            <p14:sldId id="2147483604"/>
          </p14:sldIdLst>
        </p14:section>
        <p14:section name="PDM" id="{7F7058A9-543B-4063-913C-9EBD99D479DF}">
          <p14:sldIdLst>
            <p14:sldId id="2147483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92DB77-016D-2894-7618-15E9AB52A849}" name="Sharma, Utkarsh" initials="US" userId="S::utkasharma@deloitte.com::0b75815b-62e9-4a90-8530-df5f1a468d5b" providerId="AD"/>
  <p188:author id="{394961A2-CD47-D227-8F1E-7B111DEE8F7B}" name="Khadri, Habib" initials="HK" userId="S::hkhadri@deloitte.com::fb9fabdf-5b74-4106-9d79-d7bad83cee2b" providerId="AD"/>
  <p188:author id="{542719E4-734E-9509-4F5E-E8B595E54DC2}" name="Curtis, Rhonda" initials="" userId="S::rhcurtis@deloitte.com::490ac867-96aa-4c70-800f-015ffadabd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E8E9ED"/>
    <a:srgbClr val="E67E22"/>
    <a:srgbClr val="9A564F"/>
    <a:srgbClr val="2C9B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7D724-B740-FB46-982F-860820097AAF}" v="1395" dt="2026-07-14T21:18:34.777"/>
    <p1510:client id="{C7998F13-3097-44BD-BAD4-13DA816CA585}" v="487" dt="2026-07-14T23:14:07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CC89-694D-6647-91BA-F3E287B706A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3E35-2244-C342-BE62-0B069E5D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1FBDF-07B1-4D9C-9CED-52EAE94FBB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6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138D-140A-1ABD-0E2C-C9329B6A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67AFA-F3EE-E76A-E065-19654FDAE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B8D13-62A4-2462-21C6-4D79F2447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&gt; Executed &gt; In Progress&gt; Pass &gt; Fail &gt; Defect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4C44A-E80E-986D-8C6C-3896A95DE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93E35-2244-C342-BE62-0B069E5D84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37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65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6E5346-2FAE-41B8-872E-F4C0489B6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6E5346-2FAE-41B8-872E-F4C0489B6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6D88CB5-8A32-4E28-88D8-2EB8AFCF3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622800"/>
            <a:ext cx="112014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5D5-02D2-4800-869F-1667101F09CF}"/>
              </a:ext>
            </a:extLst>
          </p:cNvPr>
          <p:cNvSpPr txBox="1"/>
          <p:nvPr userDrawn="1"/>
        </p:nvSpPr>
        <p:spPr>
          <a:xfrm>
            <a:off x="495300" y="64008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>
              <a:solidFill>
                <a:schemeClr val="bg2">
                  <a:lumMod val="9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oleObject" Target="../embeddings/oleObject1.bin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tags" Target="../tags/tag4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theme" Target="../theme/theme2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18403481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270" imgH="270" progId="TCLayout.ActiveDocument.1">
                  <p:embed/>
                </p:oleObj>
              </mc:Choice>
              <mc:Fallback>
                <p:oleObj name="think-cell Slide" r:id="rId3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20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22" orient="horz" pos="640">
          <p15:clr>
            <a:srgbClr val="F26B43"/>
          </p15:clr>
        </p15:guide>
        <p15:guide id="65" orient="horz" pos="2160">
          <p15:clr>
            <a:srgbClr val="F26B43"/>
          </p15:clr>
        </p15:guide>
        <p15:guide id="66" orient="horz" pos="3968">
          <p15:clr>
            <a:srgbClr val="F26B43"/>
          </p15:clr>
        </p15:guide>
        <p15:guide id="67" pos="312">
          <p15:clr>
            <a:srgbClr val="F26B43"/>
          </p15:clr>
        </p15:guide>
        <p15:guide id="68" pos="7368">
          <p15:clr>
            <a:srgbClr val="F26B43"/>
          </p15:clr>
        </p15:guide>
        <p15:guide id="70" orient="horz" pos="4081">
          <p15:clr>
            <a:srgbClr val="F26B43"/>
          </p15:clr>
        </p15:guide>
        <p15:guide id="77" pos="3783">
          <p15:clr>
            <a:srgbClr val="F26B43"/>
          </p15:clr>
        </p15:guide>
        <p15:guide id="78" pos="3896">
          <p15:clr>
            <a:srgbClr val="F26B43"/>
          </p15:clr>
        </p15:guide>
        <p15:guide id="79" pos="3840">
          <p15:clr>
            <a:srgbClr val="F26B43"/>
          </p15:clr>
        </p15:guide>
        <p15:guide id="81" orient="horz" pos="1049">
          <p15:clr>
            <a:srgbClr val="F26B43"/>
          </p15:clr>
        </p15:guide>
        <p15:guide id="82" orient="horz" pos="641">
          <p15:clr>
            <a:srgbClr val="F26B43"/>
          </p15:clr>
        </p15:guide>
        <p15:guide id="83" orient="horz" pos="39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270" imgH="270" progId="TCLayout.ActiveDocument.1">
                  <p:embed/>
                </p:oleObj>
              </mc:Choice>
              <mc:Fallback>
                <p:oleObj name="think-cell Slide" r:id="rId3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745B-8D83-C40B-3E9E-4C016ED9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2935976"/>
            <a:ext cx="11201400" cy="923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MMO Test Execution &amp; Bug Report</a:t>
            </a:r>
            <a:endParaRPr lang="en-US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76F38-9832-1E0D-1CF1-540781298B51}"/>
              </a:ext>
            </a:extLst>
          </p:cNvPr>
          <p:cNvSpPr txBox="1">
            <a:spLocks/>
          </p:cNvSpPr>
          <p:nvPr/>
        </p:nvSpPr>
        <p:spPr bwMode="gray">
          <a:xfrm>
            <a:off x="495300" y="3782643"/>
            <a:ext cx="11201400" cy="9233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dirty="0">
                <a:solidFill>
                  <a:prstClr val="black"/>
                </a:solidFill>
                <a:latin typeface="Calibri"/>
              </a:rPr>
              <a:t>07/21/2026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9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62E5-4A96-2FB3-A204-182CA913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Box1">
            <a:extLst>
              <a:ext uri="{FF2B5EF4-FFF2-40B4-BE49-F238E27FC236}">
                <a16:creationId xmlns:a16="http://schemas.microsoft.com/office/drawing/2014/main" id="{4AEB6D18-77D3-7FDB-AC15-1D4B7DD6AD24}"/>
              </a:ext>
            </a:extLst>
          </p:cNvPr>
          <p:cNvSpPr>
            <a:spLocks noGrp="1"/>
          </p:cNvSpPr>
          <p:nvPr/>
        </p:nvSpPr>
        <p:spPr>
          <a:xfrm>
            <a:off x="658941" y="1304292"/>
            <a:ext cx="2024437" cy="1046435"/>
          </a:xfrm>
          <a:prstGeom prst="rect">
            <a:avLst/>
          </a:prstGeom>
          <a:solidFill>
            <a:srgbClr val="F0FAFA"/>
          </a:solidFill>
          <a:ln w="19050">
            <a:solidFill>
              <a:srgbClr val="0076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1Num">
            <a:extLst>
              <a:ext uri="{FF2B5EF4-FFF2-40B4-BE49-F238E27FC236}">
                <a16:creationId xmlns:a16="http://schemas.microsoft.com/office/drawing/2014/main" id="{FC534D68-0580-015A-4CBA-66F66F15EB23}"/>
              </a:ext>
            </a:extLst>
          </p:cNvPr>
          <p:cNvSpPr txBox="1"/>
          <p:nvPr/>
        </p:nvSpPr>
        <p:spPr>
          <a:xfrm>
            <a:off x="494370" y="1477977"/>
            <a:ext cx="235357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7680"/>
                </a:solidFill>
                <a:latin typeface="Calibri"/>
              </a:rPr>
              <a:t>581*</a:t>
            </a:r>
            <a:endParaRPr lang="en-US" sz="4800" b="1" baseline="30000" dirty="0">
              <a:solidFill>
                <a:srgbClr val="007680"/>
              </a:solidFill>
              <a:latin typeface="Calibri"/>
            </a:endParaRPr>
          </a:p>
        </p:txBody>
      </p:sp>
      <p:sp>
        <p:nvSpPr>
          <p:cNvPr id="12" name="Stat1Lbl">
            <a:extLst>
              <a:ext uri="{FF2B5EF4-FFF2-40B4-BE49-F238E27FC236}">
                <a16:creationId xmlns:a16="http://schemas.microsoft.com/office/drawing/2014/main" id="{8719E580-FE99-9C2D-B44B-3C9D3715273C}"/>
              </a:ext>
            </a:extLst>
          </p:cNvPr>
          <p:cNvSpPr txBox="1"/>
          <p:nvPr/>
        </p:nvSpPr>
        <p:spPr>
          <a:xfrm>
            <a:off x="658941" y="2067667"/>
            <a:ext cx="2024438" cy="380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Total Test Cases</a:t>
            </a:r>
          </a:p>
        </p:txBody>
      </p:sp>
      <p:sp>
        <p:nvSpPr>
          <p:cNvPr id="20" name="StatBox2">
            <a:extLst>
              <a:ext uri="{FF2B5EF4-FFF2-40B4-BE49-F238E27FC236}">
                <a16:creationId xmlns:a16="http://schemas.microsoft.com/office/drawing/2014/main" id="{61FA0A91-98EE-7A04-4D56-51FCD5A81BCE}"/>
              </a:ext>
            </a:extLst>
          </p:cNvPr>
          <p:cNvSpPr>
            <a:spLocks noGrp="1"/>
          </p:cNvSpPr>
          <p:nvPr/>
        </p:nvSpPr>
        <p:spPr>
          <a:xfrm>
            <a:off x="5032109" y="1304294"/>
            <a:ext cx="2024438" cy="1046435"/>
          </a:xfrm>
          <a:prstGeom prst="rect">
            <a:avLst/>
          </a:prstGeom>
          <a:solidFill>
            <a:srgbClr val="F0FAF2"/>
          </a:solidFill>
          <a:ln w="19050">
            <a:solidFill>
              <a:srgbClr val="00AA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at2Num">
            <a:extLst>
              <a:ext uri="{FF2B5EF4-FFF2-40B4-BE49-F238E27FC236}">
                <a16:creationId xmlns:a16="http://schemas.microsoft.com/office/drawing/2014/main" id="{CFBD0F63-E870-6186-A997-2DB49C7D29BD}"/>
              </a:ext>
            </a:extLst>
          </p:cNvPr>
          <p:cNvSpPr txBox="1"/>
          <p:nvPr/>
        </p:nvSpPr>
        <p:spPr>
          <a:xfrm>
            <a:off x="5032109" y="1469917"/>
            <a:ext cx="202443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AA55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22" name="Stat2Lbl">
            <a:extLst>
              <a:ext uri="{FF2B5EF4-FFF2-40B4-BE49-F238E27FC236}">
                <a16:creationId xmlns:a16="http://schemas.microsoft.com/office/drawing/2014/main" id="{3918B231-6F77-C96B-8B5C-82B183D580A9}"/>
              </a:ext>
            </a:extLst>
          </p:cNvPr>
          <p:cNvSpPr txBox="1"/>
          <p:nvPr/>
        </p:nvSpPr>
        <p:spPr>
          <a:xfrm>
            <a:off x="5032109" y="2063711"/>
            <a:ext cx="2018783" cy="300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Passed (63%)</a:t>
            </a:r>
          </a:p>
        </p:txBody>
      </p:sp>
      <p:sp>
        <p:nvSpPr>
          <p:cNvPr id="30" name="StatBox3">
            <a:extLst>
              <a:ext uri="{FF2B5EF4-FFF2-40B4-BE49-F238E27FC236}">
                <a16:creationId xmlns:a16="http://schemas.microsoft.com/office/drawing/2014/main" id="{7F527597-FA98-B009-45C5-C4C8104890B0}"/>
              </a:ext>
            </a:extLst>
          </p:cNvPr>
          <p:cNvSpPr>
            <a:spLocks noGrp="1"/>
          </p:cNvSpPr>
          <p:nvPr/>
        </p:nvSpPr>
        <p:spPr>
          <a:xfrm>
            <a:off x="7235542" y="1304293"/>
            <a:ext cx="2018783" cy="1046435"/>
          </a:xfrm>
          <a:prstGeom prst="rect">
            <a:avLst/>
          </a:prstGeom>
          <a:solidFill>
            <a:srgbClr val="FFF2F2"/>
          </a:solidFill>
          <a:ln w="19050">
            <a:solidFill>
              <a:srgbClr val="CC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3Num">
            <a:extLst>
              <a:ext uri="{FF2B5EF4-FFF2-40B4-BE49-F238E27FC236}">
                <a16:creationId xmlns:a16="http://schemas.microsoft.com/office/drawing/2014/main" id="{44D69B9B-E073-E94F-EB47-AC60901ECBC4}"/>
              </a:ext>
            </a:extLst>
          </p:cNvPr>
          <p:cNvSpPr txBox="1"/>
          <p:nvPr/>
        </p:nvSpPr>
        <p:spPr>
          <a:xfrm>
            <a:off x="7241197" y="1461424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CC3333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32" name="Stat3Lbl">
            <a:extLst>
              <a:ext uri="{FF2B5EF4-FFF2-40B4-BE49-F238E27FC236}">
                <a16:creationId xmlns:a16="http://schemas.microsoft.com/office/drawing/2014/main" id="{B73F1829-48A0-3072-3AC0-5E9C3BB329DE}"/>
              </a:ext>
            </a:extLst>
          </p:cNvPr>
          <p:cNvSpPr txBox="1"/>
          <p:nvPr/>
        </p:nvSpPr>
        <p:spPr>
          <a:xfrm>
            <a:off x="7244252" y="2078842"/>
            <a:ext cx="2013128" cy="28930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Failed (38%)</a:t>
            </a:r>
          </a:p>
        </p:txBody>
      </p:sp>
      <p:sp>
        <p:nvSpPr>
          <p:cNvPr id="40" name="StatBox4">
            <a:extLst>
              <a:ext uri="{FF2B5EF4-FFF2-40B4-BE49-F238E27FC236}">
                <a16:creationId xmlns:a16="http://schemas.microsoft.com/office/drawing/2014/main" id="{4BC4CC66-038F-5001-4619-435B98701D61}"/>
              </a:ext>
            </a:extLst>
          </p:cNvPr>
          <p:cNvSpPr>
            <a:spLocks noGrp="1"/>
          </p:cNvSpPr>
          <p:nvPr/>
        </p:nvSpPr>
        <p:spPr>
          <a:xfrm>
            <a:off x="9404654" y="1304937"/>
            <a:ext cx="2020824" cy="1042416"/>
          </a:xfrm>
          <a:prstGeom prst="rect">
            <a:avLst/>
          </a:prstGeom>
          <a:solidFill>
            <a:srgbClr val="FFF8F0"/>
          </a:solidFill>
          <a:ln w="19050">
            <a:solidFill>
              <a:srgbClr val="E07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tat4Num">
            <a:extLst>
              <a:ext uri="{FF2B5EF4-FFF2-40B4-BE49-F238E27FC236}">
                <a16:creationId xmlns:a16="http://schemas.microsoft.com/office/drawing/2014/main" id="{61216BD9-D2A4-BB4F-E1CE-C9F622CF84EB}"/>
              </a:ext>
            </a:extLst>
          </p:cNvPr>
          <p:cNvSpPr txBox="1"/>
          <p:nvPr/>
        </p:nvSpPr>
        <p:spPr>
          <a:xfrm>
            <a:off x="9477376" y="1452715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E07000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2" name="Stat4Lbl">
            <a:extLst>
              <a:ext uri="{FF2B5EF4-FFF2-40B4-BE49-F238E27FC236}">
                <a16:creationId xmlns:a16="http://schemas.microsoft.com/office/drawing/2014/main" id="{9C589D92-487F-E9EC-BAA4-0950A04724FD}"/>
              </a:ext>
            </a:extLst>
          </p:cNvPr>
          <p:cNvSpPr txBox="1"/>
          <p:nvPr/>
        </p:nvSpPr>
        <p:spPr>
          <a:xfrm>
            <a:off x="9476318" y="2060375"/>
            <a:ext cx="2013128" cy="205209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Open Bugs</a:t>
            </a:r>
          </a:p>
        </p:txBody>
      </p:sp>
      <p:sp>
        <p:nvSpPr>
          <p:cNvPr id="60" name="NarrHeader">
            <a:extLst>
              <a:ext uri="{FF2B5EF4-FFF2-40B4-BE49-F238E27FC236}">
                <a16:creationId xmlns:a16="http://schemas.microsoft.com/office/drawing/2014/main" id="{4F9063AB-881F-7AA8-12C5-8AF643B3968B}"/>
              </a:ext>
            </a:extLst>
          </p:cNvPr>
          <p:cNvSpPr txBox="1"/>
          <p:nvPr/>
        </p:nvSpPr>
        <p:spPr>
          <a:xfrm>
            <a:off x="376930" y="2740029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Status</a:t>
            </a:r>
          </a:p>
        </p:txBody>
      </p:sp>
      <p:sp>
        <p:nvSpPr>
          <p:cNvPr id="61" name="NarrLeft">
            <a:extLst>
              <a:ext uri="{FF2B5EF4-FFF2-40B4-BE49-F238E27FC236}">
                <a16:creationId xmlns:a16="http://schemas.microsoft.com/office/drawing/2014/main" id="{12879895-4731-81C8-7E93-DF4A90F4D614}"/>
              </a:ext>
            </a:extLst>
          </p:cNvPr>
          <p:cNvSpPr txBox="1"/>
          <p:nvPr/>
        </p:nvSpPr>
        <p:spPr>
          <a:xfrm>
            <a:off x="376930" y="3016769"/>
            <a:ext cx="5539100" cy="27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Executive Summary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Overall, SIT execution status is on track. Benefits SIT has begun and continues to make progress per plan. </a:t>
            </a: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PDM ancillary Iteration #2, round 1 execution has completed, and retest is pending bug fixes/closure. </a:t>
            </a: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cs typeface="Calibri"/>
              </a:rPr>
              <a:t>Preliminary testing for Enrollment and EDI has begun and is on-track to kickstart.</a:t>
            </a:r>
            <a:endParaRPr lang="en-US" sz="9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Bug Triage:</a:t>
            </a:r>
            <a:endParaRPr lang="en-US" sz="1050" b="1" dirty="0">
              <a:solidFill>
                <a:srgbClr val="0076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333333"/>
                </a:solidFill>
                <a:latin typeface="Calibri"/>
              </a:rPr>
              <a:t>32 open bugs remain in “New” and “Active” state. </a:t>
            </a:r>
            <a:r>
              <a:rPr lang="en-US" sz="1000" dirty="0">
                <a:solidFill>
                  <a:srgbClr val="333333"/>
                </a:solidFill>
                <a:latin typeface="Calibri"/>
              </a:rPr>
              <a:t>Critical and High priority bugs have been triaged and owners are identified. </a:t>
            </a: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CBEB890-D261-5923-2B9A-1A95E0462D1C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SIT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Execution Status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Report |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AsOf">
            <a:extLst>
              <a:ext uri="{FF2B5EF4-FFF2-40B4-BE49-F238E27FC236}">
                <a16:creationId xmlns:a16="http://schemas.microsoft.com/office/drawing/2014/main" id="{0C164682-3E31-77B6-AC5C-3761BD04FEAE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07/21/2026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5101D4-211F-FDC2-3060-F551AB5517D5}"/>
              </a:ext>
            </a:extLst>
          </p:cNvPr>
          <p:cNvSpPr txBox="1"/>
          <p:nvPr/>
        </p:nvSpPr>
        <p:spPr>
          <a:xfrm>
            <a:off x="376930" y="5793279"/>
            <a:ext cx="5414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>
                <a:solidFill>
                  <a:srgbClr val="313131"/>
                </a:solidFill>
              </a:rPr>
              <a:t>*Test case planning is still in progress; expect planned test case count to increase in coming weeks</a:t>
            </a:r>
          </a:p>
        </p:txBody>
      </p:sp>
      <p:sp>
        <p:nvSpPr>
          <p:cNvPr id="2" name="StatBox3">
            <a:extLst>
              <a:ext uri="{FF2B5EF4-FFF2-40B4-BE49-F238E27FC236}">
                <a16:creationId xmlns:a16="http://schemas.microsoft.com/office/drawing/2014/main" id="{44E3040D-6EC3-4A3E-551B-374F33715261}"/>
              </a:ext>
            </a:extLst>
          </p:cNvPr>
          <p:cNvSpPr>
            <a:spLocks noGrp="1"/>
          </p:cNvSpPr>
          <p:nvPr/>
        </p:nvSpPr>
        <p:spPr>
          <a:xfrm>
            <a:off x="2830924" y="1305432"/>
            <a:ext cx="2020824" cy="1046770"/>
          </a:xfrm>
          <a:prstGeom prst="rect">
            <a:avLst/>
          </a:prstGeom>
          <a:solidFill>
            <a:srgbClr val="E8E9ED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tat3Num">
            <a:extLst>
              <a:ext uri="{FF2B5EF4-FFF2-40B4-BE49-F238E27FC236}">
                <a16:creationId xmlns:a16="http://schemas.microsoft.com/office/drawing/2014/main" id="{DEBCE97D-BCB3-D58F-8FFC-35B7FC1146DE}"/>
              </a:ext>
            </a:extLst>
          </p:cNvPr>
          <p:cNvSpPr txBox="1"/>
          <p:nvPr/>
        </p:nvSpPr>
        <p:spPr>
          <a:xfrm>
            <a:off x="2829830" y="1414833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88</a:t>
            </a:r>
            <a:endParaRPr lang="en-US" sz="4800" b="1" dirty="0">
              <a:ln>
                <a:solidFill>
                  <a:srgbClr val="53565A"/>
                </a:solidFill>
              </a:ln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at3Lbl">
            <a:extLst>
              <a:ext uri="{FF2B5EF4-FFF2-40B4-BE49-F238E27FC236}">
                <a16:creationId xmlns:a16="http://schemas.microsoft.com/office/drawing/2014/main" id="{890A27BA-BCE0-BFFB-BC46-DCD1A3F2C80F}"/>
              </a:ext>
            </a:extLst>
          </p:cNvPr>
          <p:cNvSpPr txBox="1"/>
          <p:nvPr/>
        </p:nvSpPr>
        <p:spPr>
          <a:xfrm>
            <a:off x="2820915" y="2057197"/>
            <a:ext cx="2013129" cy="28721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Executed</a:t>
            </a:r>
          </a:p>
        </p:txBody>
      </p:sp>
      <p:sp>
        <p:nvSpPr>
          <p:cNvPr id="27" name="NarrLeft">
            <a:extLst>
              <a:ext uri="{FF2B5EF4-FFF2-40B4-BE49-F238E27FC236}">
                <a16:creationId xmlns:a16="http://schemas.microsoft.com/office/drawing/2014/main" id="{F1E1EE7E-2EE6-6394-24EB-0EA85312F3C8}"/>
              </a:ext>
            </a:extLst>
          </p:cNvPr>
          <p:cNvSpPr txBox="1"/>
          <p:nvPr/>
        </p:nvSpPr>
        <p:spPr>
          <a:xfrm>
            <a:off x="6275970" y="3016769"/>
            <a:ext cx="5539100" cy="27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NarrHeader">
            <a:extLst>
              <a:ext uri="{FF2B5EF4-FFF2-40B4-BE49-F238E27FC236}">
                <a16:creationId xmlns:a16="http://schemas.microsoft.com/office/drawing/2014/main" id="{357A4612-E66F-6D37-185B-E06BBE962237}"/>
              </a:ext>
            </a:extLst>
          </p:cNvPr>
          <p:cNvSpPr txBox="1"/>
          <p:nvPr/>
        </p:nvSpPr>
        <p:spPr>
          <a:xfrm>
            <a:off x="6275970" y="2718540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Test Case and Bug Breakdown</a:t>
            </a:r>
          </a:p>
        </p:txBody>
      </p:sp>
      <p:graphicFrame>
        <p:nvGraphicFramePr>
          <p:cNvPr id="52" name="WorkstreamSummary">
            <a:extLst>
              <a:ext uri="{FF2B5EF4-FFF2-40B4-BE49-F238E27FC236}">
                <a16:creationId xmlns:a16="http://schemas.microsoft.com/office/drawing/2014/main" id="{9CE15F4F-A3E9-0128-997D-68C3AE82D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66443"/>
              </p:ext>
            </p:extLst>
          </p:nvPr>
        </p:nvGraphicFramePr>
        <p:xfrm>
          <a:off x="6395428" y="3139321"/>
          <a:ext cx="5300184" cy="25151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617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069"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Review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89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Workstreams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Calibri"/>
                        </a:rPr>
                        <a:t>Planned TC’s</a:t>
                      </a:r>
                      <a:r>
                        <a:rPr lang="en-US" sz="1000" kern="1200" baseline="300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 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Calibri"/>
                        </a:rPr>
                        <a:t>Open 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PDM Iteration #2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Benefits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Calibri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24539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581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88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55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278E37D-D5CB-443F-75A3-76EFB927BB03}"/>
              </a:ext>
            </a:extLst>
          </p:cNvPr>
          <p:cNvGrpSpPr/>
          <p:nvPr/>
        </p:nvGrpSpPr>
        <p:grpSpPr>
          <a:xfrm>
            <a:off x="8045292" y="283041"/>
            <a:ext cx="2300000" cy="660000"/>
            <a:chOff x="9400000" y="280000"/>
            <a:chExt cx="2300000" cy="660000"/>
          </a:xfrm>
        </p:grpSpPr>
        <p:sp>
          <p:nvSpPr>
            <p:cNvPr id="8" name="LegendBox">
              <a:extLst>
                <a:ext uri="{FF2B5EF4-FFF2-40B4-BE49-F238E27FC236}">
                  <a16:creationId xmlns:a16="http://schemas.microsoft.com/office/drawing/2014/main" id="{71286DE3-E938-08C4-B181-298BD10A20B0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9" name="Dot1">
              <a:extLst>
                <a:ext uri="{FF2B5EF4-FFF2-40B4-BE49-F238E27FC236}">
                  <a16:creationId xmlns:a16="http://schemas.microsoft.com/office/drawing/2014/main" id="{6D2E7734-7CB7-EBAE-307A-FC9CB240EC4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Lbl1">
              <a:extLst>
                <a:ext uri="{FF2B5EF4-FFF2-40B4-BE49-F238E27FC236}">
                  <a16:creationId xmlns:a16="http://schemas.microsoft.com/office/drawing/2014/main" id="{165CEAF7-98B2-9453-CA97-07A27C557AB1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16" name="Dot2">
              <a:extLst>
                <a:ext uri="{FF2B5EF4-FFF2-40B4-BE49-F238E27FC236}">
                  <a16:creationId xmlns:a16="http://schemas.microsoft.com/office/drawing/2014/main" id="{BBF2B3D5-6F17-6439-C8CA-A07C144BE381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Lbl2">
              <a:extLst>
                <a:ext uri="{FF2B5EF4-FFF2-40B4-BE49-F238E27FC236}">
                  <a16:creationId xmlns:a16="http://schemas.microsoft.com/office/drawing/2014/main" id="{7130A360-70AC-14B0-96ED-40E53EA80CD8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18" name="Dot3">
              <a:extLst>
                <a:ext uri="{FF2B5EF4-FFF2-40B4-BE49-F238E27FC236}">
                  <a16:creationId xmlns:a16="http://schemas.microsoft.com/office/drawing/2014/main" id="{AE62CA7C-8343-041F-89AE-B1CCA156AC90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Lbl3">
              <a:extLst>
                <a:ext uri="{FF2B5EF4-FFF2-40B4-BE49-F238E27FC236}">
                  <a16:creationId xmlns:a16="http://schemas.microsoft.com/office/drawing/2014/main" id="{EEA45881-E48F-5BAF-1868-E365B75DEB0B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23" name="Dot4">
              <a:extLst>
                <a:ext uri="{FF2B5EF4-FFF2-40B4-BE49-F238E27FC236}">
                  <a16:creationId xmlns:a16="http://schemas.microsoft.com/office/drawing/2014/main" id="{62406EA0-DF43-A4EB-4CAE-959222D0129C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Lbl4">
              <a:extLst>
                <a:ext uri="{FF2B5EF4-FFF2-40B4-BE49-F238E27FC236}">
                  <a16:creationId xmlns:a16="http://schemas.microsoft.com/office/drawing/2014/main" id="{CDBBE924-F551-BD25-E008-50D74197D063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6" name="LegendBox">
            <a:extLst>
              <a:ext uri="{FF2B5EF4-FFF2-40B4-BE49-F238E27FC236}">
                <a16:creationId xmlns:a16="http://schemas.microsoft.com/office/drawing/2014/main" id="{B1B27C69-2F94-9055-BB21-74A6C753F68C}"/>
              </a:ext>
            </a:extLst>
          </p:cNvPr>
          <p:cNvSpPr/>
          <p:nvPr/>
        </p:nvSpPr>
        <p:spPr>
          <a:xfrm>
            <a:off x="10415958" y="278522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Status:</a:t>
            </a: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DBFA4DA1-B3CE-297B-4744-75F00AC2A34F}"/>
              </a:ext>
            </a:extLst>
          </p:cNvPr>
          <p:cNvSpPr/>
          <p:nvPr/>
        </p:nvSpPr>
        <p:spPr>
          <a:xfrm>
            <a:off x="11055514" y="601805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9A119-3D67-9517-3DD1-19C262321AC6}"/>
              </a:ext>
            </a:extLst>
          </p:cNvPr>
          <p:cNvSpPr txBox="1"/>
          <p:nvPr/>
        </p:nvSpPr>
        <p:spPr>
          <a:xfrm>
            <a:off x="6272613" y="5793279"/>
            <a:ext cx="583535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bug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being run by a tester and is not completed yet.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Not Started </a:t>
            </a:r>
            <a:r>
              <a:rPr lang="en-US" sz="800" dirty="0">
                <a:solidFill>
                  <a:srgbClr val="313131"/>
                </a:solidFill>
              </a:rPr>
              <a:t>– The test case has not been run yet.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3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Execution Report | </a:t>
            </a:r>
            <a:r>
              <a:rPr lang="en-US" sz="2400" b="1" dirty="0">
                <a:solidFill>
                  <a:srgbClr val="00827E"/>
                </a:solidFill>
                <a:latin typeface="Calibri"/>
              </a:rPr>
              <a:t>All Work Streams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827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07/21/2026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+mn-ea"/>
              <a:cs typeface="+mn-cs"/>
            </a:endParaRPr>
          </a:p>
        </p:txBody>
      </p:sp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03214"/>
              </p:ext>
            </p:extLst>
          </p:nvPr>
        </p:nvGraphicFramePr>
        <p:xfrm>
          <a:off x="501648" y="2916387"/>
          <a:ext cx="11181303" cy="25848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140937486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2331135793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711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Workstream Test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Data Sources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Execution Start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noProof="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Target Completion Date</a:t>
                      </a:r>
                      <a:r>
                        <a:rPr lang="en-US" sz="1000" kern="1200" baseline="300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endParaRPr lang="en-US" sz="100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 dirty="0">
                          <a:latin typeface="+mn-lt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PDM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Iteration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5/1/2026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sngStrike" noProof="0">
                          <a:latin typeface="+mn-lt"/>
                          <a:ea typeface="Calibri"/>
                          <a:cs typeface="Calibri"/>
                        </a:rPr>
                        <a:t>6/30/2026</a:t>
                      </a: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 7/31/2026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Benefits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6/22/2026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7/15/2026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9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dirty="0">
                          <a:latin typeface="+mn-lt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7/10/2026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581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88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493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55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D9D7915-ECA8-77EF-3291-5F8531DAA9F8}"/>
              </a:ext>
            </a:extLst>
          </p:cNvPr>
          <p:cNvSpPr txBox="1"/>
          <p:nvPr/>
        </p:nvSpPr>
        <p:spPr>
          <a:xfrm>
            <a:off x="501648" y="2367193"/>
            <a:ext cx="85999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900" baseline="30000" dirty="0">
                <a:solidFill>
                  <a:schemeClr val="dk1"/>
                </a:solidFill>
              </a:rPr>
              <a:t>*</a:t>
            </a:r>
            <a:r>
              <a:rPr lang="en-US" sz="900" dirty="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F3A2C-18E9-4900-6D7B-CBD025C5F27B}"/>
              </a:ext>
            </a:extLst>
          </p:cNvPr>
          <p:cNvSpPr txBox="1"/>
          <p:nvPr/>
        </p:nvSpPr>
        <p:spPr>
          <a:xfrm>
            <a:off x="501648" y="5548395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 dirty="0">
                <a:solidFill>
                  <a:srgbClr val="313131"/>
                </a:solidFill>
              </a:rPr>
              <a:t>**</a:t>
            </a:r>
            <a:r>
              <a:rPr lang="en-US" sz="800" dirty="0">
                <a:solidFill>
                  <a:srgbClr val="313131"/>
                </a:solidFill>
              </a:rPr>
              <a:t>To be discussed with MMO/HE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F49F0-D0F3-1C86-C12F-93692B176DD7}"/>
              </a:ext>
            </a:extLst>
          </p:cNvPr>
          <p:cNvSpPr txBox="1"/>
          <p:nvPr/>
        </p:nvSpPr>
        <p:spPr>
          <a:xfrm>
            <a:off x="501648" y="5770196"/>
            <a:ext cx="583535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bug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being run by a tester and is not completed yet.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Not Started </a:t>
            </a:r>
            <a:r>
              <a:rPr lang="en-US" sz="800" dirty="0">
                <a:solidFill>
                  <a:srgbClr val="313131"/>
                </a:solidFill>
              </a:rPr>
              <a:t>– The test case has not been run yet.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graphicFrame>
        <p:nvGraphicFramePr>
          <p:cNvPr id="4" name="ExecSummary">
            <a:extLst>
              <a:ext uri="{FF2B5EF4-FFF2-40B4-BE49-F238E27FC236}">
                <a16:creationId xmlns:a16="http://schemas.microsoft.com/office/drawing/2014/main" id="{5E042D79-1783-1596-AFFA-76687886F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235864"/>
              </p:ext>
            </p:extLst>
          </p:nvPr>
        </p:nvGraphicFramePr>
        <p:xfrm>
          <a:off x="501652" y="1490836"/>
          <a:ext cx="11106577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17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 dirty="0">
                          <a:latin typeface="+mn-lt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7EA1B08-DABE-19E7-6C91-821E660DB2DD}"/>
              </a:ext>
            </a:extLst>
          </p:cNvPr>
          <p:cNvGrpSpPr/>
          <p:nvPr/>
        </p:nvGrpSpPr>
        <p:grpSpPr>
          <a:xfrm>
            <a:off x="8045292" y="283041"/>
            <a:ext cx="2300000" cy="660000"/>
            <a:chOff x="9400000" y="280000"/>
            <a:chExt cx="2300000" cy="660000"/>
          </a:xfrm>
        </p:grpSpPr>
        <p:sp>
          <p:nvSpPr>
            <p:cNvPr id="8" name="LegendBox">
              <a:extLst>
                <a:ext uri="{FF2B5EF4-FFF2-40B4-BE49-F238E27FC236}">
                  <a16:creationId xmlns:a16="http://schemas.microsoft.com/office/drawing/2014/main" id="{D0CC26F4-7246-D686-D926-D79968082029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9" name="Dot1">
              <a:extLst>
                <a:ext uri="{FF2B5EF4-FFF2-40B4-BE49-F238E27FC236}">
                  <a16:creationId xmlns:a16="http://schemas.microsoft.com/office/drawing/2014/main" id="{1A8678D7-093E-8CF3-11FE-65DBEC1B18C1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Lbl1">
              <a:extLst>
                <a:ext uri="{FF2B5EF4-FFF2-40B4-BE49-F238E27FC236}">
                  <a16:creationId xmlns:a16="http://schemas.microsoft.com/office/drawing/2014/main" id="{BB4468EE-89D3-C068-2C29-E51CC5AF64F3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11" name="Dot2">
              <a:extLst>
                <a:ext uri="{FF2B5EF4-FFF2-40B4-BE49-F238E27FC236}">
                  <a16:creationId xmlns:a16="http://schemas.microsoft.com/office/drawing/2014/main" id="{12089EBC-3C03-02E4-0383-DE7050DC4B0E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Lbl2">
              <a:extLst>
                <a:ext uri="{FF2B5EF4-FFF2-40B4-BE49-F238E27FC236}">
                  <a16:creationId xmlns:a16="http://schemas.microsoft.com/office/drawing/2014/main" id="{3948A89A-10AB-C66C-4712-DE2DFBA05BB6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13" name="Dot3">
              <a:extLst>
                <a:ext uri="{FF2B5EF4-FFF2-40B4-BE49-F238E27FC236}">
                  <a16:creationId xmlns:a16="http://schemas.microsoft.com/office/drawing/2014/main" id="{2AFA6154-28DA-F2B8-51AF-DF8F57DC0040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Lbl3">
              <a:extLst>
                <a:ext uri="{FF2B5EF4-FFF2-40B4-BE49-F238E27FC236}">
                  <a16:creationId xmlns:a16="http://schemas.microsoft.com/office/drawing/2014/main" id="{3B005422-2F68-6700-01F2-8CD230E32B82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15" name="Dot4">
              <a:extLst>
                <a:ext uri="{FF2B5EF4-FFF2-40B4-BE49-F238E27FC236}">
                  <a16:creationId xmlns:a16="http://schemas.microsoft.com/office/drawing/2014/main" id="{1E28C5F5-87A0-B10D-F800-25C3FE998EB0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Lbl4">
              <a:extLst>
                <a:ext uri="{FF2B5EF4-FFF2-40B4-BE49-F238E27FC236}">
                  <a16:creationId xmlns:a16="http://schemas.microsoft.com/office/drawing/2014/main" id="{5D75A662-9E60-E69C-0556-F0F72E29DC49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7" name="LegendBox">
            <a:extLst>
              <a:ext uri="{FF2B5EF4-FFF2-40B4-BE49-F238E27FC236}">
                <a16:creationId xmlns:a16="http://schemas.microsoft.com/office/drawing/2014/main" id="{2B90EE9E-8E5F-6358-966B-3CB2F1E9F95D}"/>
              </a:ext>
            </a:extLst>
          </p:cNvPr>
          <p:cNvSpPr/>
          <p:nvPr/>
        </p:nvSpPr>
        <p:spPr>
          <a:xfrm>
            <a:off x="10415958" y="278522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Status:</a:t>
            </a:r>
          </a:p>
        </p:txBody>
      </p:sp>
      <p:sp>
        <p:nvSpPr>
          <p:cNvPr id="18" name="Dot2">
            <a:extLst>
              <a:ext uri="{FF2B5EF4-FFF2-40B4-BE49-F238E27FC236}">
                <a16:creationId xmlns:a16="http://schemas.microsoft.com/office/drawing/2014/main" id="{6A32AFD8-D599-48DF-CFFD-0AB78AA6C7AD}"/>
              </a:ext>
            </a:extLst>
          </p:cNvPr>
          <p:cNvSpPr/>
          <p:nvPr/>
        </p:nvSpPr>
        <p:spPr>
          <a:xfrm>
            <a:off x="11055514" y="601805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9398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heme/theme1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2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B32110-3B49-40E7-8C15-5E4A22FF8A7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2d04b2e9-88f0-4ee7-b1e2-4de363e485c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9E60AADF42347A22A5B258ECE583A" ma:contentTypeVersion="14" ma:contentTypeDescription="Create a new document." ma:contentTypeScope="" ma:versionID="69c3fb5ff2cd96113169b748a0d88327">
  <xsd:schema xmlns:xsd="http://www.w3.org/2001/XMLSchema" xmlns:xs="http://www.w3.org/2001/XMLSchema" xmlns:p="http://schemas.microsoft.com/office/2006/metadata/properties" xmlns:ns2="3700a5c1-c4a1-4c74-8d91-dfc8831b4c07" xmlns:ns3="5e2fc1fe-2483-4566-8a07-8cb0f24750cf" targetNamespace="http://schemas.microsoft.com/office/2006/metadata/properties" ma:root="true" ma:fieldsID="b2bdbd42fc06d7a21b12a9a8a90d0870" ns2:_="" ns3:_="">
    <xsd:import namespace="3700a5c1-c4a1-4c74-8d91-dfc8831b4c07"/>
    <xsd:import namespace="5e2fc1fe-2483-4566-8a07-8cb0f24750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lcf76f155ced4ddcb4097134ff3c332f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0a5c1-c4a1-4c74-8d91-dfc8831b4c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fc1fe-2483-4566-8a07-8cb0f24750c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88ed6f-90e6-412c-a71e-ac9f33a44bf0}" ma:internalName="TaxCatchAll" ma:showField="CatchAllData" ma:web="5e2fc1fe-2483-4566-8a07-8cb0f24750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2fc1fe-2483-4566-8a07-8cb0f24750cf" xsi:nil="true"/>
    <lcf76f155ced4ddcb4097134ff3c332f xmlns="3700a5c1-c4a1-4c74-8d91-dfc8831b4c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907A0D8-ACB0-4930-B3AA-F91DD5D64328}">
  <ds:schemaRefs>
    <ds:schemaRef ds:uri="3700a5c1-c4a1-4c74-8d91-dfc8831b4c07"/>
    <ds:schemaRef ds:uri="5e2fc1fe-2483-4566-8a07-8cb0f24750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7376A1-CC42-438F-85FD-93A015D166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CA026D-4666-483B-9EA4-E4BAFDF32B68}">
  <ds:schemaRefs>
    <ds:schemaRef ds:uri="5e2fc1fe-2483-4566-8a07-8cb0f24750cf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3700a5c1-c4a1-4c74-8d91-dfc8831b4c0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730</Words>
  <Application>Microsoft Macintosh PowerPoint</Application>
  <PresentationFormat>Widescreen</PresentationFormat>
  <Paragraphs>176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Verdana</vt:lpstr>
      <vt:lpstr>Wingdings 2</vt:lpstr>
      <vt:lpstr>1_Deloitte_Brand_16_9</vt:lpstr>
      <vt:lpstr>1_Deloitte_Brand_16_9</vt:lpstr>
      <vt:lpstr>think-cell Slide</vt:lpstr>
      <vt:lpstr>MMO Test Execution &amp; Bug Report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Khadri, Habib</dc:creator>
  <cp:lastModifiedBy>Gandhi, Samir</cp:lastModifiedBy>
  <cp:revision>19</cp:revision>
  <dcterms:created xsi:type="dcterms:W3CDTF">2026-03-30T19:40:35Z</dcterms:created>
  <dcterms:modified xsi:type="dcterms:W3CDTF">2026-07-21T17:29:47Z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0x010100CA69E60AADF42347A22A5B258ECE583A</vt:lpwstr>
  </property>
  <property fmtid="{D5CDD505-2E9C-101B-9397-08002B2CF9AE}" pid="3" name="MediaServiceImageTags">
    <vt:lpwstr/>
  </property>
</Properties>
</file>